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 id="2147483648" r:id="rId2"/>
  </p:sldMasterIdLst>
  <p:notesMasterIdLst>
    <p:notesMasterId r:id="rId10"/>
  </p:notesMasterIdLst>
  <p:sldIdLst>
    <p:sldId id="1827" r:id="rId3"/>
    <p:sldId id="256" r:id="rId4"/>
    <p:sldId id="1829" r:id="rId5"/>
    <p:sldId id="1837" r:id="rId6"/>
    <p:sldId id="1830" r:id="rId7"/>
    <p:sldId id="1831" r:id="rId8"/>
    <p:sldId id="183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76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817" autoAdjust="0"/>
  </p:normalViewPr>
  <p:slideViewPr>
    <p:cSldViewPr snapToGrid="0">
      <p:cViewPr varScale="1">
        <p:scale>
          <a:sx n="111" d="100"/>
          <a:sy n="111" d="100"/>
        </p:scale>
        <p:origin x="3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lang="ja-JP" altLang="en-US"/>
              <a:t>高機能で高付加価値な当社製品を支える重要な要素として、長期利用支える品質や、安心につながる顧客サポート　環境配慮などにおいても当社は徹底的に取り組み、他社よりも優れている点などがあるものの、その価値が十分に伝えきれていないのではないか、</a:t>
            </a:r>
            <a:endParaRPr lang="en-US" altLang="ja-JP"/>
          </a:p>
          <a:p>
            <a:r>
              <a:rPr lang="ja-JP" altLang="en-US"/>
              <a:t>き活かしきれていないのではないかと考え、現状分析を進めております。</a:t>
            </a:r>
            <a:endParaRPr lang="en-US" altLang="ja-JP"/>
          </a:p>
          <a:p>
            <a:r>
              <a:rPr lang="ja-JP" altLang="en-US"/>
              <a:t>本日時点では、分析や課題抽出が中心で、検証や改善のための仮設などはこれからに詰めていくといった状況になりますが、</a:t>
            </a:r>
            <a:endParaRPr lang="en-US" altLang="ja-JP"/>
          </a:p>
          <a:p>
            <a:r>
              <a:rPr lang="ja-JP" altLang="en-US"/>
              <a:t>本日の報告内容でこれはいいと思うとか、こういうところを検証したら面白いだろうとか、ここを見に行った方がいいなど、今後の進め方にあたってアドバイスが頂戴できればと思いますので、よろしくお願いします。</a:t>
            </a:r>
            <a:endParaRPr lang="en-US" altLang="ja-JP"/>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BIZ UDPゴシック"/>
                <a:ea typeface="BIZ UDPゴシック"/>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Ideas and keywords are drawn from transcribed CUTE10 meetings on 8/19 and 8/26: turn13search2 lines 290-295, 330-376, 486-523; turn13search6 lines 55-62. The slide is an editable draft format; details must be maintained and verified by the担当者.</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24010-0365-51FB-B03A-80E617DD6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6DB87-7722-250C-1CBA-9E240052BA80}"/>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58E501F-28C7-2629-C344-640655BCEF07}"/>
              </a:ext>
            </a:extLst>
          </p:cNvPr>
          <p:cNvSpPr>
            <a:spLocks noGrp="1"/>
          </p:cNvSpPr>
          <p:nvPr>
            <p:ph type="body" idx="1"/>
          </p:nvPr>
        </p:nvSpPr>
        <p:spPr/>
        <p:txBody>
          <a:bodyPr/>
          <a:lstStyle/>
          <a:p>
            <a:r>
              <a:rPr lang="en-US"/>
              <a:t>[Sources]
Ideas and keywords are drawn from transcribed CUTE10 meetings on 8/19 and 8/26: turn13search2 lines 290-295, 330-376, 486-523; turn13search6 lines 55-62. The slide is an editable draft format; details must be maintained and verified by the担当者.</a:t>
            </a:r>
          </a:p>
        </p:txBody>
      </p:sp>
      <p:sp>
        <p:nvSpPr>
          <p:cNvPr id="4" name="Slide Number Placeholder 3">
            <a:extLst>
              <a:ext uri="{FF2B5EF4-FFF2-40B4-BE49-F238E27FC236}">
                <a16:creationId xmlns:a16="http://schemas.microsoft.com/office/drawing/2014/main" id="{8A4190A8-2E86-D942-719A-17310DAB3AE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BIZ UDPゴシック"/>
                <a:ea typeface="BIZ UDPゴシック"/>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Tree>
    <p:extLst>
      <p:ext uri="{BB962C8B-B14F-4D97-AF65-F5344CB8AC3E}">
        <p14:creationId xmlns:p14="http://schemas.microsoft.com/office/powerpoint/2010/main" val="3192260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lang="ja-JP" altLang="en-US" dirty="0"/>
              <a:t>・なんでも代表回線が昔はあった？</a:t>
            </a:r>
            <a:r>
              <a:rPr lang="en-US" altLang="ja-JP" dirty="0"/>
              <a:t>PMJ</a:t>
            </a:r>
            <a:r>
              <a:rPr lang="ja-JP" altLang="en-US" dirty="0"/>
              <a:t>の窓口で相談窓口がある？</a:t>
            </a:r>
            <a:endParaRPr lang="en-US" altLang="ja-JP" dirty="0"/>
          </a:p>
          <a:p>
            <a:r>
              <a:rPr lang="ja-JP" altLang="en-US" dirty="0"/>
              <a:t>・この辺の</a:t>
            </a:r>
            <a:r>
              <a:rPr lang="en-US" altLang="ja-JP" dirty="0"/>
              <a:t>CS</a:t>
            </a:r>
            <a:r>
              <a:rPr lang="ja-JP" altLang="en-US" dirty="0"/>
              <a:t>の強みとしてあげている点がまとまっているページがどっかにあった？</a:t>
            </a:r>
            <a:endParaRPr lang="en-US" altLang="ja-JP" dirty="0"/>
          </a:p>
          <a:p>
            <a:r>
              <a:rPr lang="ja-JP" altLang="en-US" dirty="0"/>
              <a:t>・商品の概要ページの「サポートタブ」みたいなところから飛べる？</a:t>
            </a:r>
            <a:endParaRPr lang="en-US" altLang="ja-JP" dirty="0"/>
          </a:p>
          <a:p>
            <a:r>
              <a:rPr lang="ja-JP" altLang="en-US" dirty="0"/>
              <a:t>・専門店が</a:t>
            </a:r>
            <a:r>
              <a:rPr lang="en-US" altLang="ja-JP" dirty="0"/>
              <a:t>CS</a:t>
            </a:r>
            <a:r>
              <a:rPr lang="ja-JP" altLang="en-US" dirty="0"/>
              <a:t>の一次窓口になっている実態はあり、ただダイレクトでかったものを設置や対処をしたくないと思われいる？</a:t>
            </a:r>
            <a:endParaRPr lang="en-US" altLang="ja-JP" dirty="0"/>
          </a:p>
          <a:p>
            <a:r>
              <a:rPr lang="ja-JP" altLang="en-US" dirty="0"/>
              <a:t>・オンラインコンシェルジュ　とてもよいけど、やりすぎると首絞めそう　いま</a:t>
            </a:r>
            <a:r>
              <a:rPr lang="en-US" altLang="ja-JP" dirty="0"/>
              <a:t>2</a:t>
            </a:r>
            <a:r>
              <a:rPr lang="ja-JP" altLang="en-US" dirty="0"/>
              <a:t>人で対応している程度。</a:t>
            </a:r>
            <a:endParaRPr lang="en-US" altLang="ja-JP" dirty="0"/>
          </a:p>
          <a:p>
            <a:r>
              <a:rPr lang="ja-JP" altLang="en-US" dirty="0"/>
              <a:t>・アイリスは交換対応を主にしていたが、サービスに満足は得られなかった</a:t>
            </a:r>
            <a:endParaRPr lang="en-US" altLang="ja-JP" dirty="0"/>
          </a:p>
          <a:p>
            <a:r>
              <a:rPr lang="ja-JP" altLang="en-US" dirty="0"/>
              <a:t>・</a:t>
            </a:r>
            <a:r>
              <a:rPr lang="en-US" altLang="ja-JP" dirty="0"/>
              <a:t>Panasonic</a:t>
            </a:r>
            <a:r>
              <a:rPr lang="ja-JP" altLang="en-US" dirty="0"/>
              <a:t>クオリティとしてもっとプロモーションできるといい。</a:t>
            </a:r>
            <a:endParaRPr lang="en-US" altLang="ja-JP" dirty="0"/>
          </a:p>
          <a:p>
            <a:r>
              <a:rPr lang="ja-JP" altLang="en-US" dirty="0"/>
              <a:t>・ストーリーがあるといい、</a:t>
            </a:r>
            <a:r>
              <a:rPr lang="en-US" altLang="ja-JP" dirty="0"/>
              <a:t>CS</a:t>
            </a:r>
            <a:r>
              <a:rPr lang="ja-JP" altLang="en-US" dirty="0"/>
              <a:t>を</a:t>
            </a:r>
            <a:r>
              <a:rPr lang="en-US" altLang="ja-JP" dirty="0"/>
              <a:t>PR</a:t>
            </a:r>
            <a:r>
              <a:rPr lang="ja-JP" altLang="en-US" dirty="0"/>
              <a:t>できると品位向上につながる</a:t>
            </a:r>
            <a:endParaRPr lang="en-US" altLang="ja-JP" dirty="0"/>
          </a:p>
          <a:p>
            <a:r>
              <a:rPr lang="ja-JP" altLang="en-US" dirty="0"/>
              <a:t>・</a:t>
            </a:r>
            <a:r>
              <a:rPr lang="en-US" altLang="ja-JP" dirty="0"/>
              <a:t>TV</a:t>
            </a:r>
            <a:r>
              <a:rPr lang="ja-JP" altLang="en-US" dirty="0"/>
              <a:t>ー</a:t>
            </a:r>
            <a:r>
              <a:rPr lang="en-US" altLang="ja-JP" dirty="0"/>
              <a:t>CM</a:t>
            </a:r>
            <a:r>
              <a:rPr lang="ja-JP" altLang="en-US" dirty="0"/>
              <a:t>はコストの関係上無理と思われるので、動画とかがいい？？</a:t>
            </a:r>
            <a:endParaRPr lang="en-US" altLang="ja-JP" dirty="0"/>
          </a:p>
          <a:p>
            <a:r>
              <a:rPr lang="ja-JP" altLang="en-US" dirty="0"/>
              <a:t>・事業部主体での</a:t>
            </a:r>
            <a:r>
              <a:rPr lang="en-US" altLang="ja-JP" dirty="0"/>
              <a:t>PR</a:t>
            </a:r>
            <a:r>
              <a:rPr lang="ja-JP" altLang="en-US" dirty="0"/>
              <a:t>活動となるため、商材によっては優先度が下がってしまっているのがデメリット。</a:t>
            </a:r>
            <a:endParaRPr lang="en-US" altLang="ja-JP" dirty="0"/>
          </a:p>
          <a:p>
            <a:r>
              <a:rPr lang="ja-JP" altLang="en-US" dirty="0"/>
              <a:t>・</a:t>
            </a:r>
            <a:r>
              <a:rPr lang="en-US" altLang="ja-JP" dirty="0"/>
              <a:t>SNS</a:t>
            </a:r>
            <a:r>
              <a:rPr lang="ja-JP" altLang="en-US" dirty="0"/>
              <a:t>での発信がコスト的にはよい？？</a:t>
            </a:r>
            <a:endParaRPr lang="en-US" altLang="ja-JP" dirty="0"/>
          </a:p>
          <a:p>
            <a:r>
              <a:rPr lang="ja-JP" altLang="en-US" dirty="0"/>
              <a:t>・購入直前でのサポート良いかどうかの選定は難しいので、日頃から</a:t>
            </a:r>
            <a:r>
              <a:rPr lang="en-US" altLang="ja-JP" dirty="0"/>
              <a:t>Panasonic=</a:t>
            </a:r>
            <a:r>
              <a:rPr lang="ja-JP" altLang="en-US" dirty="0"/>
              <a:t>品質よいと認知をどう広めるかが重要ではないか</a:t>
            </a:r>
            <a:endParaRPr lang="en-US" altLang="ja-JP" dirty="0"/>
          </a:p>
          <a:p>
            <a:r>
              <a:rPr lang="ja-JP" altLang="en-US" dirty="0"/>
              <a:t>・クラパナ会員へサポートを案内するような発信は好評だが、会員でない人にどのようにそれを発信し好評を得るのか</a:t>
            </a:r>
            <a:endParaRPr lang="en-US" altLang="ja-JP" dirty="0"/>
          </a:p>
          <a:p>
            <a:r>
              <a:rPr lang="ja-JP" altLang="en-US" dirty="0"/>
              <a:t>・パナソニックの製品ってなんで高いのかを理解してもらうような取り組みが欠けている</a:t>
            </a:r>
            <a:endParaRPr lang="en-US" altLang="ja-JP" dirty="0"/>
          </a:p>
          <a:p>
            <a:r>
              <a:rPr lang="ja-JP" altLang="en-US" dirty="0"/>
              <a:t>・生活シーンを想起させて、故障したときも安心ということを伝えられる</a:t>
            </a:r>
            <a:endParaRPr lang="en-US" altLang="ja-JP" dirty="0"/>
          </a:p>
          <a:p>
            <a:r>
              <a:rPr lang="ja-JP" altLang="en-US" dirty="0"/>
              <a:t>・</a:t>
            </a:r>
            <a:r>
              <a:rPr lang="en-US" altLang="ja-JP" dirty="0"/>
              <a:t>CMJ</a:t>
            </a:r>
            <a:r>
              <a:rPr lang="ja-JP" altLang="en-US" dirty="0"/>
              <a:t>の戦略費を横断的活動として、こういうところに費用適用できるのが一番早いのではないかな</a:t>
            </a:r>
            <a:endParaRPr lang="en-US" altLang="ja-JP" dirty="0"/>
          </a:p>
          <a:p>
            <a:r>
              <a:rPr lang="ja-JP" altLang="en-US" dirty="0"/>
              <a:t>・現在の課題とギャップをどのように説明するか、</a:t>
            </a:r>
            <a:endParaRPr lang="en-US" altLang="ja-JP" dirty="0"/>
          </a:p>
          <a:p>
            <a:r>
              <a:rPr lang="ja-JP" altLang="en-US" b="1" u="sng" dirty="0"/>
              <a:t>・</a:t>
            </a:r>
            <a:r>
              <a:rPr lang="en-US" altLang="ja-JP" b="1" u="sng" dirty="0"/>
              <a:t>SNS</a:t>
            </a:r>
            <a:r>
              <a:rPr lang="ja-JP" altLang="en-US" b="1" u="sng" dirty="0"/>
              <a:t>・ストーリー性・商品横断・最後のキャッチフレーズで想起・高い理由を説明</a:t>
            </a:r>
            <a:endParaRPr lang="en-US" altLang="ja-JP" b="1" u="sng"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BIZ UDPゴシック"/>
                <a:ea typeface="BIZ UDPゴシック"/>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94D4-F82C-4EB8-08B7-7B88E8BA1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0AD96-9A7A-4555-5434-339283E36E26}"/>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2678198-0DB4-B538-FBCB-3DDF96BA4222}"/>
              </a:ext>
            </a:extLst>
          </p:cNvPr>
          <p:cNvSpPr>
            <a:spLocks noGrp="1"/>
          </p:cNvSpPr>
          <p:nvPr>
            <p:ph type="body" idx="1"/>
          </p:nvPr>
        </p:nvSpPr>
        <p:spPr/>
        <p:txBody>
          <a:bodyPr/>
          <a:lstStyle/>
          <a:p>
            <a:r>
              <a:rPr lang="ja-JP" altLang="en-US" dirty="0"/>
              <a:t>・手厚いサポートを受けたら、口コミで他の人につたえたくなるのでは。</a:t>
            </a:r>
            <a:endParaRPr lang="en-US" altLang="ja-JP" dirty="0"/>
          </a:p>
          <a:p>
            <a:r>
              <a:rPr lang="ja-JP" altLang="en-US" dirty="0"/>
              <a:t>・カードに喜びのシーンを記載してもいいのではないか（ユーザーの声など）</a:t>
            </a:r>
            <a:endParaRPr lang="en-US" altLang="ja-JP" dirty="0"/>
          </a:p>
          <a:p>
            <a:r>
              <a:rPr lang="ja-JP" altLang="en-US" dirty="0"/>
              <a:t>・コンシェルジュの</a:t>
            </a:r>
            <a:r>
              <a:rPr lang="en-US" altLang="ja-JP" dirty="0"/>
              <a:t>QR</a:t>
            </a:r>
            <a:r>
              <a:rPr lang="ja-JP" altLang="en-US" dirty="0"/>
              <a:t>コードとかをカードに記載していてもよい。（コンシェルジュの対応の中でも、購入後手厚いサポートを訴求してもらうとかもよい）</a:t>
            </a:r>
            <a:endParaRPr lang="en-US" altLang="ja-JP" dirty="0"/>
          </a:p>
          <a:p>
            <a:r>
              <a:rPr lang="ja-JP" altLang="en-US" dirty="0"/>
              <a:t>・ＡＩの窓口も別に用意でして、気軽に相談できる先としての用意もも必要ではないか。会話する窓口として有人も必要なので、両方活用することも大事</a:t>
            </a:r>
            <a:endParaRPr lang="en-US" altLang="ja-JP" dirty="0"/>
          </a:p>
          <a:p>
            <a:r>
              <a:rPr lang="ja-JP" altLang="en-US"/>
              <a:t>・</a:t>
            </a:r>
            <a:endParaRPr lang="en-US" altLang="ja-JP" dirty="0"/>
          </a:p>
          <a:p>
            <a:endParaRPr lang="en-US" dirty="0"/>
          </a:p>
        </p:txBody>
      </p:sp>
      <p:sp>
        <p:nvSpPr>
          <p:cNvPr id="4" name="Slide Number Placeholder 3">
            <a:extLst>
              <a:ext uri="{FF2B5EF4-FFF2-40B4-BE49-F238E27FC236}">
                <a16:creationId xmlns:a16="http://schemas.microsoft.com/office/drawing/2014/main" id="{47F30ECB-3224-2E99-1A25-97403CBD60D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BIZ UDPゴシック"/>
                <a:ea typeface="BIZ UDPゴシック"/>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Tree>
    <p:extLst>
      <p:ext uri="{BB962C8B-B14F-4D97-AF65-F5344CB8AC3E}">
        <p14:creationId xmlns:p14="http://schemas.microsoft.com/office/powerpoint/2010/main" val="2005011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DB83-43B3-0D2E-4967-B087E94FF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975E4-213B-B9C7-C73E-D3D3077ACD9A}"/>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6297970F-FA8D-D17F-5E54-993846BA7144}"/>
              </a:ext>
            </a:extLst>
          </p:cNvPr>
          <p:cNvSpPr>
            <a:spLocks noGrp="1"/>
          </p:cNvSpPr>
          <p:nvPr>
            <p:ph type="body" idx="1"/>
          </p:nvPr>
        </p:nvSpPr>
        <p:spPr/>
        <p:txBody>
          <a:bodyPr/>
          <a:lstStyle/>
          <a:p>
            <a:r>
              <a:rPr lang="en-US"/>
              <a:t>[Sources]
Ideas and keywords are drawn from transcribed CUTE10 meetings on 8/19 and 8/26: turn13search2 lines 525-566; turn13search6 lines 40-62, 71-137, 146-201. The slide is an editable draft format; details must be maintained and verified by the担当者.</a:t>
            </a:r>
          </a:p>
        </p:txBody>
      </p:sp>
      <p:sp>
        <p:nvSpPr>
          <p:cNvPr id="4" name="Slide Number Placeholder 3">
            <a:extLst>
              <a:ext uri="{FF2B5EF4-FFF2-40B4-BE49-F238E27FC236}">
                <a16:creationId xmlns:a16="http://schemas.microsoft.com/office/drawing/2014/main" id="{1D6C4F44-D10C-E2E8-4C52-040626F458B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BIZ UDPゴシック"/>
                <a:ea typeface="BIZ UDPゴシック"/>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Tree>
    <p:extLst>
      <p:ext uri="{BB962C8B-B14F-4D97-AF65-F5344CB8AC3E}">
        <p14:creationId xmlns:p14="http://schemas.microsoft.com/office/powerpoint/2010/main" val="3898905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588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116580-1B06-8960-E7F0-9CDA45B37A4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C124D8B-669B-F3BC-B736-BBBD923964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493B72B-DFDB-9ECF-152C-7FAB5E3E0420}"/>
              </a:ext>
            </a:extLst>
          </p:cNvPr>
          <p:cNvSpPr>
            <a:spLocks noGrp="1"/>
          </p:cNvSpPr>
          <p:nvPr>
            <p:ph type="dt" sz="half" idx="10"/>
          </p:nvPr>
        </p:nvSpPr>
        <p:spPr/>
        <p:txBody>
          <a:bodyPr/>
          <a:lstStyle/>
          <a:p>
            <a:fld id="{F817680B-45B9-4B99-B3E9-76930A1FD627}" type="datetimeFigureOut">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06FC84CB-72C8-7686-5548-0092F9CDFBF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37163F-2C60-852E-A5B1-F4B3D34AACA1}"/>
              </a:ext>
            </a:extLst>
          </p:cNvPr>
          <p:cNvSpPr>
            <a:spLocks noGrp="1"/>
          </p:cNvSpPr>
          <p:nvPr>
            <p:ph type="sldNum" sz="quarter" idx="12"/>
          </p:nvPr>
        </p:nvSpPr>
        <p:spPr/>
        <p:txBody>
          <a:bodyPr/>
          <a:lstStyle/>
          <a:p>
            <a:fld id="{88D678E6-7FC7-4E8C-9A6F-74A82CC5878D}" type="slidenum">
              <a:rPr kumimoji="1" lang="ja-JP" altLang="en-US" smtClean="0"/>
              <a:t>‹#›</a:t>
            </a:fld>
            <a:endParaRPr kumimoji="1" lang="ja-JP" altLang="en-US"/>
          </a:p>
        </p:txBody>
      </p:sp>
    </p:spTree>
    <p:extLst>
      <p:ext uri="{BB962C8B-B14F-4D97-AF65-F5344CB8AC3E}">
        <p14:creationId xmlns:p14="http://schemas.microsoft.com/office/powerpoint/2010/main" val="3974991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041C0"/>
          </a:solidFill>
          <a:ln w="12700">
            <a:solidFill>
              <a:srgbClr val="0041C0"/>
            </a:solidFill>
            <a:prstDash val="solid"/>
          </a:ln>
        </p:spPr>
        <p:txBody>
          <a:bodyPr/>
          <a:lstStyle/>
          <a:p>
            <a:endParaRPr lang="ja-JP" altLang="en-US"/>
          </a:p>
        </p:txBody>
      </p:sp>
      <p:sp>
        <p:nvSpPr>
          <p:cNvPr id="3" name="Text 1"/>
          <p:cNvSpPr/>
          <p:nvPr/>
        </p:nvSpPr>
        <p:spPr>
          <a:xfrm>
            <a:off x="457200" y="6528816"/>
            <a:ext cx="2743200" cy="146304"/>
          </a:xfrm>
          <a:prstGeom prst="rect">
            <a:avLst/>
          </a:prstGeom>
          <a:noFill/>
          <a:ln/>
        </p:spPr>
        <p:txBody>
          <a:bodyPr wrap="square" lIns="0" tIns="0" rIns="0" bIns="0" rtlCol="0" anchor="ctr"/>
          <a:lstStyle/>
          <a:p>
            <a:pPr marL="0" indent="0">
              <a:buNone/>
            </a:pPr>
            <a:r>
              <a:rPr lang="en-US" sz="800">
                <a:solidFill>
                  <a:srgbClr val="667085"/>
                </a:solidFill>
              </a:rPr>
              <a:t>CUTE10｜中間発表ドラフト</a:t>
            </a:r>
            <a:endParaRPr lang="en-US" sz="800"/>
          </a:p>
        </p:txBody>
      </p:sp>
      <p:sp>
        <p:nvSpPr>
          <p:cNvPr id="25" name="Slide Number Placeholder 0"/>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730196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0041C0"/>
          </a:solidFill>
          <a:ln w="12700">
            <a:solidFill>
              <a:srgbClr val="0041C0"/>
            </a:solidFill>
            <a:prstDash val="solid"/>
          </a:ln>
        </p:spPr>
        <p:txBody>
          <a:bodyPr/>
          <a:lstStyle/>
          <a:p>
            <a:endParaRPr lang="ja-JP" altLang="en-US"/>
          </a:p>
        </p:txBody>
      </p:sp>
      <p:sp>
        <p:nvSpPr>
          <p:cNvPr id="3" name="Text 1"/>
          <p:cNvSpPr/>
          <p:nvPr/>
        </p:nvSpPr>
        <p:spPr>
          <a:xfrm>
            <a:off x="411480" y="6510528"/>
            <a:ext cx="9875520" cy="164592"/>
          </a:xfrm>
          <a:prstGeom prst="rect">
            <a:avLst/>
          </a:prstGeom>
          <a:noFill/>
          <a:ln/>
        </p:spPr>
        <p:txBody>
          <a:bodyPr wrap="square" lIns="0" tIns="0" rIns="0" bIns="0" rtlCol="0" anchor="ctr"/>
          <a:lstStyle/>
          <a:p>
            <a:pPr marL="0" indent="0">
              <a:buNone/>
            </a:pPr>
            <a:r>
              <a:rPr lang="en-US" sz="800">
                <a:solidFill>
                  <a:srgbClr val="6B7280"/>
                </a:solidFill>
                <a:latin typeface="BIZ UDPゴシック" pitchFamily="34" charset="0"/>
                <a:ea typeface="BIZ UDPゴシック" pitchFamily="34" charset="-122"/>
                <a:cs typeface="BIZ UDPゴシック" pitchFamily="34" charset="-120"/>
              </a:rPr>
              <a:t>CUTE10｜品質・CS・環境取組の価値を「選ばれる理由」へ</a:t>
            </a:r>
            <a:endParaRPr lang="en-US" sz="800"/>
          </a:p>
        </p:txBody>
      </p:sp>
      <p:sp>
        <p:nvSpPr>
          <p:cNvPr id="4" name="Text 2"/>
          <p:cNvSpPr/>
          <p:nvPr/>
        </p:nvSpPr>
        <p:spPr>
          <a:xfrm>
            <a:off x="10469880" y="6510528"/>
            <a:ext cx="1280160" cy="164592"/>
          </a:xfrm>
          <a:prstGeom prst="rect">
            <a:avLst/>
          </a:prstGeom>
          <a:noFill/>
          <a:ln/>
        </p:spPr>
        <p:txBody>
          <a:bodyPr wrap="square" lIns="0" tIns="0" rIns="0" bIns="0" rtlCol="0" anchor="ctr"/>
          <a:lstStyle/>
          <a:p>
            <a:pPr marL="0" indent="0" algn="r">
              <a:buNone/>
            </a:pPr>
            <a:r>
              <a:rPr lang="en-US" sz="800">
                <a:solidFill>
                  <a:srgbClr val="6B7280"/>
                </a:solidFill>
                <a:latin typeface="BIZ UDPゴシック" pitchFamily="34" charset="0"/>
                <a:ea typeface="BIZ UDPゴシック" pitchFamily="34" charset="-122"/>
                <a:cs typeface="BIZ UDPゴシック" pitchFamily="34" charset="-120"/>
              </a:rPr>
              <a:t>中間発表｜2026.10</a:t>
            </a:r>
            <a:endParaRPr lang="en-US" sz="80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BIZ UDPゴシック"/>
                <a:ea typeface="BIZ UDPゴシック"/>
                <a:cs typeface="BIZ UDPゴシック"/>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678263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041C0"/>
          </a:solidFill>
          <a:ln w="12700">
            <a:solidFill>
              <a:srgbClr val="0041C0"/>
            </a:solidFill>
            <a:prstDash val="solid"/>
          </a:ln>
        </p:spPr>
        <p:txBody>
          <a:bodyPr/>
          <a:lstStyle/>
          <a:p>
            <a:endParaRPr lang="ja-JP" altLang="en-US"/>
          </a:p>
        </p:txBody>
      </p:sp>
      <p:sp>
        <p:nvSpPr>
          <p:cNvPr id="3" name="Text 1"/>
          <p:cNvSpPr/>
          <p:nvPr/>
        </p:nvSpPr>
        <p:spPr>
          <a:xfrm>
            <a:off x="457200" y="6528816"/>
            <a:ext cx="2743200" cy="146304"/>
          </a:xfrm>
          <a:prstGeom prst="rect">
            <a:avLst/>
          </a:prstGeom>
          <a:noFill/>
          <a:ln/>
        </p:spPr>
        <p:txBody>
          <a:bodyPr wrap="square" lIns="0" tIns="0" rIns="0" bIns="0" rtlCol="0" anchor="ctr"/>
          <a:lstStyle/>
          <a:p>
            <a:pPr marL="0" indent="0">
              <a:buNone/>
            </a:pPr>
            <a:r>
              <a:rPr lang="en-US" sz="800">
                <a:solidFill>
                  <a:srgbClr val="667085"/>
                </a:solidFill>
              </a:rPr>
              <a:t>CUTE10｜中間発表ドラフト</a:t>
            </a:r>
            <a:endParaRPr lang="en-US" sz="800"/>
          </a:p>
        </p:txBody>
      </p:sp>
      <p:sp>
        <p:nvSpPr>
          <p:cNvPr id="25" name="Slide Number Placeholder 0"/>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846373529"/>
      </p:ext>
    </p:extLst>
  </p:cSld>
  <p:clrMap bg1="lt1" tx1="dk1" bg2="lt2" tx2="dk2" accent1="accent1" accent2="accent2" accent3="accent3" accent4="accent4" accent5="accent5" accent6="accent6" hlink="hlink" folHlink="folHlink"/>
  <p:sldLayoutIdLst>
    <p:sldLayoutId id="2147483655" r:id="rId1"/>
    <p:sldLayoutId id="2147483657" r:id="rId2"/>
    <p:sldLayoutId id="2147483658" r:id="rId3"/>
    <p:sldLayoutId id="2147483659" r:id="rId4"/>
  </p:sldLayoutIdLst>
  <p:hf sldNum="0" hdr="0" ftr="0" dt="0"/>
  <p:txStyles>
    <p:titleStyle>
      <a:lvl1pPr algn="ctr" defTabSz="914400" rtl="0" eaLnBrk="1" latinLnBrk="0" hangingPunct="1">
        <a:spcBef>
          <a:spcPct val="0"/>
        </a:spcBef>
        <a:buNone/>
        <a:defRPr sz="4400" kern="1200">
          <a:solidFill>
            <a:schemeClr val="tx1"/>
          </a:solidFill>
          <a:latin typeface="BIZ UDPゴシック"/>
          <a:ea typeface="BIZ UDPゴシック"/>
          <a:cs typeface="BIZ UDPゴシック"/>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BIZ UDPゴシック"/>
          <a:ea typeface="BIZ UDPゴシック"/>
          <a:cs typeface="BIZ UDPゴシック"/>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BIZ UDPゴシック"/>
          <a:ea typeface="BIZ UDPゴシック"/>
          <a:cs typeface="BIZ UDPゴシック"/>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BIZ UDPゴシック"/>
          <a:ea typeface="BIZ UDPゴシック"/>
          <a:cs typeface="BIZ UDPゴシック"/>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BIZ UDPゴシック"/>
          <a:ea typeface="BIZ UDPゴシック"/>
          <a:cs typeface="BIZ UDPゴシック"/>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BIZ UDPゴシック"/>
          <a:ea typeface="BIZ UDPゴシック"/>
          <a:cs typeface="BIZ UDPゴシック"/>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BIZ UDPゴシック"/>
          <a:ea typeface="BIZ UDPゴシック"/>
          <a:cs typeface="BIZ UDPゴシック"/>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BIZ UDPゴシック"/>
          <a:ea typeface="BIZ UDPゴシック"/>
          <a:cs typeface="BIZ UDPゴシック"/>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BIZ UDPゴシック"/>
          <a:ea typeface="BIZ UDPゴシック"/>
          <a:cs typeface="BIZ UDPゴシック"/>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BIZ UDPゴシック"/>
          <a:ea typeface="BIZ UDPゴシック"/>
          <a:cs typeface="BIZ UDPゴシック"/>
        </a:defRPr>
      </a:lvl9pPr>
    </p:bodyStyle>
    <p:otherStyle>
      <a:defPPr>
        <a:defRPr lang="en-US"/>
      </a:defPPr>
      <a:lvl1pPr marL="0" algn="l" defTabSz="914400" rtl="0" eaLnBrk="1" latinLnBrk="0" hangingPunct="1">
        <a:defRPr sz="1800" kern="1200">
          <a:solidFill>
            <a:schemeClr val="tx1"/>
          </a:solidFill>
          <a:latin typeface="BIZ UDPゴシック"/>
          <a:ea typeface="BIZ UDPゴシック"/>
          <a:cs typeface="BIZ UDPゴシック"/>
        </a:defRPr>
      </a:lvl1pPr>
      <a:lvl2pPr marL="457200" algn="l" defTabSz="914400" rtl="0" eaLnBrk="1" latinLnBrk="0" hangingPunct="1">
        <a:defRPr sz="1800" kern="1200">
          <a:solidFill>
            <a:schemeClr val="tx1"/>
          </a:solidFill>
          <a:latin typeface="BIZ UDPゴシック"/>
          <a:ea typeface="BIZ UDPゴシック"/>
          <a:cs typeface="BIZ UDPゴシック"/>
        </a:defRPr>
      </a:lvl2pPr>
      <a:lvl3pPr marL="914400" algn="l" defTabSz="914400" rtl="0" eaLnBrk="1" latinLnBrk="0" hangingPunct="1">
        <a:defRPr sz="1800" kern="1200">
          <a:solidFill>
            <a:schemeClr val="tx1"/>
          </a:solidFill>
          <a:latin typeface="BIZ UDPゴシック"/>
          <a:ea typeface="BIZ UDPゴシック"/>
          <a:cs typeface="BIZ UDPゴシック"/>
        </a:defRPr>
      </a:lvl3pPr>
      <a:lvl4pPr marL="1371600" algn="l" defTabSz="914400" rtl="0" eaLnBrk="1" latinLnBrk="0" hangingPunct="1">
        <a:defRPr sz="1800" kern="1200">
          <a:solidFill>
            <a:schemeClr val="tx1"/>
          </a:solidFill>
          <a:latin typeface="BIZ UDPゴシック"/>
          <a:ea typeface="BIZ UDPゴシック"/>
          <a:cs typeface="BIZ UDPゴシック"/>
        </a:defRPr>
      </a:lvl4pPr>
      <a:lvl5pPr marL="1828800" algn="l" defTabSz="914400" rtl="0" eaLnBrk="1" latinLnBrk="0" hangingPunct="1">
        <a:defRPr sz="1800" kern="1200">
          <a:solidFill>
            <a:schemeClr val="tx1"/>
          </a:solidFill>
          <a:latin typeface="BIZ UDPゴシック"/>
          <a:ea typeface="BIZ UDPゴシック"/>
          <a:cs typeface="BIZ UDPゴシック"/>
        </a:defRPr>
      </a:lvl5pPr>
      <a:lvl6pPr marL="2286000" algn="l" defTabSz="914400" rtl="0" eaLnBrk="1" latinLnBrk="0" hangingPunct="1">
        <a:defRPr sz="1800" kern="1200">
          <a:solidFill>
            <a:schemeClr val="tx1"/>
          </a:solidFill>
          <a:latin typeface="BIZ UDPゴシック"/>
          <a:ea typeface="BIZ UDPゴシック"/>
          <a:cs typeface="BIZ UDPゴシック"/>
        </a:defRPr>
      </a:lvl6pPr>
      <a:lvl7pPr marL="2743200" algn="l" defTabSz="914400" rtl="0" eaLnBrk="1" latinLnBrk="0" hangingPunct="1">
        <a:defRPr sz="1800" kern="1200">
          <a:solidFill>
            <a:schemeClr val="tx1"/>
          </a:solidFill>
          <a:latin typeface="BIZ UDPゴシック"/>
          <a:ea typeface="BIZ UDPゴシック"/>
          <a:cs typeface="BIZ UDPゴシック"/>
        </a:defRPr>
      </a:lvl7pPr>
      <a:lvl8pPr marL="3200400" algn="l" defTabSz="914400" rtl="0" eaLnBrk="1" latinLnBrk="0" hangingPunct="1">
        <a:defRPr sz="1800" kern="1200">
          <a:solidFill>
            <a:schemeClr val="tx1"/>
          </a:solidFill>
          <a:latin typeface="BIZ UDPゴシック"/>
          <a:ea typeface="BIZ UDPゴシック"/>
          <a:cs typeface="BIZ UDPゴシック"/>
        </a:defRPr>
      </a:lvl8pPr>
      <a:lvl9pPr marL="3657600" algn="l" defTabSz="914400" rtl="0" eaLnBrk="1" latinLnBrk="0" hangingPunct="1">
        <a:defRPr sz="1800" kern="1200">
          <a:solidFill>
            <a:schemeClr val="tx1"/>
          </a:solidFill>
          <a:latin typeface="BIZ UDPゴシック"/>
          <a:ea typeface="BIZ UDPゴシック"/>
          <a:cs typeface="BIZ UDPゴシック"/>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02920" y="320040"/>
            <a:ext cx="23774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40" normalizeH="0" baseline="0" noProof="0">
                <a:ln>
                  <a:noFill/>
                </a:ln>
                <a:solidFill>
                  <a:srgbClr val="0041C0"/>
                </a:solidFill>
                <a:effectLst/>
                <a:uLnTx/>
                <a:uFillTx/>
                <a:latin typeface="BIZ UDPゴシック"/>
                <a:ea typeface="BIZ UDPゴシック"/>
              </a:rPr>
              <a:t>01｜APPROACH</a:t>
            </a:r>
            <a:endParaRPr kumimoji="0" lang="en-US" sz="10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 name="Text 1"/>
          <p:cNvSpPr/>
          <p:nvPr/>
        </p:nvSpPr>
        <p:spPr>
          <a:xfrm>
            <a:off x="502920" y="621792"/>
            <a:ext cx="11109960" cy="5029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001D35"/>
                </a:solidFill>
                <a:effectLst/>
                <a:uLnTx/>
                <a:uFillTx/>
                <a:latin typeface="BIZ UDPゴシック"/>
                <a:ea typeface="BIZ UDPゴシック"/>
              </a:rPr>
              <a:t>本CUの取組方針</a:t>
            </a:r>
            <a:endParaRPr kumimoji="0" lang="en-US" sz="26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 name="Text 2"/>
          <p:cNvSpPr/>
          <p:nvPr/>
        </p:nvSpPr>
        <p:spPr>
          <a:xfrm>
            <a:off x="617220" y="1254380"/>
            <a:ext cx="10881360" cy="1214803"/>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本</a:t>
            </a:r>
            <a:r>
              <a:rPr kumimoji="0" lang="en-US" altLang="ja-JP" sz="1400" b="0" i="0" u="none" strike="noStrike" kern="1200" cap="none" spc="0" normalizeH="0" baseline="0" noProof="0">
                <a:ln>
                  <a:noFill/>
                </a:ln>
                <a:solidFill>
                  <a:prstClr val="black"/>
                </a:solidFill>
                <a:effectLst/>
                <a:uLnTx/>
                <a:uFillTx/>
                <a:latin typeface="BIZ UDPゴシック"/>
                <a:ea typeface="BIZ UDPゴシック"/>
              </a:rPr>
              <a:t>CU</a:t>
            </a: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では当社の感性価値として</a:t>
            </a:r>
            <a:r>
              <a:rPr kumimoji="0" lang="ja-JP" altLang="en-US" sz="1400" b="1" i="0" u="none" strike="noStrike" kern="1200" cap="none" spc="0" normalizeH="0" baseline="0" noProof="0">
                <a:ln>
                  <a:noFill/>
                </a:ln>
                <a:solidFill>
                  <a:srgbClr val="FF0000"/>
                </a:solidFill>
                <a:effectLst/>
                <a:uLnTx/>
                <a:uFillTx/>
                <a:latin typeface="BIZ UDPゴシック"/>
                <a:ea typeface="BIZ UDPゴシック"/>
              </a:rPr>
              <a:t>「品質」「</a:t>
            </a:r>
            <a:r>
              <a:rPr kumimoji="0" lang="en-US" altLang="ja-JP" sz="1400" b="1" i="0" u="none" strike="noStrike" kern="1200" cap="none" spc="0" normalizeH="0" baseline="0" noProof="0">
                <a:ln>
                  <a:noFill/>
                </a:ln>
                <a:solidFill>
                  <a:srgbClr val="FF0000"/>
                </a:solidFill>
                <a:effectLst/>
                <a:uLnTx/>
                <a:uFillTx/>
                <a:latin typeface="BIZ UDPゴシック"/>
                <a:ea typeface="BIZ UDPゴシック"/>
              </a:rPr>
              <a:t>CS</a:t>
            </a:r>
            <a:r>
              <a:rPr kumimoji="0" lang="ja-JP" altLang="en-US" sz="1400" b="1" i="0" u="none" strike="noStrike" kern="1200" cap="none" spc="0" normalizeH="0" baseline="0" noProof="0">
                <a:ln>
                  <a:noFill/>
                </a:ln>
                <a:solidFill>
                  <a:srgbClr val="FF0000"/>
                </a:solidFill>
                <a:effectLst/>
                <a:uLnTx/>
                <a:uFillTx/>
                <a:latin typeface="BIZ UDPゴシック"/>
                <a:ea typeface="BIZ UDPゴシック"/>
              </a:rPr>
              <a:t>」「環境取組」</a:t>
            </a: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の</a:t>
            </a:r>
            <a:r>
              <a:rPr kumimoji="0" lang="en-US" altLang="ja-JP" sz="1400" b="0" i="0" u="none" strike="noStrike" kern="1200" cap="none" spc="0" normalizeH="0" baseline="0" noProof="0">
                <a:ln>
                  <a:noFill/>
                </a:ln>
                <a:solidFill>
                  <a:prstClr val="black"/>
                </a:solidFill>
                <a:effectLst/>
                <a:uLnTx/>
                <a:uFillTx/>
                <a:latin typeface="BIZ UDPゴシック"/>
                <a:ea typeface="BIZ UDPゴシック"/>
              </a:rPr>
              <a:t>3</a:t>
            </a: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点を挙げました。</a:t>
            </a:r>
            <a:endParaRPr kumimoji="0" lang="en-US" altLang="ja-JP" sz="14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製品の機能価値に加え、</a:t>
            </a:r>
            <a:r>
              <a:rPr kumimoji="0" lang="ja-JP" altLang="en-US" sz="1400" i="0" u="none" strike="noStrike" kern="1200" cap="none" spc="0" normalizeH="0" baseline="0" noProof="0">
                <a:ln>
                  <a:noFill/>
                </a:ln>
                <a:solidFill>
                  <a:prstClr val="black"/>
                </a:solidFill>
                <a:effectLst/>
                <a:uLnTx/>
                <a:uFillTx/>
                <a:latin typeface="BIZ UDPゴシック"/>
                <a:ea typeface="BIZ UDPゴシック"/>
              </a:rPr>
              <a:t>長期利用を支える品質、安心につながる顧客サポート、環境への配慮</a:t>
            </a: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といった領域においても、当社には</a:t>
            </a:r>
            <a:r>
              <a:rPr kumimoji="0" lang="ja-JP" altLang="en-US" sz="1400" b="1" i="0" u="none" strike="noStrike" kern="1200" cap="none" spc="0" normalizeH="0" baseline="0" noProof="0">
                <a:ln>
                  <a:noFill/>
                </a:ln>
                <a:solidFill>
                  <a:srgbClr val="FF0000"/>
                </a:solidFill>
                <a:effectLst/>
                <a:uLnTx/>
                <a:uFillTx/>
                <a:latin typeface="BIZ UDPゴシック"/>
                <a:ea typeface="BIZ UDPゴシック"/>
              </a:rPr>
              <a:t>他社との差別化要素が存在する</a:t>
            </a: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と考えています。</a:t>
            </a:r>
            <a:endParaRPr kumimoji="0" lang="en-US" altLang="ja-JP" sz="14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一方で、その価値は十分に伝わっておらず、</a:t>
            </a:r>
            <a:r>
              <a:rPr kumimoji="0" lang="ja-JP" altLang="en-US" sz="1400" b="1" i="0" u="none" strike="noStrike" kern="1200" cap="none" spc="0" normalizeH="0" baseline="0" noProof="0">
                <a:ln>
                  <a:noFill/>
                </a:ln>
                <a:solidFill>
                  <a:srgbClr val="FF0000"/>
                </a:solidFill>
                <a:effectLst/>
                <a:uLnTx/>
                <a:uFillTx/>
                <a:latin typeface="BIZ UDPゴシック"/>
                <a:ea typeface="BIZ UDPゴシック"/>
              </a:rPr>
              <a:t>競争優位として活かし切れていない可能性</a:t>
            </a:r>
            <a:r>
              <a:rPr kumimoji="0" lang="ja-JP" altLang="en-US" sz="1400" b="0" i="0" u="none" strike="noStrike" kern="1200" cap="none" spc="0" normalizeH="0" baseline="0" noProof="0">
                <a:ln>
                  <a:noFill/>
                </a:ln>
                <a:solidFill>
                  <a:prstClr val="black"/>
                </a:solidFill>
                <a:effectLst/>
                <a:uLnTx/>
                <a:uFillTx/>
                <a:latin typeface="BIZ UDPゴシック"/>
                <a:ea typeface="BIZ UDPゴシック"/>
              </a:rPr>
              <a:t>があります。そこで本活動では、現状分析を行いながら、感性価値としての伝え方や活用方法について仮説検討を進めています</a:t>
            </a:r>
            <a:endParaRPr kumimoji="0" lang="en-US" sz="14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5" name="Shape 3"/>
          <p:cNvSpPr/>
          <p:nvPr/>
        </p:nvSpPr>
        <p:spPr>
          <a:xfrm>
            <a:off x="636270" y="2562225"/>
            <a:ext cx="11109960" cy="1807236"/>
          </a:xfrm>
          <a:prstGeom prst="roundRect">
            <a:avLst>
              <a:gd name="adj" fmla="val 2192"/>
            </a:avLst>
          </a:prstGeom>
          <a:solidFill>
            <a:srgbClr val="FFFFFF"/>
          </a:solidFill>
          <a:ln w="12700">
            <a:solidFill>
              <a:srgbClr val="D9DEE7"/>
            </a:solidFill>
            <a:prstDash val="solid"/>
          </a:ln>
          <a:effectLst>
            <a:outerShdw blurRad="12700" dist="635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6" name="Shape 4"/>
          <p:cNvSpPr/>
          <p:nvPr/>
        </p:nvSpPr>
        <p:spPr>
          <a:xfrm>
            <a:off x="640080" y="2562225"/>
            <a:ext cx="161198" cy="1807236"/>
          </a:xfrm>
          <a:prstGeom prst="rect">
            <a:avLst/>
          </a:prstGeom>
          <a:solidFill>
            <a:srgbClr val="0041C0"/>
          </a:solidFill>
          <a:ln w="12700">
            <a:solidFill>
              <a:srgbClr val="0041C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7" name="Text 5"/>
          <p:cNvSpPr/>
          <p:nvPr/>
        </p:nvSpPr>
        <p:spPr>
          <a:xfrm>
            <a:off x="868680" y="2689354"/>
            <a:ext cx="2926080" cy="246249"/>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err="1">
                <a:ln>
                  <a:noFill/>
                </a:ln>
                <a:solidFill>
                  <a:srgbClr val="001D35"/>
                </a:solidFill>
                <a:effectLst/>
                <a:uLnTx/>
                <a:uFillTx/>
                <a:latin typeface="BIZ UDPゴシック"/>
                <a:ea typeface="BIZ UDPゴシック"/>
              </a:rPr>
              <a:t>現状</a:t>
            </a:r>
            <a:r>
              <a:rPr kumimoji="0" lang="ja-JP" altLang="en-US" sz="1500" b="1" i="0" u="none" strike="noStrike" kern="1200" cap="none" spc="0" normalizeH="0" baseline="0" noProof="0">
                <a:ln>
                  <a:noFill/>
                </a:ln>
                <a:solidFill>
                  <a:srgbClr val="001D35"/>
                </a:solidFill>
                <a:effectLst/>
                <a:uLnTx/>
                <a:uFillTx/>
                <a:latin typeface="BIZ UDPゴシック"/>
                <a:ea typeface="BIZ UDPゴシック"/>
              </a:rPr>
              <a:t>分析</a:t>
            </a:r>
            <a:endParaRPr kumimoji="0" lang="en-US" sz="15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8" name="Text 6"/>
          <p:cNvSpPr/>
          <p:nvPr/>
        </p:nvSpPr>
        <p:spPr>
          <a:xfrm>
            <a:off x="868679" y="3028645"/>
            <a:ext cx="10683241" cy="1176224"/>
          </a:xfrm>
          <a:prstGeom prst="rect">
            <a:avLst/>
          </a:prstGeom>
          <a:noFill/>
          <a:ln/>
        </p:spPr>
        <p:txBody>
          <a:bodyPr wrap="square" lIns="254" tIns="254" rIns="254" bIns="254"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　当社</a:t>
            </a:r>
            <a:r>
              <a:rPr kumimoji="0" lang="en-US" sz="1400" b="0" i="0" u="none" strike="noStrike" kern="1200" cap="none" spc="0" normalizeH="0" baseline="0" noProof="0" err="1">
                <a:ln>
                  <a:noFill/>
                </a:ln>
                <a:solidFill>
                  <a:srgbClr val="1F2937"/>
                </a:solidFill>
                <a:effectLst/>
                <a:uLnTx/>
                <a:uFillTx/>
                <a:latin typeface="BIZ UDPゴシック"/>
                <a:ea typeface="BIZ UDPゴシック"/>
              </a:rPr>
              <a:t>には品質・CS・環境</a:t>
            </a: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取組に関して</a:t>
            </a:r>
            <a:r>
              <a:rPr kumimoji="0" lang="en-US" sz="1400" b="0" i="0" u="none" strike="noStrike" kern="1200" cap="none" spc="0" normalizeH="0" baseline="0" noProof="0" err="1">
                <a:ln>
                  <a:noFill/>
                </a:ln>
                <a:solidFill>
                  <a:srgbClr val="1F2937"/>
                </a:solidFill>
                <a:effectLst/>
                <a:uLnTx/>
                <a:uFillTx/>
                <a:latin typeface="BIZ UDPゴシック"/>
                <a:ea typeface="BIZ UDPゴシック"/>
              </a:rPr>
              <a:t>優れた取組がある一方、その価値が</a:t>
            </a: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十分</a:t>
            </a:r>
            <a:r>
              <a:rPr kumimoji="0" lang="en-US" sz="1400" b="0" i="0" u="none" strike="noStrike" kern="1200" cap="none" spc="0" normalizeH="0" baseline="0" noProof="0">
                <a:ln>
                  <a:noFill/>
                </a:ln>
                <a:solidFill>
                  <a:srgbClr val="1F2937"/>
                </a:solidFill>
                <a:effectLst/>
                <a:uLnTx/>
                <a:uFillTx/>
                <a:latin typeface="BIZ UDPゴシック"/>
                <a:ea typeface="BIZ UDPゴシック"/>
              </a:rPr>
              <a:t>に</a:t>
            </a: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伝えきれておらず、</a:t>
            </a:r>
            <a:endParaRPr kumimoji="0" lang="en-US" altLang="ja-JP"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　　価値として伝わり切れていないのではないか？</a:t>
            </a:r>
            <a:endParaRPr kumimoji="0" lang="en-US" altLang="ja-JP"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　どのような形でその取組を認知させようとしているのか？</a:t>
            </a:r>
            <a:endParaRPr kumimoji="0" lang="en-US" altLang="ja-JP"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　社外に限らず、社内にも取組が認知されていないのではないか？</a:t>
            </a:r>
            <a:endParaRPr kumimoji="0" lang="en-US" altLang="ja-JP" sz="1400" b="0" i="0" u="none" strike="noStrike" kern="1200" cap="none" spc="0" normalizeH="0" baseline="0" noProof="0">
              <a:ln>
                <a:noFill/>
              </a:ln>
              <a:solidFill>
                <a:srgbClr val="1F2937"/>
              </a:solidFill>
              <a:effectLst/>
              <a:uLnTx/>
              <a:uFillTx/>
              <a:latin typeface="BIZ UDPゴシック"/>
              <a:ea typeface="BIZ UDPゴシック"/>
            </a:endParaRPr>
          </a:p>
        </p:txBody>
      </p:sp>
      <p:sp>
        <p:nvSpPr>
          <p:cNvPr id="9" name="Shape 7"/>
          <p:cNvSpPr/>
          <p:nvPr/>
        </p:nvSpPr>
        <p:spPr>
          <a:xfrm>
            <a:off x="640080" y="4650909"/>
            <a:ext cx="11109960" cy="1788426"/>
          </a:xfrm>
          <a:prstGeom prst="roundRect">
            <a:avLst>
              <a:gd name="adj" fmla="val 2192"/>
            </a:avLst>
          </a:prstGeom>
          <a:solidFill>
            <a:srgbClr val="FFFFFF"/>
          </a:solidFill>
          <a:ln w="12700">
            <a:solidFill>
              <a:srgbClr val="D9DEE7"/>
            </a:solidFill>
            <a:prstDash val="solid"/>
          </a:ln>
          <a:effectLst>
            <a:outerShdw blurRad="12700" dist="635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0" name="Shape 8"/>
          <p:cNvSpPr/>
          <p:nvPr/>
        </p:nvSpPr>
        <p:spPr>
          <a:xfrm>
            <a:off x="640080" y="4650909"/>
            <a:ext cx="161198" cy="1788426"/>
          </a:xfrm>
          <a:prstGeom prst="rect">
            <a:avLst/>
          </a:prstGeom>
          <a:solidFill>
            <a:srgbClr val="F39800"/>
          </a:solidFill>
          <a:ln w="12700">
            <a:solidFill>
              <a:srgbClr val="F39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1" name="Text 9"/>
          <p:cNvSpPr/>
          <p:nvPr/>
        </p:nvSpPr>
        <p:spPr>
          <a:xfrm>
            <a:off x="868679" y="4778039"/>
            <a:ext cx="9740239" cy="227439"/>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a:ln>
                  <a:noFill/>
                </a:ln>
                <a:solidFill>
                  <a:srgbClr val="001D35"/>
                </a:solidFill>
                <a:effectLst/>
                <a:uLnTx/>
                <a:uFillTx/>
                <a:latin typeface="BIZ UDPゴシック"/>
                <a:ea typeface="BIZ UDPゴシック"/>
              </a:rPr>
              <a:t>仮説の検討</a:t>
            </a:r>
            <a:endParaRPr kumimoji="0" lang="en-US" sz="15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5" name="Slide Number Placeholder 0"/>
          <p:cNvSpPr>
            <a:spLocks noGrp="1"/>
          </p:cNvSpPr>
          <p:nvPr>
            <p:ph type="sldNum" sz="quarter" idx="4294967295"/>
          </p:nvPr>
        </p:nvSpPr>
        <p:spPr>
          <a:xfrm>
            <a:off x="11814048" y="6558058"/>
            <a:ext cx="800000" cy="25247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BIZ UDPゴシック"/>
                <a:ea typeface="BIZ UDPゴシック"/>
                <a:cs typeface="BIZ UDPゴシック"/>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srgbClr val="6B7280"/>
                </a:solidFill>
                <a:effectLst/>
                <a:uLnTx/>
                <a:uFillTx/>
                <a:latin typeface="BIZ UDPゴシック"/>
                <a:ea typeface="BIZ UDPゴシック"/>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6B7280"/>
              </a:solidFill>
              <a:effectLst/>
              <a:uLnTx/>
              <a:uFillTx/>
              <a:latin typeface="BIZ UDPゴシック"/>
              <a:ea typeface="BIZ UDPゴシック"/>
            </a:endParaRPr>
          </a:p>
        </p:txBody>
      </p:sp>
      <p:pic>
        <p:nvPicPr>
          <p:cNvPr id="20" name="Image 0" descr="/mnt/data/image.png">
            <a:extLst>
              <a:ext uri="{FF2B5EF4-FFF2-40B4-BE49-F238E27FC236}">
                <a16:creationId xmlns:a16="http://schemas.microsoft.com/office/drawing/2014/main" id="{39384295-CB6B-F16C-2D1E-14426171A419}"/>
              </a:ext>
            </a:extLst>
          </p:cNvPr>
          <p:cNvPicPr>
            <a:picLocks noChangeAspect="1"/>
          </p:cNvPicPr>
          <p:nvPr/>
        </p:nvPicPr>
        <p:blipFill>
          <a:blip r:embed="rId3"/>
          <a:stretch>
            <a:fillRect/>
          </a:stretch>
        </p:blipFill>
        <p:spPr>
          <a:xfrm>
            <a:off x="10607410" y="47472"/>
            <a:ext cx="1315995" cy="213611"/>
          </a:xfrm>
          <a:prstGeom prst="rect">
            <a:avLst/>
          </a:prstGeom>
        </p:spPr>
      </p:pic>
      <p:sp>
        <p:nvSpPr>
          <p:cNvPr id="23" name="Text 6">
            <a:extLst>
              <a:ext uri="{FF2B5EF4-FFF2-40B4-BE49-F238E27FC236}">
                <a16:creationId xmlns:a16="http://schemas.microsoft.com/office/drawing/2014/main" id="{8B5244D2-A506-C61A-BBF2-6AB87FAEFD78}"/>
              </a:ext>
            </a:extLst>
          </p:cNvPr>
          <p:cNvSpPr/>
          <p:nvPr/>
        </p:nvSpPr>
        <p:spPr>
          <a:xfrm>
            <a:off x="914401" y="5098519"/>
            <a:ext cx="11018519" cy="1176224"/>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　「品質」「</a:t>
            </a:r>
            <a:r>
              <a:rPr kumimoji="0" lang="en-US" altLang="ja-JP" sz="1400" b="0" i="0" u="none" strike="noStrike" kern="1200" cap="none" spc="0" normalizeH="0" baseline="0" noProof="0">
                <a:ln>
                  <a:noFill/>
                </a:ln>
                <a:solidFill>
                  <a:srgbClr val="1F2937"/>
                </a:solidFill>
                <a:effectLst/>
                <a:uLnTx/>
                <a:uFillTx/>
                <a:latin typeface="BIZ UDPゴシック"/>
                <a:ea typeface="BIZ UDPゴシック"/>
              </a:rPr>
              <a:t>CS</a:t>
            </a: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」「環境取組」の観点で優れた取り組みとは何か？</a:t>
            </a:r>
            <a:endParaRPr kumimoji="0" lang="en-US" altLang="ja-JP"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　優れた取組をどのように伝えたら、改善につながりそうか？</a:t>
            </a:r>
            <a:endParaRPr kumimoji="0" lang="en-US" altLang="ja-JP"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1F2937"/>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a:ln>
                  <a:noFill/>
                </a:ln>
                <a:solidFill>
                  <a:srgbClr val="1F2937"/>
                </a:solidFill>
                <a:effectLst/>
                <a:uLnTx/>
                <a:uFillTx/>
                <a:latin typeface="BIZ UDPゴシック"/>
                <a:ea typeface="BIZ UDPゴシック"/>
              </a:rPr>
              <a:t>・　新たな取組として、考えられるアイデアはどのようなものがあるか？</a:t>
            </a:r>
            <a:endParaRPr kumimoji="0" lang="en-US" sz="1400" b="0" i="0" u="none" strike="noStrike" kern="1200" cap="none" spc="0" normalizeH="0" baseline="0" noProof="0">
              <a:ln>
                <a:noFill/>
              </a:ln>
              <a:solidFill>
                <a:prstClr val="black"/>
              </a:solidFill>
              <a:effectLst/>
              <a:uLnTx/>
              <a:uFillTx/>
              <a:latin typeface="BIZ UDPゴシック"/>
              <a:ea typeface="BIZ UDPゴシック"/>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sp>
        <p:nvSpPr>
          <p:cNvPr id="49" name="Rectangle 48"/>
          <p:cNvSpPr/>
          <p:nvPr/>
        </p:nvSpPr>
        <p:spPr>
          <a:xfrm>
            <a:off x="0" y="0"/>
            <a:ext cx="12192000" cy="292608"/>
          </a:xfrm>
          <a:prstGeom prst="rect">
            <a:avLst/>
          </a:prstGeom>
          <a:solidFill>
            <a:srgbClr val="004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475488" y="292608"/>
            <a:ext cx="2194560" cy="182880"/>
          </a:xfrm>
          <a:prstGeom prst="rect">
            <a:avLst/>
          </a:prstGeom>
          <a:noFill/>
          <a:ln/>
        </p:spPr>
        <p:txBody>
          <a:bodyPr wrap="square" lIns="0" tIns="0" rIns="0" bIns="0" rtlCol="0" anchor="ctr"/>
          <a:lstStyle/>
          <a:p>
            <a:pPr marL="0" indent="0">
              <a:buNone/>
            </a:pPr>
            <a:r>
              <a:rPr lang="en-US" sz="900" b="1" kern="0" spc="120">
                <a:solidFill>
                  <a:srgbClr val="1556B8"/>
                </a:solidFill>
                <a:latin typeface="BIZ UDPゴシック" panose="020B0400000000000000" pitchFamily="50" charset="-128"/>
                <a:ea typeface="BIZ UDPゴシック" panose="020B0400000000000000" pitchFamily="50" charset="-128"/>
              </a:rPr>
              <a:t>03｜QUALITY</a:t>
            </a:r>
            <a:endParaRPr lang="en-US" sz="900">
              <a:latin typeface="BIZ UDPゴシック" panose="020B0400000000000000" pitchFamily="50" charset="-128"/>
              <a:ea typeface="BIZ UDPゴシック" panose="020B0400000000000000" pitchFamily="50" charset="-128"/>
            </a:endParaRPr>
          </a:p>
        </p:txBody>
      </p:sp>
      <p:sp>
        <p:nvSpPr>
          <p:cNvPr id="3" name="Text 1"/>
          <p:cNvSpPr/>
          <p:nvPr/>
        </p:nvSpPr>
        <p:spPr>
          <a:xfrm>
            <a:off x="475488" y="566928"/>
            <a:ext cx="8046720" cy="411480"/>
          </a:xfrm>
          <a:prstGeom prst="rect">
            <a:avLst/>
          </a:prstGeom>
          <a:noFill/>
          <a:ln/>
        </p:spPr>
        <p:txBody>
          <a:bodyPr wrap="square" lIns="0" tIns="0" rIns="0" bIns="0" rtlCol="0" anchor="ctr">
            <a:normAutofit/>
          </a:bodyPr>
          <a:lstStyle/>
          <a:p>
            <a:pPr marL="0" indent="0">
              <a:buNone/>
            </a:pPr>
            <a:r>
              <a:rPr lang="en-US" sz="2400" b="1" err="1">
                <a:solidFill>
                  <a:srgbClr val="001D35"/>
                </a:solidFill>
                <a:latin typeface="BIZ UDPゴシック" panose="020B0400000000000000" pitchFamily="50" charset="-128"/>
                <a:ea typeface="BIZ UDPゴシック" panose="020B0400000000000000" pitchFamily="50" charset="-128"/>
              </a:rPr>
              <a:t>品質｜見えないこだわりを、伝わる価値へ</a:t>
            </a:r>
            <a:endParaRPr lang="en-US" sz="2400">
              <a:latin typeface="BIZ UDPゴシック" panose="020B0400000000000000" pitchFamily="50" charset="-128"/>
              <a:ea typeface="BIZ UDPゴシック" panose="020B0400000000000000" pitchFamily="50" charset="-128"/>
            </a:endParaRPr>
          </a:p>
        </p:txBody>
      </p:sp>
      <p:sp>
        <p:nvSpPr>
          <p:cNvPr id="4" name="Text 2"/>
          <p:cNvSpPr/>
          <p:nvPr/>
        </p:nvSpPr>
        <p:spPr>
          <a:xfrm>
            <a:off x="493776" y="1024128"/>
            <a:ext cx="5943600" cy="228600"/>
          </a:xfrm>
          <a:prstGeom prst="rect">
            <a:avLst/>
          </a:prstGeom>
          <a:noFill/>
          <a:ln/>
        </p:spPr>
        <p:txBody>
          <a:bodyPr wrap="square" lIns="0" tIns="0" rIns="0" bIns="0" rtlCol="0" anchor="ctr"/>
          <a:lstStyle/>
          <a:p>
            <a:pPr marL="0" indent="0">
              <a:buNone/>
            </a:pPr>
            <a:r>
              <a:rPr lang="en-US" sz="1050">
                <a:solidFill>
                  <a:srgbClr val="667085"/>
                </a:solidFill>
                <a:latin typeface="BIZ UDPゴシック" panose="020B0400000000000000" pitchFamily="50" charset="-128"/>
                <a:ea typeface="BIZ UDPゴシック" panose="020B0400000000000000" pitchFamily="50" charset="-128"/>
              </a:rPr>
              <a:t>担当者が詳細を追記・更新する共通フォーマット</a:t>
            </a:r>
            <a:endParaRPr lang="en-US" sz="1050">
              <a:latin typeface="BIZ UDPゴシック" panose="020B0400000000000000" pitchFamily="50" charset="-128"/>
              <a:ea typeface="BIZ UDPゴシック" panose="020B0400000000000000" pitchFamily="50" charset="-128"/>
            </a:endParaRPr>
          </a:p>
        </p:txBody>
      </p:sp>
      <p:sp>
        <p:nvSpPr>
          <p:cNvPr id="5" name="Shape 3"/>
          <p:cNvSpPr/>
          <p:nvPr/>
        </p:nvSpPr>
        <p:spPr>
          <a:xfrm>
            <a:off x="8732520" y="411480"/>
            <a:ext cx="2926080" cy="713232"/>
          </a:xfrm>
          <a:prstGeom prst="roundRect">
            <a:avLst>
              <a:gd name="adj" fmla="val 6410"/>
            </a:avLst>
          </a:prstGeom>
          <a:solidFill>
            <a:srgbClr val="EAF2FF"/>
          </a:solidFill>
          <a:ln w="12700">
            <a:solidFill>
              <a:srgbClr val="1556B8"/>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6" name="Text 4"/>
          <p:cNvSpPr/>
          <p:nvPr/>
        </p:nvSpPr>
        <p:spPr>
          <a:xfrm>
            <a:off x="8942832" y="548640"/>
            <a:ext cx="1097280" cy="128016"/>
          </a:xfrm>
          <a:prstGeom prst="rect">
            <a:avLst/>
          </a:prstGeom>
          <a:noFill/>
          <a:ln/>
        </p:spPr>
        <p:txBody>
          <a:bodyPr wrap="square" lIns="0" tIns="0" rIns="0" bIns="0" rtlCol="0" anchor="ctr"/>
          <a:lstStyle/>
          <a:p>
            <a:pPr marL="0" indent="0">
              <a:buNone/>
            </a:pPr>
            <a:r>
              <a:rPr lang="en-US" sz="800" b="1">
                <a:solidFill>
                  <a:srgbClr val="1556B8"/>
                </a:solidFill>
                <a:latin typeface="BIZ UDPゴシック" panose="020B0400000000000000" pitchFamily="50" charset="-128"/>
                <a:ea typeface="BIZ UDPゴシック" panose="020B0400000000000000" pitchFamily="50" charset="-128"/>
              </a:rPr>
              <a:t>カテゴリの一言定義</a:t>
            </a:r>
            <a:endParaRPr lang="en-US" sz="800">
              <a:latin typeface="BIZ UDPゴシック" panose="020B0400000000000000" pitchFamily="50" charset="-128"/>
              <a:ea typeface="BIZ UDPゴシック" panose="020B0400000000000000" pitchFamily="50" charset="-128"/>
            </a:endParaRPr>
          </a:p>
        </p:txBody>
      </p:sp>
      <p:sp>
        <p:nvSpPr>
          <p:cNvPr id="7" name="Text 5"/>
          <p:cNvSpPr/>
          <p:nvPr/>
        </p:nvSpPr>
        <p:spPr>
          <a:xfrm>
            <a:off x="8942832" y="768096"/>
            <a:ext cx="2487168" cy="146304"/>
          </a:xfrm>
          <a:prstGeom prst="rect">
            <a:avLst/>
          </a:prstGeom>
          <a:noFill/>
          <a:ln/>
        </p:spPr>
        <p:txBody>
          <a:bodyPr wrap="square" lIns="0" tIns="0" rIns="0" bIns="0" rtlCol="0" anchor="ctr">
            <a:normAutofit fontScale="92500" lnSpcReduction="20000"/>
          </a:bodyPr>
          <a:lstStyle/>
          <a:p>
            <a:pPr marL="0" indent="0">
              <a:buNone/>
            </a:pPr>
            <a:r>
              <a:rPr lang="en-US" sz="1150" b="1">
                <a:solidFill>
                  <a:srgbClr val="001D35"/>
                </a:solidFill>
                <a:latin typeface="BIZ UDPゴシック" panose="020B0400000000000000" pitchFamily="50" charset="-128"/>
                <a:ea typeface="BIZ UDPゴシック" panose="020B0400000000000000" pitchFamily="50" charset="-128"/>
              </a:rPr>
              <a:t>「信じられる理由」を見える化</a:t>
            </a:r>
            <a:endParaRPr lang="en-US" sz="1150">
              <a:latin typeface="BIZ UDPゴシック" panose="020B0400000000000000" pitchFamily="50" charset="-128"/>
              <a:ea typeface="BIZ UDPゴシック" panose="020B0400000000000000" pitchFamily="50" charset="-128"/>
            </a:endParaRPr>
          </a:p>
        </p:txBody>
      </p:sp>
      <p:sp>
        <p:nvSpPr>
          <p:cNvPr id="11" name="Shape 9"/>
          <p:cNvSpPr/>
          <p:nvPr/>
        </p:nvSpPr>
        <p:spPr>
          <a:xfrm>
            <a:off x="475488" y="2008499"/>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12" name="Text 10"/>
          <p:cNvSpPr/>
          <p:nvPr/>
        </p:nvSpPr>
        <p:spPr>
          <a:xfrm>
            <a:off x="676656" y="2173091"/>
            <a:ext cx="3035808" cy="201168"/>
          </a:xfrm>
          <a:prstGeom prst="rect">
            <a:avLst/>
          </a:prstGeom>
          <a:noFill/>
          <a:ln/>
        </p:spPr>
        <p:txBody>
          <a:bodyPr wrap="square" lIns="0" tIns="0" rIns="0" bIns="0" rtlCol="0" anchor="ctr"/>
          <a:lstStyle/>
          <a:p>
            <a:pPr marL="0" indent="0">
              <a:buNone/>
            </a:pPr>
            <a:r>
              <a:rPr lang="en-US" sz="1200" b="1">
                <a:solidFill>
                  <a:srgbClr val="1556B8"/>
                </a:solidFill>
                <a:latin typeface="BIZ UDPゴシック" panose="020B0400000000000000" pitchFamily="50" charset="-128"/>
                <a:ea typeface="BIZ UDPゴシック" panose="020B0400000000000000" pitchFamily="50" charset="-128"/>
              </a:rPr>
              <a:t>01｜現状・強み</a:t>
            </a:r>
            <a:endParaRPr lang="en-US" sz="1200">
              <a:latin typeface="BIZ UDPゴシック" panose="020B0400000000000000" pitchFamily="50" charset="-128"/>
              <a:ea typeface="BIZ UDPゴシック" panose="020B0400000000000000" pitchFamily="50" charset="-128"/>
            </a:endParaRPr>
          </a:p>
        </p:txBody>
      </p:sp>
      <p:sp>
        <p:nvSpPr>
          <p:cNvPr id="13" name="Shape 11"/>
          <p:cNvSpPr/>
          <p:nvPr/>
        </p:nvSpPr>
        <p:spPr>
          <a:xfrm>
            <a:off x="676656" y="2483987"/>
            <a:ext cx="3035808" cy="1"/>
          </a:xfrm>
          <a:prstGeom prst="line">
            <a:avLst/>
          </a:prstGeom>
          <a:noFill/>
          <a:ln w="12700">
            <a:solidFill>
              <a:srgbClr val="CFD8E3"/>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14" name="Text 12"/>
          <p:cNvSpPr/>
          <p:nvPr/>
        </p:nvSpPr>
        <p:spPr>
          <a:xfrm>
            <a:off x="515112" y="2630291"/>
            <a:ext cx="3398519" cy="1527048"/>
          </a:xfrm>
          <a:prstGeom prst="rect">
            <a:avLst/>
          </a:prstGeom>
          <a:noFill/>
          <a:ln/>
        </p:spPr>
        <p:txBody>
          <a:bodyPr wrap="square" lIns="508" tIns="508" rIns="508" bIns="508" rtlCol="0" anchor="ctr">
            <a:noAutofit/>
          </a:bodyPr>
          <a:lstStyle/>
          <a:p>
            <a:r>
              <a:rPr lang="ja-JP" altLang="en-US" sz="1200" b="1">
                <a:latin typeface="BIZ UDPゴシック" panose="020B0400000000000000" pitchFamily="50" charset="-128"/>
                <a:ea typeface="BIZ UDPゴシック" panose="020B0400000000000000" pitchFamily="50" charset="-128"/>
              </a:rPr>
              <a:t>「</a:t>
            </a:r>
            <a:r>
              <a:rPr lang="en-US" altLang="ja-JP" sz="1200" b="1">
                <a:latin typeface="BIZ UDPゴシック" panose="020B0400000000000000" pitchFamily="50" charset="-128"/>
                <a:ea typeface="BIZ UDPゴシック" panose="020B0400000000000000" pitchFamily="50" charset="-128"/>
              </a:rPr>
              <a:t>Panasonic Quality</a:t>
            </a:r>
            <a:r>
              <a:rPr lang="ja-JP" altLang="en-US" sz="1200" b="1">
                <a:latin typeface="BIZ UDPゴシック" panose="020B0400000000000000" pitchFamily="50" charset="-128"/>
                <a:ea typeface="BIZ UDPゴシック" panose="020B0400000000000000" pitchFamily="50" charset="-128"/>
              </a:rPr>
              <a:t>」品質へのこだわりの発信</a:t>
            </a:r>
            <a:endParaRPr lang="en-US" altLang="ja-JP" sz="1200" b="1">
              <a:latin typeface="BIZ UDPゴシック" panose="020B0400000000000000" pitchFamily="50" charset="-128"/>
              <a:ea typeface="BIZ UDPゴシック" panose="020B0400000000000000" pitchFamily="50" charset="-128"/>
            </a:endParaRPr>
          </a:p>
          <a:p>
            <a:endParaRPr lang="en-US" altLang="ja-JP" sz="1200" b="1">
              <a:latin typeface="BIZ UDPゴシック" panose="020B0400000000000000" pitchFamily="50" charset="-128"/>
              <a:ea typeface="BIZ UDPゴシック" panose="020B0400000000000000" pitchFamily="50" charset="-128"/>
            </a:endParaRPr>
          </a:p>
          <a:p>
            <a:r>
              <a:rPr lang="ja-JP" altLang="en-US" sz="1200">
                <a:latin typeface="BIZ UDPゴシック" panose="020B0400000000000000" pitchFamily="50" charset="-128"/>
                <a:ea typeface="BIZ UDPゴシック" panose="020B0400000000000000" pitchFamily="50" charset="-128"/>
              </a:rPr>
              <a:t>・</a:t>
            </a:r>
            <a:r>
              <a:rPr lang="ja-JP" altLang="ja-JP" sz="1200">
                <a:latin typeface="BIZ UDPゴシック" panose="020B0400000000000000" pitchFamily="50" charset="-128"/>
                <a:ea typeface="BIZ UDPゴシック" panose="020B0400000000000000" pitchFamily="50" charset="-128"/>
              </a:rPr>
              <a:t>「ものづくりのこだわり」「使いやすさ」「長く使うための工夫」などのコンテンツ</a:t>
            </a:r>
            <a:r>
              <a:rPr lang="ja-JP" altLang="en-US" sz="1200">
                <a:latin typeface="BIZ UDPゴシック" panose="020B0400000000000000" pitchFamily="50" charset="-128"/>
                <a:ea typeface="BIZ UDPゴシック" panose="020B0400000000000000" pitchFamily="50" charset="-128"/>
              </a:rPr>
              <a:t>を保有</a:t>
            </a:r>
            <a:endParaRPr lang="en-US" altLang="ja-JP" sz="1200">
              <a:latin typeface="BIZ UDPゴシック" panose="020B0400000000000000" pitchFamily="50" charset="-128"/>
              <a:ea typeface="BIZ UDPゴシック" panose="020B0400000000000000" pitchFamily="50" charset="-128"/>
            </a:endParaRPr>
          </a:p>
          <a:p>
            <a:r>
              <a:rPr lang="ja-JP" altLang="en-US" sz="1200">
                <a:latin typeface="BIZ UDPゴシック" panose="020B0400000000000000" pitchFamily="50" charset="-128"/>
                <a:ea typeface="BIZ UDPゴシック" panose="020B0400000000000000" pitchFamily="50" charset="-128"/>
              </a:rPr>
              <a:t>・ブランド価値向上を目的とした、接点獲得、</a:t>
            </a:r>
            <a:r>
              <a:rPr lang="ja-JP" altLang="ja-JP" sz="1200">
                <a:latin typeface="BIZ UDPゴシック" panose="020B0400000000000000" pitchFamily="50" charset="-128"/>
                <a:ea typeface="BIZ UDPゴシック" panose="020B0400000000000000" pitchFamily="50" charset="-128"/>
              </a:rPr>
              <a:t>特設サイトへの送客</a:t>
            </a:r>
            <a:r>
              <a:rPr lang="ja-JP" altLang="en-US" sz="1200">
                <a:latin typeface="BIZ UDPゴシック" panose="020B0400000000000000" pitchFamily="50" charset="-128"/>
                <a:ea typeface="BIZ UDPゴシック" panose="020B0400000000000000" pitchFamily="50" charset="-128"/>
              </a:rPr>
              <a:t>のための</a:t>
            </a:r>
            <a:r>
              <a:rPr lang="ja-JP" altLang="ja-JP" sz="1200">
                <a:latin typeface="BIZ UDPゴシック" panose="020B0400000000000000" pitchFamily="50" charset="-128"/>
                <a:ea typeface="BIZ UDPゴシック" panose="020B0400000000000000" pitchFamily="50" charset="-128"/>
              </a:rPr>
              <a:t>デジタル施策</a:t>
            </a:r>
            <a:r>
              <a:rPr lang="ja-JP" altLang="en-US" sz="1200">
                <a:latin typeface="BIZ UDPゴシック" panose="020B0400000000000000" pitchFamily="50" charset="-128"/>
                <a:ea typeface="BIZ UDPゴシック" panose="020B0400000000000000" pitchFamily="50" charset="-128"/>
              </a:rPr>
              <a:t>をメインで取組</a:t>
            </a:r>
            <a:endParaRPr lang="en-US" sz="1200">
              <a:latin typeface="BIZ UDPゴシック" panose="020B0400000000000000" pitchFamily="50" charset="-128"/>
              <a:ea typeface="BIZ UDPゴシック" panose="020B0400000000000000" pitchFamily="50" charset="-128"/>
            </a:endParaRPr>
          </a:p>
        </p:txBody>
      </p:sp>
      <p:sp>
        <p:nvSpPr>
          <p:cNvPr id="15" name="Shape 13"/>
          <p:cNvSpPr/>
          <p:nvPr/>
        </p:nvSpPr>
        <p:spPr>
          <a:xfrm>
            <a:off x="4370832" y="2008499"/>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16" name="Text 14"/>
          <p:cNvSpPr/>
          <p:nvPr/>
        </p:nvSpPr>
        <p:spPr>
          <a:xfrm>
            <a:off x="4572000" y="2173091"/>
            <a:ext cx="3035808" cy="201168"/>
          </a:xfrm>
          <a:prstGeom prst="rect">
            <a:avLst/>
          </a:prstGeom>
          <a:noFill/>
          <a:ln/>
        </p:spPr>
        <p:txBody>
          <a:bodyPr wrap="square" lIns="0" tIns="0" rIns="0" bIns="0" rtlCol="0" anchor="ctr"/>
          <a:lstStyle/>
          <a:p>
            <a:pPr marL="0" indent="0">
              <a:buNone/>
            </a:pPr>
            <a:r>
              <a:rPr lang="en-US" sz="1200" b="1">
                <a:solidFill>
                  <a:srgbClr val="1556B8"/>
                </a:solidFill>
                <a:latin typeface="BIZ UDPゴシック" panose="020B0400000000000000" pitchFamily="50" charset="-128"/>
                <a:ea typeface="BIZ UDPゴシック" panose="020B0400000000000000" pitchFamily="50" charset="-128"/>
              </a:rPr>
              <a:t>02｜課題・伝達ギャップ</a:t>
            </a:r>
            <a:endParaRPr lang="en-US" sz="1200">
              <a:latin typeface="BIZ UDPゴシック" panose="020B0400000000000000" pitchFamily="50" charset="-128"/>
              <a:ea typeface="BIZ UDPゴシック" panose="020B0400000000000000" pitchFamily="50" charset="-128"/>
            </a:endParaRPr>
          </a:p>
        </p:txBody>
      </p:sp>
      <p:sp>
        <p:nvSpPr>
          <p:cNvPr id="17" name="Shape 15"/>
          <p:cNvSpPr/>
          <p:nvPr/>
        </p:nvSpPr>
        <p:spPr>
          <a:xfrm>
            <a:off x="4572000" y="2483987"/>
            <a:ext cx="3035808" cy="1"/>
          </a:xfrm>
          <a:prstGeom prst="line">
            <a:avLst/>
          </a:prstGeom>
          <a:noFill/>
          <a:ln w="12700">
            <a:solidFill>
              <a:srgbClr val="CFD8E3"/>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18" name="Text 16"/>
          <p:cNvSpPr/>
          <p:nvPr/>
        </p:nvSpPr>
        <p:spPr>
          <a:xfrm>
            <a:off x="4495695" y="2622697"/>
            <a:ext cx="3188418" cy="1527048"/>
          </a:xfrm>
          <a:prstGeom prst="rect">
            <a:avLst/>
          </a:prstGeom>
          <a:noFill/>
          <a:ln/>
        </p:spPr>
        <p:txBody>
          <a:bodyPr wrap="square" lIns="508" tIns="508" rIns="508" bIns="508" rtlCol="0" anchor="ctr">
            <a:normAutofit/>
          </a:bodyPr>
          <a:lstStyle/>
          <a:p>
            <a:endParaRPr lang="en-US" altLang="ja-JP" sz="1200">
              <a:latin typeface="BIZ UDPゴシック" panose="020B0400000000000000" pitchFamily="50" charset="-128"/>
              <a:ea typeface="BIZ UDPゴシック" panose="020B0400000000000000" pitchFamily="50" charset="-128"/>
            </a:endParaRPr>
          </a:p>
          <a:p>
            <a:r>
              <a:rPr lang="ja-JP" altLang="en-US" sz="1200">
                <a:latin typeface="BIZ UDPゴシック" panose="020B0400000000000000" pitchFamily="50" charset="-128"/>
                <a:ea typeface="BIZ UDPゴシック" panose="020B0400000000000000" pitchFamily="50" charset="-128"/>
              </a:rPr>
              <a:t>・ブランド</a:t>
            </a:r>
            <a:r>
              <a:rPr lang="ja-JP" altLang="ja-JP" sz="1200">
                <a:latin typeface="BIZ UDPゴシック" panose="020B0400000000000000" pitchFamily="50" charset="-128"/>
                <a:ea typeface="BIZ UDPゴシック" panose="020B0400000000000000" pitchFamily="50" charset="-128"/>
              </a:rPr>
              <a:t>価値向上を目的としているため、認知施策がメイン</a:t>
            </a:r>
            <a:endParaRPr lang="en-US" altLang="ja-JP" sz="1200">
              <a:latin typeface="BIZ UDPゴシック" panose="020B0400000000000000" pitchFamily="50" charset="-128"/>
              <a:ea typeface="BIZ UDPゴシック" panose="020B0400000000000000" pitchFamily="50" charset="-128"/>
            </a:endParaRPr>
          </a:p>
          <a:p>
            <a:endParaRPr lang="en-US" altLang="ja-JP" sz="1200">
              <a:latin typeface="BIZ UDPゴシック" panose="020B0400000000000000" pitchFamily="50" charset="-128"/>
              <a:ea typeface="BIZ UDPゴシック" panose="020B0400000000000000" pitchFamily="50" charset="-128"/>
            </a:endParaRPr>
          </a:p>
          <a:p>
            <a:r>
              <a:rPr lang="ja-JP" altLang="en-US" sz="1200">
                <a:latin typeface="BIZ UDPゴシック" panose="020B0400000000000000" pitchFamily="50" charset="-128"/>
                <a:ea typeface="BIZ UDPゴシック" panose="020B0400000000000000" pitchFamily="50" charset="-128"/>
              </a:rPr>
              <a:t>・</a:t>
            </a:r>
            <a:r>
              <a:rPr lang="ja-JP" altLang="ja-JP" sz="1200">
                <a:latin typeface="BIZ UDPゴシック" panose="020B0400000000000000" pitchFamily="50" charset="-128"/>
                <a:ea typeface="BIZ UDPゴシック" panose="020B0400000000000000" pitchFamily="50" charset="-128"/>
              </a:rPr>
              <a:t>購入</a:t>
            </a:r>
            <a:r>
              <a:rPr lang="ja-JP" altLang="en-US" sz="1200">
                <a:latin typeface="BIZ UDPゴシック" panose="020B0400000000000000" pitchFamily="50" charset="-128"/>
                <a:ea typeface="BIZ UDPゴシック" panose="020B0400000000000000" pitchFamily="50" charset="-128"/>
              </a:rPr>
              <a:t>や購入後の</a:t>
            </a:r>
            <a:r>
              <a:rPr lang="ja-JP" altLang="en-US" sz="1200" b="1">
                <a:solidFill>
                  <a:srgbClr val="FF0000"/>
                </a:solidFill>
                <a:latin typeface="BIZ UDPゴシック" panose="020B0400000000000000" pitchFamily="50" charset="-128"/>
                <a:ea typeface="BIZ UDPゴシック" panose="020B0400000000000000" pitchFamily="50" charset="-128"/>
              </a:rPr>
              <a:t>実体験</a:t>
            </a:r>
            <a:r>
              <a:rPr lang="ja-JP" altLang="ja-JP" sz="1200" b="1">
                <a:solidFill>
                  <a:srgbClr val="FF0000"/>
                </a:solidFill>
                <a:latin typeface="BIZ UDPゴシック" panose="020B0400000000000000" pitchFamily="50" charset="-128"/>
                <a:ea typeface="BIZ UDPゴシック" panose="020B0400000000000000" pitchFamily="50" charset="-128"/>
              </a:rPr>
              <a:t>にはつながりづらい</a:t>
            </a:r>
            <a:r>
              <a:rPr lang="ja-JP" altLang="ja-JP" sz="1200">
                <a:latin typeface="BIZ UDPゴシック" panose="020B0400000000000000" pitchFamily="50" charset="-128"/>
                <a:ea typeface="BIZ UDPゴシック" panose="020B0400000000000000" pitchFamily="50" charset="-128"/>
              </a:rPr>
              <a:t>設計</a:t>
            </a:r>
          </a:p>
          <a:p>
            <a:pPr marL="0" indent="0">
              <a:buNone/>
            </a:pPr>
            <a:endParaRPr lang="en-US" sz="1200">
              <a:latin typeface="BIZ UDPゴシック" panose="020B0400000000000000" pitchFamily="50" charset="-128"/>
              <a:ea typeface="BIZ UDPゴシック" panose="020B0400000000000000" pitchFamily="50" charset="-128"/>
            </a:endParaRPr>
          </a:p>
        </p:txBody>
      </p:sp>
      <p:sp>
        <p:nvSpPr>
          <p:cNvPr id="19" name="Shape 17"/>
          <p:cNvSpPr/>
          <p:nvPr/>
        </p:nvSpPr>
        <p:spPr>
          <a:xfrm>
            <a:off x="8266176" y="2008499"/>
            <a:ext cx="3410712"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20" name="Text 18"/>
          <p:cNvSpPr/>
          <p:nvPr/>
        </p:nvSpPr>
        <p:spPr>
          <a:xfrm>
            <a:off x="8467344" y="2173091"/>
            <a:ext cx="3008376" cy="201168"/>
          </a:xfrm>
          <a:prstGeom prst="rect">
            <a:avLst/>
          </a:prstGeom>
          <a:noFill/>
          <a:ln/>
        </p:spPr>
        <p:txBody>
          <a:bodyPr wrap="square" lIns="0" tIns="0" rIns="0" bIns="0" rtlCol="0" anchor="ctr"/>
          <a:lstStyle/>
          <a:p>
            <a:pPr marL="0" indent="0">
              <a:buNone/>
            </a:pPr>
            <a:r>
              <a:rPr lang="en-US" sz="1200" b="1">
                <a:solidFill>
                  <a:srgbClr val="1556B8"/>
                </a:solidFill>
                <a:latin typeface="BIZ UDPゴシック" panose="020B0400000000000000" pitchFamily="50" charset="-128"/>
                <a:ea typeface="BIZ UDPゴシック" panose="020B0400000000000000" pitchFamily="50" charset="-128"/>
              </a:rPr>
              <a:t>03｜提案・目指す姿</a:t>
            </a:r>
            <a:endParaRPr lang="en-US" sz="1200">
              <a:latin typeface="BIZ UDPゴシック" panose="020B0400000000000000" pitchFamily="50" charset="-128"/>
              <a:ea typeface="BIZ UDPゴシック" panose="020B0400000000000000" pitchFamily="50" charset="-128"/>
            </a:endParaRPr>
          </a:p>
        </p:txBody>
      </p:sp>
      <p:sp>
        <p:nvSpPr>
          <p:cNvPr id="21" name="Shape 19"/>
          <p:cNvSpPr/>
          <p:nvPr/>
        </p:nvSpPr>
        <p:spPr>
          <a:xfrm>
            <a:off x="8467344" y="2483987"/>
            <a:ext cx="3008376" cy="1"/>
          </a:xfrm>
          <a:prstGeom prst="line">
            <a:avLst/>
          </a:prstGeom>
          <a:noFill/>
          <a:ln w="12700">
            <a:solidFill>
              <a:srgbClr val="CFD8E3"/>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22" name="Text 20"/>
          <p:cNvSpPr/>
          <p:nvPr/>
        </p:nvSpPr>
        <p:spPr>
          <a:xfrm>
            <a:off x="8494776" y="2630291"/>
            <a:ext cx="2953512" cy="1527048"/>
          </a:xfrm>
          <a:prstGeom prst="rect">
            <a:avLst/>
          </a:prstGeom>
          <a:noFill/>
          <a:ln/>
        </p:spPr>
        <p:txBody>
          <a:bodyPr wrap="square" lIns="508" tIns="508" rIns="508" bIns="508" rtlCol="0" anchor="ctr">
            <a:normAutofit/>
          </a:bodyPr>
          <a:lstStyle/>
          <a:p>
            <a:pPr marL="0" indent="0">
              <a:buNone/>
            </a:pPr>
            <a:endParaRPr lang="en-US" sz="1050">
              <a:latin typeface="BIZ UDPゴシック" panose="020B0400000000000000" pitchFamily="50" charset="-128"/>
              <a:ea typeface="BIZ UDPゴシック" panose="020B0400000000000000" pitchFamily="50" charset="-128"/>
            </a:endParaRPr>
          </a:p>
        </p:txBody>
      </p:sp>
      <p:sp>
        <p:nvSpPr>
          <p:cNvPr id="23" name="Shape 21"/>
          <p:cNvSpPr/>
          <p:nvPr/>
        </p:nvSpPr>
        <p:spPr>
          <a:xfrm>
            <a:off x="475488" y="4846320"/>
            <a:ext cx="7150608"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24" name="Text 22"/>
          <p:cNvSpPr/>
          <p:nvPr/>
        </p:nvSpPr>
        <p:spPr>
          <a:xfrm>
            <a:off x="676656" y="5010912"/>
            <a:ext cx="1920240" cy="201168"/>
          </a:xfrm>
          <a:prstGeom prst="rect">
            <a:avLst/>
          </a:prstGeom>
          <a:noFill/>
          <a:ln/>
        </p:spPr>
        <p:txBody>
          <a:bodyPr wrap="square" lIns="0" tIns="0" rIns="0" bIns="0" rtlCol="0" anchor="ctr"/>
          <a:lstStyle/>
          <a:p>
            <a:pPr marL="0" indent="0">
              <a:buNone/>
            </a:pPr>
            <a:r>
              <a:rPr lang="en-US" sz="1200" b="1">
                <a:solidFill>
                  <a:srgbClr val="1556B8"/>
                </a:solidFill>
                <a:latin typeface="BIZ UDPゴシック" panose="020B0400000000000000" pitchFamily="50" charset="-128"/>
                <a:ea typeface="BIZ UDPゴシック" panose="020B0400000000000000" pitchFamily="50" charset="-128"/>
              </a:rPr>
              <a:t>会議で出たアイデアの芽</a:t>
            </a:r>
            <a:endParaRPr lang="en-US" sz="1200">
              <a:latin typeface="BIZ UDPゴシック" panose="020B0400000000000000" pitchFamily="50" charset="-128"/>
              <a:ea typeface="BIZ UDPゴシック" panose="020B0400000000000000" pitchFamily="50" charset="-128"/>
            </a:endParaRPr>
          </a:p>
        </p:txBody>
      </p:sp>
      <p:sp>
        <p:nvSpPr>
          <p:cNvPr id="25" name="Text 23"/>
          <p:cNvSpPr/>
          <p:nvPr/>
        </p:nvSpPr>
        <p:spPr>
          <a:xfrm>
            <a:off x="2971800" y="5029200"/>
            <a:ext cx="3337560" cy="146304"/>
          </a:xfrm>
          <a:prstGeom prst="rect">
            <a:avLst/>
          </a:prstGeom>
          <a:noFill/>
          <a:ln/>
        </p:spPr>
        <p:txBody>
          <a:bodyPr wrap="square" lIns="0" tIns="0" rIns="0" bIns="0" rtlCol="0" anchor="ctr"/>
          <a:lstStyle/>
          <a:p>
            <a:pPr marL="0" indent="0">
              <a:buNone/>
            </a:pPr>
            <a:r>
              <a:rPr lang="en-US" sz="850">
                <a:solidFill>
                  <a:srgbClr val="667085"/>
                </a:solidFill>
                <a:latin typeface="BIZ UDPゴシック" panose="020B0400000000000000" pitchFamily="50" charset="-128"/>
                <a:ea typeface="BIZ UDPゴシック" panose="020B0400000000000000" pitchFamily="50" charset="-128"/>
              </a:rPr>
              <a:t>採否・表現・優先順位は担当者で更新</a:t>
            </a:r>
            <a:endParaRPr lang="en-US" sz="850">
              <a:latin typeface="BIZ UDPゴシック" panose="020B0400000000000000" pitchFamily="50" charset="-128"/>
              <a:ea typeface="BIZ UDPゴシック" panose="020B0400000000000000" pitchFamily="50" charset="-128"/>
            </a:endParaRPr>
          </a:p>
        </p:txBody>
      </p:sp>
      <p:sp>
        <p:nvSpPr>
          <p:cNvPr id="26" name="Shape 24"/>
          <p:cNvSpPr/>
          <p:nvPr/>
        </p:nvSpPr>
        <p:spPr>
          <a:xfrm>
            <a:off x="676656" y="5321808"/>
            <a:ext cx="6748272" cy="1"/>
          </a:xfrm>
          <a:prstGeom prst="line">
            <a:avLst/>
          </a:prstGeom>
          <a:noFill/>
          <a:ln w="12700">
            <a:solidFill>
              <a:srgbClr val="CFD8E3"/>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27" name="Shape 25"/>
          <p:cNvSpPr/>
          <p:nvPr/>
        </p:nvSpPr>
        <p:spPr>
          <a:xfrm>
            <a:off x="694944" y="5404104"/>
            <a:ext cx="1225296" cy="256032"/>
          </a:xfrm>
          <a:prstGeom prst="roundRect">
            <a:avLst>
              <a:gd name="adj" fmla="val 42857"/>
            </a:avLst>
          </a:prstGeom>
          <a:solidFill>
            <a:srgbClr val="EAF2FF"/>
          </a:solidFill>
          <a:ln w="12700">
            <a:solidFill>
              <a:srgbClr val="EAF2FF"/>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28" name="Text 26"/>
          <p:cNvSpPr/>
          <p:nvPr/>
        </p:nvSpPr>
        <p:spPr>
          <a:xfrm>
            <a:off x="768096" y="5477256"/>
            <a:ext cx="1078992" cy="91440"/>
          </a:xfrm>
          <a:prstGeom prst="rect">
            <a:avLst/>
          </a:prstGeom>
          <a:noFill/>
          <a:ln/>
        </p:spPr>
        <p:txBody>
          <a:bodyPr wrap="square" lIns="0" tIns="0" rIns="0" bIns="0" rtlCol="0" anchor="ctr">
            <a:noAutofit/>
          </a:bodyPr>
          <a:lstStyle/>
          <a:p>
            <a:pPr marL="0" indent="0" algn="ctr">
              <a:buNone/>
            </a:pPr>
            <a:r>
              <a:rPr lang="ja-JP" altLang="en-US" sz="800" b="1">
                <a:solidFill>
                  <a:srgbClr val="4276C7"/>
                </a:solidFill>
                <a:latin typeface="BIZ UDPゴシック" panose="020B0400000000000000" pitchFamily="50" charset="-128"/>
                <a:ea typeface="BIZ UDPゴシック" panose="020B0400000000000000" pitchFamily="50" charset="-128"/>
              </a:rPr>
              <a:t>修理する権利</a:t>
            </a:r>
            <a:endParaRPr lang="en-US" sz="800" b="1">
              <a:solidFill>
                <a:srgbClr val="4276C7"/>
              </a:solidFill>
              <a:latin typeface="BIZ UDPゴシック" panose="020B0400000000000000" pitchFamily="50" charset="-128"/>
              <a:ea typeface="BIZ UDPゴシック" panose="020B0400000000000000" pitchFamily="50" charset="-128"/>
            </a:endParaRPr>
          </a:p>
        </p:txBody>
      </p:sp>
      <p:sp>
        <p:nvSpPr>
          <p:cNvPr id="29" name="Shape 27"/>
          <p:cNvSpPr/>
          <p:nvPr/>
        </p:nvSpPr>
        <p:spPr>
          <a:xfrm>
            <a:off x="2048256" y="5404104"/>
            <a:ext cx="1225296" cy="256032"/>
          </a:xfrm>
          <a:prstGeom prst="roundRect">
            <a:avLst>
              <a:gd name="adj" fmla="val 42857"/>
            </a:avLst>
          </a:prstGeom>
          <a:solidFill>
            <a:srgbClr val="EAF2FF"/>
          </a:solidFill>
          <a:ln w="12700">
            <a:solidFill>
              <a:srgbClr val="EAF2FF"/>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30" name="Text 28"/>
          <p:cNvSpPr/>
          <p:nvPr/>
        </p:nvSpPr>
        <p:spPr>
          <a:xfrm>
            <a:off x="2121408" y="5477256"/>
            <a:ext cx="1078992" cy="91440"/>
          </a:xfrm>
          <a:prstGeom prst="rect">
            <a:avLst/>
          </a:prstGeom>
          <a:noFill/>
          <a:ln/>
        </p:spPr>
        <p:txBody>
          <a:bodyPr wrap="square" lIns="0" tIns="0" rIns="0" bIns="0" rtlCol="0" anchor="ctr">
            <a:normAutofit fontScale="92500" lnSpcReduction="20000"/>
          </a:bodyPr>
          <a:lstStyle/>
          <a:p>
            <a:pPr marL="0" indent="0" algn="ctr">
              <a:buNone/>
            </a:pPr>
            <a:r>
              <a:rPr lang="en-US" sz="780" b="1">
                <a:solidFill>
                  <a:srgbClr val="1556B8"/>
                </a:solidFill>
                <a:latin typeface="BIZ UDPゴシック" panose="020B0400000000000000" pitchFamily="50" charset="-128"/>
                <a:ea typeface="BIZ UDPゴシック" panose="020B0400000000000000" pitchFamily="50" charset="-128"/>
              </a:rPr>
              <a:t>壊れ方まで検証</a:t>
            </a:r>
            <a:endParaRPr lang="en-US" sz="780">
              <a:latin typeface="BIZ UDPゴシック" panose="020B0400000000000000" pitchFamily="50" charset="-128"/>
              <a:ea typeface="BIZ UDPゴシック" panose="020B0400000000000000" pitchFamily="50" charset="-128"/>
            </a:endParaRPr>
          </a:p>
        </p:txBody>
      </p:sp>
      <p:sp>
        <p:nvSpPr>
          <p:cNvPr id="31" name="Shape 29"/>
          <p:cNvSpPr/>
          <p:nvPr/>
        </p:nvSpPr>
        <p:spPr>
          <a:xfrm>
            <a:off x="3401568" y="5404104"/>
            <a:ext cx="1225296" cy="256032"/>
          </a:xfrm>
          <a:prstGeom prst="roundRect">
            <a:avLst>
              <a:gd name="adj" fmla="val 42857"/>
            </a:avLst>
          </a:prstGeom>
          <a:solidFill>
            <a:srgbClr val="EAF2FF"/>
          </a:solidFill>
          <a:ln w="12700">
            <a:solidFill>
              <a:srgbClr val="EAF2FF"/>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33" name="Shape 31"/>
          <p:cNvSpPr/>
          <p:nvPr/>
        </p:nvSpPr>
        <p:spPr>
          <a:xfrm>
            <a:off x="4754880" y="5404104"/>
            <a:ext cx="1225296" cy="256032"/>
          </a:xfrm>
          <a:prstGeom prst="roundRect">
            <a:avLst>
              <a:gd name="adj" fmla="val 42857"/>
            </a:avLst>
          </a:prstGeom>
          <a:solidFill>
            <a:srgbClr val="EAF2FF"/>
          </a:solidFill>
          <a:ln w="12700">
            <a:solidFill>
              <a:srgbClr val="EAF2FF"/>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34" name="Text 32"/>
          <p:cNvSpPr/>
          <p:nvPr/>
        </p:nvSpPr>
        <p:spPr>
          <a:xfrm>
            <a:off x="3346704" y="5346059"/>
            <a:ext cx="1353312" cy="350653"/>
          </a:xfrm>
          <a:prstGeom prst="rect">
            <a:avLst/>
          </a:prstGeom>
          <a:noFill/>
          <a:ln/>
        </p:spPr>
        <p:txBody>
          <a:bodyPr wrap="square" lIns="0" tIns="0" rIns="0" bIns="0" rtlCol="0" anchor="ctr">
            <a:normAutofit/>
          </a:bodyPr>
          <a:lstStyle/>
          <a:p>
            <a:pPr marL="0" indent="0" algn="ctr">
              <a:buNone/>
            </a:pPr>
            <a:r>
              <a:rPr lang="en-US" sz="780" b="1" err="1">
                <a:solidFill>
                  <a:srgbClr val="1556B8"/>
                </a:solidFill>
                <a:latin typeface="BIZ UDPゴシック" panose="020B0400000000000000" pitchFamily="50" charset="-128"/>
                <a:ea typeface="BIZ UDPゴシック" panose="020B0400000000000000" pitchFamily="50" charset="-128"/>
              </a:rPr>
              <a:t>大人の社会科見学</a:t>
            </a:r>
            <a:endParaRPr lang="en-US" sz="780" b="1">
              <a:solidFill>
                <a:srgbClr val="1556B8"/>
              </a:solidFill>
              <a:latin typeface="BIZ UDPゴシック" panose="020B0400000000000000" pitchFamily="50" charset="-128"/>
              <a:ea typeface="BIZ UDPゴシック" panose="020B0400000000000000" pitchFamily="50" charset="-128"/>
            </a:endParaRPr>
          </a:p>
        </p:txBody>
      </p:sp>
      <p:sp>
        <p:nvSpPr>
          <p:cNvPr id="35" name="Shape 33"/>
          <p:cNvSpPr/>
          <p:nvPr/>
        </p:nvSpPr>
        <p:spPr>
          <a:xfrm>
            <a:off x="6108192" y="5404104"/>
            <a:ext cx="1225296" cy="256032"/>
          </a:xfrm>
          <a:prstGeom prst="roundRect">
            <a:avLst>
              <a:gd name="adj" fmla="val 42857"/>
            </a:avLst>
          </a:prstGeom>
          <a:solidFill>
            <a:srgbClr val="EAF2FF"/>
          </a:solidFill>
          <a:ln w="12700">
            <a:solidFill>
              <a:srgbClr val="EAF2FF"/>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36" name="Text 34"/>
          <p:cNvSpPr/>
          <p:nvPr/>
        </p:nvSpPr>
        <p:spPr>
          <a:xfrm>
            <a:off x="4828032" y="5488607"/>
            <a:ext cx="1078992" cy="91440"/>
          </a:xfrm>
          <a:prstGeom prst="rect">
            <a:avLst/>
          </a:prstGeom>
          <a:noFill/>
          <a:ln/>
        </p:spPr>
        <p:txBody>
          <a:bodyPr wrap="square" lIns="0" tIns="0" rIns="0" bIns="0" rtlCol="0" anchor="ctr">
            <a:normAutofit fontScale="92500" lnSpcReduction="20000"/>
          </a:bodyPr>
          <a:lstStyle/>
          <a:p>
            <a:pPr marL="0" indent="0" algn="ctr">
              <a:buNone/>
            </a:pPr>
            <a:r>
              <a:rPr lang="en-US" sz="780" b="1" err="1">
                <a:solidFill>
                  <a:srgbClr val="1556B8"/>
                </a:solidFill>
                <a:latin typeface="BIZ UDPゴシック" panose="020B0400000000000000" pitchFamily="50" charset="-128"/>
                <a:ea typeface="BIZ UDPゴシック" panose="020B0400000000000000" pitchFamily="50" charset="-128"/>
              </a:rPr>
              <a:t>こだわりガチャ</a:t>
            </a:r>
            <a:endParaRPr lang="en-US" sz="780">
              <a:latin typeface="BIZ UDPゴシック" panose="020B0400000000000000" pitchFamily="50" charset="-128"/>
              <a:ea typeface="BIZ UDPゴシック" panose="020B0400000000000000" pitchFamily="50" charset="-128"/>
            </a:endParaRPr>
          </a:p>
        </p:txBody>
      </p:sp>
      <p:sp>
        <p:nvSpPr>
          <p:cNvPr id="37" name="Shape 35"/>
          <p:cNvSpPr/>
          <p:nvPr/>
        </p:nvSpPr>
        <p:spPr>
          <a:xfrm>
            <a:off x="694944" y="5715000"/>
            <a:ext cx="1225296" cy="256032"/>
          </a:xfrm>
          <a:prstGeom prst="roundRect">
            <a:avLst>
              <a:gd name="adj" fmla="val 42857"/>
            </a:avLst>
          </a:prstGeom>
          <a:solidFill>
            <a:srgbClr val="EAF2FF"/>
          </a:solidFill>
          <a:ln w="12700">
            <a:solidFill>
              <a:srgbClr val="EAF2FF"/>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40" name="Text 38"/>
          <p:cNvSpPr/>
          <p:nvPr/>
        </p:nvSpPr>
        <p:spPr>
          <a:xfrm>
            <a:off x="740664" y="5806440"/>
            <a:ext cx="1078992" cy="91440"/>
          </a:xfrm>
          <a:prstGeom prst="rect">
            <a:avLst/>
          </a:prstGeom>
          <a:noFill/>
          <a:ln/>
        </p:spPr>
        <p:txBody>
          <a:bodyPr wrap="square" lIns="0" tIns="0" rIns="0" bIns="0" rtlCol="0" anchor="ctr">
            <a:normAutofit fontScale="92500" lnSpcReduction="20000"/>
          </a:bodyPr>
          <a:lstStyle/>
          <a:p>
            <a:pPr marL="0" indent="0" algn="ctr">
              <a:buNone/>
            </a:pPr>
            <a:r>
              <a:rPr lang="en-US" sz="780" b="1">
                <a:solidFill>
                  <a:srgbClr val="1556B8"/>
                </a:solidFill>
                <a:latin typeface="BIZ UDPゴシック" panose="020B0400000000000000" pitchFamily="50" charset="-128"/>
                <a:ea typeface="BIZ UDPゴシック" panose="020B0400000000000000" pitchFamily="50" charset="-128"/>
              </a:rPr>
              <a:t>Made</a:t>
            </a:r>
            <a:r>
              <a:rPr lang="ja-JP" altLang="en-US" sz="780" b="1">
                <a:solidFill>
                  <a:srgbClr val="1556B8"/>
                </a:solidFill>
                <a:latin typeface="BIZ UDPゴシック" panose="020B0400000000000000" pitchFamily="50" charset="-128"/>
                <a:ea typeface="BIZ UDPゴシック" panose="020B0400000000000000" pitchFamily="50" charset="-128"/>
              </a:rPr>
              <a:t> </a:t>
            </a:r>
            <a:r>
              <a:rPr lang="en-US" altLang="ja-JP" sz="780" b="1">
                <a:solidFill>
                  <a:srgbClr val="1556B8"/>
                </a:solidFill>
                <a:latin typeface="BIZ UDPゴシック" panose="020B0400000000000000" pitchFamily="50" charset="-128"/>
                <a:ea typeface="BIZ UDPゴシック" panose="020B0400000000000000" pitchFamily="50" charset="-128"/>
              </a:rPr>
              <a:t>for</a:t>
            </a:r>
            <a:r>
              <a:rPr lang="ja-JP" altLang="en-US" sz="780" b="1">
                <a:solidFill>
                  <a:srgbClr val="1556B8"/>
                </a:solidFill>
                <a:latin typeface="BIZ UDPゴシック" panose="020B0400000000000000" pitchFamily="50" charset="-128"/>
                <a:ea typeface="BIZ UDPゴシック" panose="020B0400000000000000" pitchFamily="50" charset="-128"/>
              </a:rPr>
              <a:t> </a:t>
            </a:r>
            <a:r>
              <a:rPr lang="en-US" altLang="ja-JP" sz="780" b="1">
                <a:solidFill>
                  <a:srgbClr val="1556B8"/>
                </a:solidFill>
                <a:latin typeface="BIZ UDPゴシック" panose="020B0400000000000000" pitchFamily="50" charset="-128"/>
                <a:ea typeface="BIZ UDPゴシック" panose="020B0400000000000000" pitchFamily="50" charset="-128"/>
              </a:rPr>
              <a:t>you</a:t>
            </a:r>
            <a:endParaRPr lang="en-US" sz="780">
              <a:latin typeface="BIZ UDPゴシック" panose="020B0400000000000000" pitchFamily="50" charset="-128"/>
              <a:ea typeface="BIZ UDPゴシック" panose="020B0400000000000000" pitchFamily="50" charset="-128"/>
            </a:endParaRPr>
          </a:p>
        </p:txBody>
      </p:sp>
      <p:sp>
        <p:nvSpPr>
          <p:cNvPr id="42" name="Text 40"/>
          <p:cNvSpPr/>
          <p:nvPr/>
        </p:nvSpPr>
        <p:spPr>
          <a:xfrm>
            <a:off x="6208776" y="5477256"/>
            <a:ext cx="1078992" cy="91440"/>
          </a:xfrm>
          <a:prstGeom prst="rect">
            <a:avLst/>
          </a:prstGeom>
          <a:noFill/>
          <a:ln/>
        </p:spPr>
        <p:txBody>
          <a:bodyPr wrap="square" lIns="0" tIns="0" rIns="0" bIns="0" rtlCol="0" anchor="ctr">
            <a:normAutofit fontScale="92500" lnSpcReduction="20000"/>
          </a:bodyPr>
          <a:lstStyle/>
          <a:p>
            <a:pPr marL="0" indent="0" algn="ctr">
              <a:buNone/>
            </a:pPr>
            <a:r>
              <a:rPr lang="en-US" sz="780" b="1" err="1">
                <a:solidFill>
                  <a:srgbClr val="1556B8"/>
                </a:solidFill>
                <a:latin typeface="BIZ UDPゴシック" panose="020B0400000000000000" pitchFamily="50" charset="-128"/>
                <a:ea typeface="BIZ UDPゴシック" panose="020B0400000000000000" pitchFamily="50" charset="-128"/>
              </a:rPr>
              <a:t>部品保持</a:t>
            </a:r>
            <a:endParaRPr lang="en-US" sz="780">
              <a:latin typeface="BIZ UDPゴシック" panose="020B0400000000000000" pitchFamily="50" charset="-128"/>
              <a:ea typeface="BIZ UDPゴシック" panose="020B0400000000000000" pitchFamily="50" charset="-128"/>
            </a:endParaRPr>
          </a:p>
        </p:txBody>
      </p:sp>
      <p:sp>
        <p:nvSpPr>
          <p:cNvPr id="43" name="Shape 41"/>
          <p:cNvSpPr/>
          <p:nvPr/>
        </p:nvSpPr>
        <p:spPr>
          <a:xfrm>
            <a:off x="7882128" y="4846320"/>
            <a:ext cx="3794760"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44" name="Text 42"/>
          <p:cNvSpPr/>
          <p:nvPr/>
        </p:nvSpPr>
        <p:spPr>
          <a:xfrm>
            <a:off x="8083296" y="5010912"/>
            <a:ext cx="3392424" cy="201168"/>
          </a:xfrm>
          <a:prstGeom prst="rect">
            <a:avLst/>
          </a:prstGeom>
          <a:noFill/>
          <a:ln/>
        </p:spPr>
        <p:txBody>
          <a:bodyPr wrap="square" lIns="0" tIns="0" rIns="0" bIns="0" rtlCol="0" anchor="ctr"/>
          <a:lstStyle/>
          <a:p>
            <a:pPr marL="0" indent="0">
              <a:buNone/>
            </a:pPr>
            <a:r>
              <a:rPr lang="en-US" sz="1200" b="1">
                <a:solidFill>
                  <a:srgbClr val="1556B8"/>
                </a:solidFill>
                <a:latin typeface="BIZ UDPゴシック" panose="020B0400000000000000" pitchFamily="50" charset="-128"/>
                <a:ea typeface="BIZ UDPゴシック" panose="020B0400000000000000" pitchFamily="50" charset="-128"/>
              </a:rPr>
              <a:t>担当者メモ</a:t>
            </a:r>
            <a:endParaRPr lang="en-US" sz="1200">
              <a:latin typeface="BIZ UDPゴシック" panose="020B0400000000000000" pitchFamily="50" charset="-128"/>
              <a:ea typeface="BIZ UDPゴシック" panose="020B0400000000000000" pitchFamily="50" charset="-128"/>
            </a:endParaRPr>
          </a:p>
        </p:txBody>
      </p:sp>
      <p:sp>
        <p:nvSpPr>
          <p:cNvPr id="45" name="Shape 43"/>
          <p:cNvSpPr/>
          <p:nvPr/>
        </p:nvSpPr>
        <p:spPr>
          <a:xfrm>
            <a:off x="8083296" y="5321808"/>
            <a:ext cx="3392424" cy="1"/>
          </a:xfrm>
          <a:prstGeom prst="line">
            <a:avLst/>
          </a:prstGeom>
          <a:noFill/>
          <a:ln w="12700">
            <a:solidFill>
              <a:srgbClr val="CFD8E3"/>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46" name="Text 44"/>
          <p:cNvSpPr/>
          <p:nvPr/>
        </p:nvSpPr>
        <p:spPr>
          <a:xfrm>
            <a:off x="8110728" y="5468112"/>
            <a:ext cx="3337560" cy="338328"/>
          </a:xfrm>
          <a:prstGeom prst="rect">
            <a:avLst/>
          </a:prstGeom>
          <a:noFill/>
          <a:ln/>
        </p:spPr>
        <p:txBody>
          <a:bodyPr wrap="square" lIns="508" tIns="508" rIns="508" bIns="508" rtlCol="0" anchor="ctr">
            <a:normAutofit/>
          </a:bodyPr>
          <a:lstStyle/>
          <a:p>
            <a:pPr marL="0" indent="0">
              <a:buNone/>
            </a:pPr>
            <a:r>
              <a:rPr lang="ja-JP" altLang="en-US" sz="1050">
                <a:solidFill>
                  <a:srgbClr val="8A94A3"/>
                </a:solidFill>
                <a:latin typeface="BIZ UDPゴシック" panose="020B0400000000000000" pitchFamily="50" charset="-128"/>
                <a:ea typeface="BIZ UDPゴシック" panose="020B0400000000000000" pitchFamily="50" charset="-128"/>
              </a:rPr>
              <a:t>これまでの経験で品質の発信についてどんな取組をされてきましたか？</a:t>
            </a:r>
            <a:endParaRPr lang="en-US" sz="1050">
              <a:latin typeface="BIZ UDPゴシック" panose="020B0400000000000000" pitchFamily="50" charset="-128"/>
              <a:ea typeface="BIZ UDPゴシック" panose="020B0400000000000000" pitchFamily="50" charset="-128"/>
            </a:endParaRPr>
          </a:p>
        </p:txBody>
      </p:sp>
      <p:sp>
        <p:nvSpPr>
          <p:cNvPr id="47" name="Slide Number Placeholder 0"/>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algn="l"/>
            <a:fld id="{F7021451-1387-4CA6-816F-3879F97B5CBC}" type="slidenum">
              <a:rPr lang="en-US" b="0">
                <a:latin typeface="BIZ UDPゴシック" panose="020B0400000000000000" pitchFamily="50" charset="-128"/>
                <a:ea typeface="BIZ UDPゴシック" panose="020B0400000000000000" pitchFamily="50" charset="-128"/>
              </a:rPr>
              <a:t>2</a:t>
            </a:fld>
            <a:endParaRPr lang="en-US">
              <a:latin typeface="BIZ UDPゴシック" panose="020B0400000000000000" pitchFamily="50" charset="-128"/>
              <a:ea typeface="BIZ UDPゴシック" panose="020B0400000000000000" pitchFamily="50" charset="-128"/>
            </a:endParaRPr>
          </a:p>
        </p:txBody>
      </p:sp>
      <p:sp>
        <p:nvSpPr>
          <p:cNvPr id="48" name="正方形/長方形 47">
            <a:extLst>
              <a:ext uri="{FF2B5EF4-FFF2-40B4-BE49-F238E27FC236}">
                <a16:creationId xmlns:a16="http://schemas.microsoft.com/office/drawing/2014/main" id="{3B43ECE0-AEA1-BBEE-7148-F1848A3354D0}"/>
              </a:ext>
            </a:extLst>
          </p:cNvPr>
          <p:cNvSpPr/>
          <p:nvPr/>
        </p:nvSpPr>
        <p:spPr>
          <a:xfrm>
            <a:off x="9525" y="18869"/>
            <a:ext cx="694944" cy="2590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上野</a:t>
            </a:r>
          </a:p>
        </p:txBody>
      </p:sp>
      <p:pic>
        <p:nvPicPr>
          <p:cNvPr id="50" name="Picture 49" descr="image.png"/>
          <p:cNvPicPr>
            <a:picLocks noChangeAspect="1"/>
          </p:cNvPicPr>
          <p:nvPr/>
        </p:nvPicPr>
        <p:blipFill>
          <a:blip r:embed="rId3"/>
          <a:stretch>
            <a:fillRect/>
          </a:stretch>
        </p:blipFill>
        <p:spPr>
          <a:xfrm>
            <a:off x="10607040" y="45720"/>
            <a:ext cx="1316736" cy="210312"/>
          </a:xfrm>
          <a:prstGeom prst="rect">
            <a:avLst/>
          </a:prstGeom>
        </p:spPr>
      </p:pic>
      <p:sp>
        <p:nvSpPr>
          <p:cNvPr id="8" name="テキスト ボックス 7">
            <a:extLst>
              <a:ext uri="{FF2B5EF4-FFF2-40B4-BE49-F238E27FC236}">
                <a16:creationId xmlns:a16="http://schemas.microsoft.com/office/drawing/2014/main" id="{89EB9B72-60DC-B4BC-7CF5-683A0B32F297}"/>
              </a:ext>
            </a:extLst>
          </p:cNvPr>
          <p:cNvSpPr txBox="1"/>
          <p:nvPr/>
        </p:nvSpPr>
        <p:spPr>
          <a:xfrm>
            <a:off x="8343900" y="2752271"/>
            <a:ext cx="3529584" cy="1569660"/>
          </a:xfrm>
          <a:prstGeom prst="rect">
            <a:avLst/>
          </a:prstGeom>
          <a:noFill/>
        </p:spPr>
        <p:txBody>
          <a:bodyPr wrap="square" rtlCol="0">
            <a:spAutoFit/>
          </a:bodyPr>
          <a:lstStyle/>
          <a:p>
            <a:r>
              <a:rPr kumimoji="1" lang="ja-JP" altLang="en-US" sz="1200" b="1">
                <a:latin typeface="BIZ UDPゴシック" panose="020B0400000000000000" pitchFamily="50" charset="-128"/>
                <a:ea typeface="BIZ UDPゴシック" panose="020B0400000000000000" pitchFamily="50" charset="-128"/>
              </a:rPr>
              <a:t>パナソニックとの継続的な接点のためにも活用</a:t>
            </a:r>
            <a:endParaRPr kumimoji="1" lang="en-US" altLang="ja-JP" sz="1200" b="1">
              <a:latin typeface="BIZ UDPゴシック" panose="020B0400000000000000" pitchFamily="50" charset="-128"/>
              <a:ea typeface="BIZ UDPゴシック" panose="020B0400000000000000" pitchFamily="50" charset="-128"/>
            </a:endParaRPr>
          </a:p>
          <a:p>
            <a:endParaRPr kumimoji="1" lang="ja-JP" altLang="en-US" sz="1200" b="1">
              <a:latin typeface="BIZ UDPゴシック" panose="020B0400000000000000" pitchFamily="50" charset="-128"/>
              <a:ea typeface="BIZ UDPゴシック" panose="020B0400000000000000" pitchFamily="50" charset="-128"/>
            </a:endParaRPr>
          </a:p>
          <a:p>
            <a:r>
              <a:rPr kumimoji="1" lang="ja-JP" altLang="en-US" sz="1200">
                <a:latin typeface="BIZ UDPゴシック" panose="020B0400000000000000" pitchFamily="50" charset="-128"/>
                <a:ea typeface="BIZ UDPゴシック" panose="020B0400000000000000" pitchFamily="50" charset="-128"/>
              </a:rPr>
              <a:t>購入前、購入時だけでなく、</a:t>
            </a:r>
            <a:endParaRPr kumimoji="1" lang="en-US" altLang="ja-JP" sz="1200">
              <a:latin typeface="BIZ UDPゴシック" panose="020B0400000000000000" pitchFamily="50" charset="-128"/>
              <a:ea typeface="BIZ UDPゴシック" panose="020B0400000000000000" pitchFamily="50" charset="-128"/>
            </a:endParaRPr>
          </a:p>
          <a:p>
            <a:r>
              <a:rPr kumimoji="1" lang="ja-JP" altLang="en-US" sz="1200">
                <a:latin typeface="BIZ UDPゴシック" panose="020B0400000000000000" pitchFamily="50" charset="-128"/>
                <a:ea typeface="BIZ UDPゴシック" panose="020B0400000000000000" pitchFamily="50" charset="-128"/>
              </a:rPr>
              <a:t>商品の開封、購入後、</a:t>
            </a:r>
            <a:r>
              <a:rPr kumimoji="1" lang="ja-JP" altLang="en-US" sz="1200" b="1">
                <a:solidFill>
                  <a:srgbClr val="FF0000"/>
                </a:solidFill>
                <a:latin typeface="BIZ UDPゴシック" panose="020B0400000000000000" pitchFamily="50" charset="-128"/>
                <a:ea typeface="BIZ UDPゴシック" panose="020B0400000000000000" pitchFamily="50" charset="-128"/>
              </a:rPr>
              <a:t>手放すときまで</a:t>
            </a:r>
            <a:endParaRPr kumimoji="1" lang="en-US" altLang="ja-JP" sz="1200" b="1">
              <a:solidFill>
                <a:srgbClr val="FF0000"/>
              </a:solidFill>
              <a:latin typeface="BIZ UDPゴシック" panose="020B0400000000000000" pitchFamily="50" charset="-128"/>
              <a:ea typeface="BIZ UDPゴシック" panose="020B0400000000000000" pitchFamily="50" charset="-128"/>
            </a:endParaRPr>
          </a:p>
          <a:p>
            <a:r>
              <a:rPr kumimoji="1" lang="ja-JP" altLang="en-US" sz="1200" b="1">
                <a:solidFill>
                  <a:srgbClr val="FF0000"/>
                </a:solidFill>
                <a:latin typeface="BIZ UDPゴシック" panose="020B0400000000000000" pitchFamily="50" charset="-128"/>
                <a:ea typeface="BIZ UDPゴシック" panose="020B0400000000000000" pitchFamily="50" charset="-128"/>
              </a:rPr>
              <a:t>「パナソニックでよかった」</a:t>
            </a:r>
            <a:r>
              <a:rPr kumimoji="1" lang="ja-JP" altLang="en-US" sz="1200">
                <a:latin typeface="BIZ UDPゴシック" panose="020B0400000000000000" pitchFamily="50" charset="-128"/>
                <a:ea typeface="BIZ UDPゴシック" panose="020B0400000000000000" pitchFamily="50" charset="-128"/>
              </a:rPr>
              <a:t>を生む体験設計</a:t>
            </a:r>
            <a:endParaRPr kumimoji="1" lang="en-US" altLang="ja-JP" sz="1200">
              <a:latin typeface="BIZ UDPゴシック" panose="020B0400000000000000" pitchFamily="50" charset="-128"/>
              <a:ea typeface="BIZ UDPゴシック" panose="020B0400000000000000" pitchFamily="50" charset="-128"/>
            </a:endParaRPr>
          </a:p>
          <a:p>
            <a:endParaRPr kumimoji="1" lang="en-US" altLang="ja-JP" sz="1200">
              <a:latin typeface="BIZ UDPゴシック" panose="020B0400000000000000" pitchFamily="50" charset="-128"/>
              <a:ea typeface="BIZ UDPゴシック" panose="020B0400000000000000" pitchFamily="50" charset="-128"/>
            </a:endParaRPr>
          </a:p>
          <a:p>
            <a:endParaRPr kumimoji="1" lang="ja-JP" altLang="en-US" sz="1200">
              <a:latin typeface="BIZ UDPゴシック" panose="020B0400000000000000" pitchFamily="50" charset="-128"/>
              <a:ea typeface="BIZ UDPゴシック" panose="020B0400000000000000" pitchFamily="50" charset="-128"/>
            </a:endParaRPr>
          </a:p>
          <a:p>
            <a:endParaRPr kumimoji="1" lang="ja-JP" altLang="en-US" sz="1200">
              <a:latin typeface="BIZ UDPゴシック" panose="020B0400000000000000" pitchFamily="50" charset="-128"/>
              <a:ea typeface="BIZ UDPゴシック" panose="020B0400000000000000" pitchFamily="50" charset="-128"/>
            </a:endParaRPr>
          </a:p>
        </p:txBody>
      </p:sp>
      <p:sp>
        <p:nvSpPr>
          <p:cNvPr id="10" name="Shape 35">
            <a:extLst>
              <a:ext uri="{FF2B5EF4-FFF2-40B4-BE49-F238E27FC236}">
                <a16:creationId xmlns:a16="http://schemas.microsoft.com/office/drawing/2014/main" id="{1289B4EE-6C2D-D443-5ACB-B9030BB9D1E7}"/>
              </a:ext>
            </a:extLst>
          </p:cNvPr>
          <p:cNvSpPr/>
          <p:nvPr/>
        </p:nvSpPr>
        <p:spPr>
          <a:xfrm>
            <a:off x="2052039" y="5711819"/>
            <a:ext cx="1225296" cy="256032"/>
          </a:xfrm>
          <a:prstGeom prst="roundRect">
            <a:avLst>
              <a:gd name="adj" fmla="val 42857"/>
            </a:avLst>
          </a:prstGeom>
          <a:solidFill>
            <a:srgbClr val="EAF2FF"/>
          </a:solidFill>
          <a:ln w="12700">
            <a:solidFill>
              <a:srgbClr val="EAF2FF"/>
            </a:solidFill>
            <a:prstDash val="solid"/>
          </a:ln>
        </p:spPr>
        <p:txBody>
          <a:bodyPr/>
          <a:lstStyle/>
          <a:p>
            <a:endParaRPr lang="ja-JP" altLang="en-US">
              <a:latin typeface="BIZ UDPゴシック" panose="020B0400000000000000" pitchFamily="50" charset="-128"/>
              <a:ea typeface="BIZ UDPゴシック" panose="020B0400000000000000" pitchFamily="50" charset="-128"/>
            </a:endParaRPr>
          </a:p>
        </p:txBody>
      </p:sp>
      <p:sp>
        <p:nvSpPr>
          <p:cNvPr id="52" name="Text 38">
            <a:extLst>
              <a:ext uri="{FF2B5EF4-FFF2-40B4-BE49-F238E27FC236}">
                <a16:creationId xmlns:a16="http://schemas.microsoft.com/office/drawing/2014/main" id="{F1B53D37-8A82-3EA9-CC1E-9435C63D363F}"/>
              </a:ext>
            </a:extLst>
          </p:cNvPr>
          <p:cNvSpPr/>
          <p:nvPr/>
        </p:nvSpPr>
        <p:spPr>
          <a:xfrm>
            <a:off x="2097759" y="5803259"/>
            <a:ext cx="1078992" cy="91440"/>
          </a:xfrm>
          <a:prstGeom prst="rect">
            <a:avLst/>
          </a:prstGeom>
          <a:noFill/>
          <a:ln/>
        </p:spPr>
        <p:txBody>
          <a:bodyPr wrap="square" lIns="0" tIns="0" rIns="0" bIns="0" rtlCol="0" anchor="ctr">
            <a:normAutofit fontScale="85000" lnSpcReduction="20000"/>
          </a:bodyPr>
          <a:lstStyle/>
          <a:p>
            <a:pPr marL="0" indent="0" algn="ctr">
              <a:buNone/>
            </a:pPr>
            <a:r>
              <a:rPr lang="ja-JP" altLang="en-US" sz="780" b="1">
                <a:solidFill>
                  <a:srgbClr val="1556B8"/>
                </a:solidFill>
                <a:latin typeface="BIZ UDPゴシック" panose="020B0400000000000000" pitchFamily="50" charset="-128"/>
                <a:ea typeface="BIZ UDPゴシック" panose="020B0400000000000000" pitchFamily="50" charset="-128"/>
              </a:rPr>
              <a:t>社員がまず知る</a:t>
            </a:r>
            <a:endParaRPr lang="en-US" sz="780">
              <a:latin typeface="BIZ UDPゴシック" panose="020B0400000000000000" pitchFamily="50" charset="-128"/>
              <a:ea typeface="BIZ UDPゴシック" panose="020B0400000000000000" pitchFamily="50" charset="-128"/>
            </a:endParaRPr>
          </a:p>
        </p:txBody>
      </p:sp>
      <p:pic>
        <p:nvPicPr>
          <p:cNvPr id="54" name="図 53">
            <a:extLst>
              <a:ext uri="{FF2B5EF4-FFF2-40B4-BE49-F238E27FC236}">
                <a16:creationId xmlns:a16="http://schemas.microsoft.com/office/drawing/2014/main" id="{EA10D2B7-4388-4DA0-524B-8E0C8158CA46}"/>
              </a:ext>
            </a:extLst>
          </p:cNvPr>
          <p:cNvPicPr>
            <a:picLocks noChangeAspect="1"/>
          </p:cNvPicPr>
          <p:nvPr/>
        </p:nvPicPr>
        <p:blipFill>
          <a:blip r:embed="rId4"/>
          <a:stretch>
            <a:fillRect/>
          </a:stretch>
        </p:blipFill>
        <p:spPr>
          <a:xfrm>
            <a:off x="2371449" y="4032107"/>
            <a:ext cx="1481434" cy="6496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450DE-F5CB-DC05-B712-E6203165E3B5}"/>
            </a:ext>
          </a:extLst>
        </p:cNvPr>
        <p:cNvGrpSpPr/>
        <p:nvPr/>
      </p:nvGrpSpPr>
      <p:grpSpPr>
        <a:xfrm>
          <a:off x="0" y="0"/>
          <a:ext cx="1" cy="1"/>
          <a:chOff x="0" y="0"/>
          <a:chExt cx="1" cy="1"/>
        </a:xfrm>
      </p:grpSpPr>
      <p:sp>
        <p:nvSpPr>
          <p:cNvPr id="49" name="Rectangle 48"/>
          <p:cNvSpPr/>
          <p:nvPr/>
        </p:nvSpPr>
        <p:spPr>
          <a:xfrm>
            <a:off x="0" y="0"/>
            <a:ext cx="12192000" cy="292608"/>
          </a:xfrm>
          <a:prstGeom prst="rect">
            <a:avLst/>
          </a:prstGeom>
          <a:solidFill>
            <a:srgbClr val="004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BIZ UDPゴシック"/>
              <a:ea typeface="BIZ UDPゴシック"/>
            </a:endParaRPr>
          </a:p>
        </p:txBody>
      </p:sp>
      <p:sp>
        <p:nvSpPr>
          <p:cNvPr id="2" name="Text 0">
            <a:extLst>
              <a:ext uri="{FF2B5EF4-FFF2-40B4-BE49-F238E27FC236}">
                <a16:creationId xmlns:a16="http://schemas.microsoft.com/office/drawing/2014/main" id="{4199AC40-EC0E-30EB-9437-3815E765C860}"/>
              </a:ext>
            </a:extLst>
          </p:cNvPr>
          <p:cNvSpPr/>
          <p:nvPr/>
        </p:nvSpPr>
        <p:spPr>
          <a:xfrm>
            <a:off x="475488" y="292608"/>
            <a:ext cx="2194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20" normalizeH="0" baseline="0" noProof="0">
                <a:ln>
                  <a:noFill/>
                </a:ln>
                <a:solidFill>
                  <a:srgbClr val="1556B8"/>
                </a:solidFill>
                <a:effectLst/>
                <a:uLnTx/>
                <a:uFillTx/>
                <a:latin typeface="BIZ UDPゴシック"/>
                <a:ea typeface="BIZ UDPゴシック"/>
              </a:rPr>
              <a:t>03｜QUALITY</a:t>
            </a:r>
            <a:endParaRPr kumimoji="0" lang="en-US" sz="9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 name="Text 1">
            <a:extLst>
              <a:ext uri="{FF2B5EF4-FFF2-40B4-BE49-F238E27FC236}">
                <a16:creationId xmlns:a16="http://schemas.microsoft.com/office/drawing/2014/main" id="{D0BD4A9A-D856-D610-54CD-A809950519F2}"/>
              </a:ext>
            </a:extLst>
          </p:cNvPr>
          <p:cNvSpPr/>
          <p:nvPr/>
        </p:nvSpPr>
        <p:spPr>
          <a:xfrm>
            <a:off x="475488" y="566928"/>
            <a:ext cx="8046720" cy="4114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err="1">
                <a:ln>
                  <a:noFill/>
                </a:ln>
                <a:solidFill>
                  <a:srgbClr val="001D35"/>
                </a:solidFill>
                <a:effectLst/>
                <a:uLnTx/>
                <a:uFillTx/>
                <a:latin typeface="BIZ UDPゴシック"/>
                <a:ea typeface="BIZ UDPゴシック"/>
              </a:rPr>
              <a:t>品質｜見えないこだわりを、伝わる価値へ</a:t>
            </a:r>
            <a:endParaRPr kumimoji="0" lang="en-US" sz="24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 name="Text 2">
            <a:extLst>
              <a:ext uri="{FF2B5EF4-FFF2-40B4-BE49-F238E27FC236}">
                <a16:creationId xmlns:a16="http://schemas.microsoft.com/office/drawing/2014/main" id="{1FE50E95-20FB-1D2D-5331-901E7980B7E3}"/>
              </a:ext>
            </a:extLst>
          </p:cNvPr>
          <p:cNvSpPr/>
          <p:nvPr/>
        </p:nvSpPr>
        <p:spPr>
          <a:xfrm>
            <a:off x="493776" y="1024128"/>
            <a:ext cx="5943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err="1">
                <a:ln>
                  <a:noFill/>
                </a:ln>
                <a:solidFill>
                  <a:srgbClr val="667085"/>
                </a:solidFill>
                <a:effectLst/>
                <a:uLnTx/>
                <a:uFillTx/>
                <a:latin typeface="BIZ UDPゴシック"/>
                <a:ea typeface="BIZ UDPゴシック"/>
              </a:rPr>
              <a:t>担当者が詳細を追記・更新する共通フォーマット</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5" name="Shape 3">
            <a:extLst>
              <a:ext uri="{FF2B5EF4-FFF2-40B4-BE49-F238E27FC236}">
                <a16:creationId xmlns:a16="http://schemas.microsoft.com/office/drawing/2014/main" id="{05802256-15A6-A2D8-0A66-2CBB7DE1FD3D}"/>
              </a:ext>
            </a:extLst>
          </p:cNvPr>
          <p:cNvSpPr/>
          <p:nvPr/>
        </p:nvSpPr>
        <p:spPr>
          <a:xfrm>
            <a:off x="8732520" y="411480"/>
            <a:ext cx="2926080" cy="713232"/>
          </a:xfrm>
          <a:prstGeom prst="roundRect">
            <a:avLst>
              <a:gd name="adj" fmla="val 6410"/>
            </a:avLst>
          </a:prstGeom>
          <a:solidFill>
            <a:srgbClr val="EAF2FF"/>
          </a:solidFill>
          <a:ln w="12700">
            <a:solidFill>
              <a:srgbClr val="1556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6" name="Text 4">
            <a:extLst>
              <a:ext uri="{FF2B5EF4-FFF2-40B4-BE49-F238E27FC236}">
                <a16:creationId xmlns:a16="http://schemas.microsoft.com/office/drawing/2014/main" id="{1B6352EE-3D7D-A22C-D5A8-974BF905A563}"/>
              </a:ext>
            </a:extLst>
          </p:cNvPr>
          <p:cNvSpPr/>
          <p:nvPr/>
        </p:nvSpPr>
        <p:spPr>
          <a:xfrm>
            <a:off x="8942832" y="548640"/>
            <a:ext cx="1097280" cy="12801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1556B8"/>
                </a:solidFill>
                <a:effectLst/>
                <a:uLnTx/>
                <a:uFillTx/>
                <a:latin typeface="BIZ UDPゴシック"/>
                <a:ea typeface="BIZ UDPゴシック"/>
              </a:rPr>
              <a:t>カテゴリの一言定義</a:t>
            </a:r>
            <a:endParaRPr kumimoji="0" lang="en-US" sz="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7" name="Text 5">
            <a:extLst>
              <a:ext uri="{FF2B5EF4-FFF2-40B4-BE49-F238E27FC236}">
                <a16:creationId xmlns:a16="http://schemas.microsoft.com/office/drawing/2014/main" id="{0B5A0820-AA23-AD52-8640-C3CFC4A0631F}"/>
              </a:ext>
            </a:extLst>
          </p:cNvPr>
          <p:cNvSpPr/>
          <p:nvPr/>
        </p:nvSpPr>
        <p:spPr>
          <a:xfrm>
            <a:off x="8942832" y="768096"/>
            <a:ext cx="2487168" cy="146304"/>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01D35"/>
                </a:solidFill>
                <a:effectLst/>
                <a:uLnTx/>
                <a:uFillTx/>
                <a:latin typeface="BIZ UDPゴシック"/>
                <a:ea typeface="BIZ UDPゴシック"/>
              </a:rPr>
              <a:t>「信じられる理由」を見える化</a:t>
            </a:r>
            <a:endParaRPr kumimoji="0" lang="en-US" sz="11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1" name="Shape 9">
            <a:extLst>
              <a:ext uri="{FF2B5EF4-FFF2-40B4-BE49-F238E27FC236}">
                <a16:creationId xmlns:a16="http://schemas.microsoft.com/office/drawing/2014/main" id="{2240FC23-8E68-5A04-56F7-A563C431E941}"/>
              </a:ext>
            </a:extLst>
          </p:cNvPr>
          <p:cNvSpPr/>
          <p:nvPr/>
        </p:nvSpPr>
        <p:spPr>
          <a:xfrm>
            <a:off x="475488" y="2008499"/>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2" name="Text 10">
            <a:extLst>
              <a:ext uri="{FF2B5EF4-FFF2-40B4-BE49-F238E27FC236}">
                <a16:creationId xmlns:a16="http://schemas.microsoft.com/office/drawing/2014/main" id="{1A02E959-D840-C78E-0647-49AA7B8F19B7}"/>
              </a:ext>
            </a:extLst>
          </p:cNvPr>
          <p:cNvSpPr/>
          <p:nvPr/>
        </p:nvSpPr>
        <p:spPr>
          <a:xfrm>
            <a:off x="676656" y="2173091"/>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56B8"/>
                </a:solidFill>
                <a:effectLst/>
                <a:uLnTx/>
                <a:uFillTx/>
                <a:latin typeface="BIZ UDPゴシック"/>
                <a:ea typeface="BIZ UDPゴシック"/>
              </a:rPr>
              <a:t>01｜現状・強み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3" name="Shape 11">
            <a:extLst>
              <a:ext uri="{FF2B5EF4-FFF2-40B4-BE49-F238E27FC236}">
                <a16:creationId xmlns:a16="http://schemas.microsoft.com/office/drawing/2014/main" id="{798E9424-B5A0-FAEB-C87F-77ACDBBD6D40}"/>
              </a:ext>
            </a:extLst>
          </p:cNvPr>
          <p:cNvSpPr/>
          <p:nvPr/>
        </p:nvSpPr>
        <p:spPr>
          <a:xfrm>
            <a:off x="676656" y="2483987"/>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4" name="Text 12">
            <a:extLst>
              <a:ext uri="{FF2B5EF4-FFF2-40B4-BE49-F238E27FC236}">
                <a16:creationId xmlns:a16="http://schemas.microsoft.com/office/drawing/2014/main" id="{EC6B32DA-A4C1-E517-681F-1621C53AE457}"/>
              </a:ext>
            </a:extLst>
          </p:cNvPr>
          <p:cNvSpPr/>
          <p:nvPr/>
        </p:nvSpPr>
        <p:spPr>
          <a:xfrm>
            <a:off x="545838" y="2630291"/>
            <a:ext cx="3310128"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16232E"/>
                </a:solidFill>
                <a:effectLst/>
                <a:uLnTx/>
                <a:uFillTx/>
                <a:latin typeface="BIZ UDPゴシック" pitchFamily="34" charset="0"/>
                <a:ea typeface="BIZ UDPゴシック" pitchFamily="34" charset="-122"/>
                <a:cs typeface="BIZ UDPゴシック" pitchFamily="34" charset="-120"/>
              </a:rPr>
              <a:t>　</a:t>
            </a:r>
            <a:r>
              <a:rPr kumimoji="0" lang="en-US" altLang="ja-JP" sz="1200" b="1" i="0" u="none" strike="noStrike" kern="1200" cap="none" spc="0" normalizeH="0" baseline="0" noProof="0">
                <a:ln>
                  <a:noFill/>
                </a:ln>
                <a:solidFill>
                  <a:srgbClr val="16232E"/>
                </a:solidFill>
                <a:effectLst/>
                <a:uLnTx/>
                <a:uFillTx/>
                <a:latin typeface="BIZ UDPゴシック" pitchFamily="34" charset="0"/>
                <a:ea typeface="BIZ UDPゴシック" pitchFamily="34" charset="-122"/>
                <a:cs typeface="BIZ UDPゴシック" pitchFamily="34" charset="-120"/>
              </a:rPr>
              <a:t>「</a:t>
            </a:r>
            <a:r>
              <a:rPr kumimoji="0" lang="ja-JP" altLang="en-US" sz="1200" b="1" i="0" u="none" strike="noStrike" kern="1200" cap="none" spc="0" normalizeH="0" baseline="0" noProof="0">
                <a:ln>
                  <a:noFill/>
                </a:ln>
                <a:solidFill>
                  <a:srgbClr val="FF0000"/>
                </a:solidFill>
                <a:effectLst/>
                <a:uLnTx/>
                <a:uFillTx/>
                <a:latin typeface="BIZ UDPゴシック" pitchFamily="34" charset="0"/>
                <a:ea typeface="BIZ UDPゴシック" pitchFamily="34" charset="-122"/>
                <a:cs typeface="BIZ UDPゴシック" pitchFamily="34" charset="-120"/>
              </a:rPr>
              <a:t>安全に</a:t>
            </a:r>
            <a:r>
              <a:rPr kumimoji="0" lang="en-US" altLang="ja-JP" sz="1200" b="1" i="0" u="none" strike="noStrike" kern="1200" cap="none" spc="0" normalizeH="0" baseline="0" noProof="0" err="1">
                <a:ln>
                  <a:noFill/>
                </a:ln>
                <a:solidFill>
                  <a:srgbClr val="FF0000"/>
                </a:solidFill>
                <a:effectLst/>
                <a:uLnTx/>
                <a:uFillTx/>
                <a:latin typeface="BIZ UDPゴシック" pitchFamily="34" charset="0"/>
                <a:ea typeface="BIZ UDPゴシック" pitchFamily="34" charset="-122"/>
                <a:cs typeface="BIZ UDPゴシック" pitchFamily="34" charset="-120"/>
              </a:rPr>
              <a:t>壊れ</a:t>
            </a:r>
            <a:r>
              <a:rPr kumimoji="0" lang="ja-JP" altLang="en-US" sz="1200" b="1" i="0" u="none" strike="noStrike" kern="1200" cap="none" spc="0" normalizeH="0" baseline="0" noProof="0">
                <a:ln>
                  <a:noFill/>
                </a:ln>
                <a:solidFill>
                  <a:srgbClr val="FF0000"/>
                </a:solidFill>
                <a:effectLst/>
                <a:uLnTx/>
                <a:uFillTx/>
                <a:latin typeface="BIZ UDPゴシック" pitchFamily="34" charset="0"/>
                <a:ea typeface="BIZ UDPゴシック" pitchFamily="34" charset="-122"/>
                <a:cs typeface="BIZ UDPゴシック" pitchFamily="34" charset="-120"/>
              </a:rPr>
              <a:t>る</a:t>
            </a:r>
            <a:r>
              <a:rPr kumimoji="0" lang="en-US" altLang="ja-JP" sz="1200" b="1" i="0" u="none" strike="noStrike" kern="1200" cap="none" spc="0" normalizeH="0" baseline="0" noProof="0">
                <a:ln>
                  <a:noFill/>
                </a:ln>
                <a:solidFill>
                  <a:srgbClr val="16232E"/>
                </a:solidFill>
                <a:effectLst/>
                <a:uLnTx/>
                <a:uFillTx/>
                <a:latin typeface="BIZ UDPゴシック" pitchFamily="34" charset="0"/>
                <a:ea typeface="BIZ UDPゴシック" pitchFamily="34" charset="-122"/>
                <a:cs typeface="BIZ UDPゴシック" pitchFamily="34" charset="-120"/>
              </a:rPr>
              <a:t>」</a:t>
            </a:r>
            <a:r>
              <a:rPr kumimoji="0" lang="en-US" altLang="ja-JP" sz="1200" i="0" u="none" strike="noStrike" kern="1200" cap="none" spc="0" normalizeH="0" baseline="0" noProof="0" err="1">
                <a:ln>
                  <a:noFill/>
                </a:ln>
                <a:solidFill>
                  <a:srgbClr val="16232E"/>
                </a:solidFill>
                <a:effectLst/>
                <a:uLnTx/>
                <a:uFillTx/>
                <a:latin typeface="BIZ UDPゴシック" pitchFamily="34" charset="0"/>
                <a:ea typeface="BIZ UDPゴシック" pitchFamily="34" charset="-122"/>
                <a:cs typeface="BIZ UDPゴシック" pitchFamily="34" charset="-120"/>
              </a:rPr>
              <a:t>まで確かめる徹底した品質試験</a:t>
            </a:r>
            <a:endParaRPr kumimoji="0" lang="en-US" altLang="ja-JP" sz="120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・打鍵耐久6万回</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・扉開閉15万回</a:t>
            </a:r>
            <a:br>
              <a:rPr kumimoji="0" lang="ja-JP" altLang="en-US" sz="1200" i="0" u="none" strike="noStrike" kern="1200" cap="none" spc="0" normalizeH="0" baseline="0" noProof="0">
                <a:ln>
                  <a:noFill/>
                </a:ln>
                <a:solidFill>
                  <a:prstClr val="black"/>
                </a:solidFill>
                <a:effectLst/>
                <a:uLnTx/>
                <a:uFillTx/>
                <a:latin typeface="BIZ UDPゴシック"/>
                <a:ea typeface="BIZ UDPゴシック"/>
              </a:rPr>
            </a:b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・液晶パーツ−40℃で1000時間</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・梱包箱250kgの静荷重</a:t>
            </a:r>
            <a:br>
              <a:rPr kumimoji="0" lang="ja-JP" altLang="en-US" sz="1200" i="0" u="none" strike="noStrike" kern="1200" cap="none" spc="0" normalizeH="0" baseline="0" noProof="0">
                <a:ln>
                  <a:noFill/>
                </a:ln>
                <a:solidFill>
                  <a:prstClr val="black"/>
                </a:solidFill>
                <a:effectLst/>
                <a:uLnTx/>
                <a:uFillTx/>
                <a:latin typeface="BIZ UDPゴシック"/>
                <a:ea typeface="BIZ UDPゴシック"/>
              </a:rPr>
            </a:b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・複合ストレス試験で「安全に壊れる」まで検証</a:t>
            </a:r>
            <a:br>
              <a:rPr kumimoji="0" lang="ja-JP" altLang="en-US" sz="1200" i="0" u="none" strike="noStrike" kern="1200" cap="none" spc="0" normalizeH="0" baseline="0" noProof="0">
                <a:ln>
                  <a:noFill/>
                </a:ln>
                <a:solidFill>
                  <a:prstClr val="black"/>
                </a:solidFill>
                <a:effectLst/>
                <a:uLnTx/>
                <a:uFillTx/>
                <a:latin typeface="BIZ UDPゴシック"/>
                <a:ea typeface="BIZ UDPゴシック"/>
              </a:rPr>
            </a:b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・第三者認証（PSE・Sマーク）で裏づけ</a:t>
            </a:r>
            <a:endParaRPr kumimoji="0" lang="en-US" sz="1400" i="0" u="none" strike="noStrike" kern="1200" cap="none" spc="0" normalizeH="0" baseline="0" noProof="0">
              <a:ln>
                <a:noFill/>
              </a:ln>
              <a:solidFill>
                <a:prstClr val="black"/>
              </a:solidFill>
              <a:effectLst/>
              <a:uLnTx/>
              <a:uFillTx/>
              <a:latin typeface="BIZ UDPゴシック"/>
              <a:ea typeface="BIZ UDPゴシック"/>
            </a:endParaRPr>
          </a:p>
        </p:txBody>
      </p:sp>
      <p:sp>
        <p:nvSpPr>
          <p:cNvPr id="15" name="Shape 13">
            <a:extLst>
              <a:ext uri="{FF2B5EF4-FFF2-40B4-BE49-F238E27FC236}">
                <a16:creationId xmlns:a16="http://schemas.microsoft.com/office/drawing/2014/main" id="{73B180CF-236E-1177-8F0B-CC5AFDF95B1D}"/>
              </a:ext>
            </a:extLst>
          </p:cNvPr>
          <p:cNvSpPr/>
          <p:nvPr/>
        </p:nvSpPr>
        <p:spPr>
          <a:xfrm>
            <a:off x="4370832" y="2008499"/>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6" name="Text 14">
            <a:extLst>
              <a:ext uri="{FF2B5EF4-FFF2-40B4-BE49-F238E27FC236}">
                <a16:creationId xmlns:a16="http://schemas.microsoft.com/office/drawing/2014/main" id="{1E47F52A-EB76-F4BF-8A49-6208A558FA28}"/>
              </a:ext>
            </a:extLst>
          </p:cNvPr>
          <p:cNvSpPr/>
          <p:nvPr/>
        </p:nvSpPr>
        <p:spPr>
          <a:xfrm>
            <a:off x="4572000" y="2173091"/>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56B8"/>
                </a:solidFill>
                <a:effectLst/>
                <a:uLnTx/>
                <a:uFillTx/>
                <a:latin typeface="BIZ UDPゴシック"/>
                <a:ea typeface="BIZ UDPゴシック"/>
              </a:rPr>
              <a:t>02｜課題・伝達ギャップ</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7" name="Shape 15">
            <a:extLst>
              <a:ext uri="{FF2B5EF4-FFF2-40B4-BE49-F238E27FC236}">
                <a16:creationId xmlns:a16="http://schemas.microsoft.com/office/drawing/2014/main" id="{5C55E757-C46D-9B13-B17D-2E9DBF0B1630}"/>
              </a:ext>
            </a:extLst>
          </p:cNvPr>
          <p:cNvSpPr/>
          <p:nvPr/>
        </p:nvSpPr>
        <p:spPr>
          <a:xfrm>
            <a:off x="4572000" y="2483987"/>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8" name="Text 16">
            <a:extLst>
              <a:ext uri="{FF2B5EF4-FFF2-40B4-BE49-F238E27FC236}">
                <a16:creationId xmlns:a16="http://schemas.microsoft.com/office/drawing/2014/main" id="{34559169-04DC-583E-6977-CF42543D74CF}"/>
              </a:ext>
            </a:extLst>
          </p:cNvPr>
          <p:cNvSpPr/>
          <p:nvPr/>
        </p:nvSpPr>
        <p:spPr>
          <a:xfrm>
            <a:off x="4599432" y="2630291"/>
            <a:ext cx="2980944"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・試験の厳しさが</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社内資料・動画に留まり</a:t>
            </a: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　 購入検討の接点に届かない</a:t>
            </a:r>
            <a:br>
              <a:rPr kumimoji="0" lang="ja-JP" altLang="en-US" sz="1200" i="0" u="none" strike="noStrike" kern="1200" cap="none" spc="0" normalizeH="0" baseline="0" noProof="0">
                <a:ln>
                  <a:noFill/>
                </a:ln>
                <a:solidFill>
                  <a:prstClr val="black"/>
                </a:solidFill>
                <a:effectLst/>
                <a:uLnTx/>
                <a:uFillTx/>
                <a:latin typeface="BIZ UDPゴシック"/>
                <a:ea typeface="BIZ UDPゴシック"/>
              </a:rPr>
            </a:b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・6万回／15万回などの数値が</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　</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生活実感に翻訳</a:t>
            </a: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されていない</a:t>
            </a:r>
            <a:br>
              <a:rPr kumimoji="0" lang="ja-JP" altLang="en-US" sz="1200" i="0" u="none" strike="noStrike" kern="1200" cap="none" spc="0" normalizeH="0" baseline="0" noProof="0">
                <a:ln>
                  <a:noFill/>
                </a:ln>
                <a:solidFill>
                  <a:prstClr val="black"/>
                </a:solidFill>
                <a:effectLst/>
                <a:uLnTx/>
                <a:uFillTx/>
                <a:latin typeface="BIZ UDPゴシック"/>
                <a:ea typeface="BIZ UDPゴシック"/>
              </a:rPr>
            </a:b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・「安全に壊れる」設計思想や</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　第三者認証の</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価値が伝わりにくい</a:t>
            </a:r>
            <a:endParaRPr kumimoji="0" lang="en-US" sz="1400" b="1" i="0" u="none" strike="noStrike" kern="1200" cap="none" spc="0" normalizeH="0" baseline="0" noProof="0">
              <a:ln>
                <a:noFill/>
              </a:ln>
              <a:solidFill>
                <a:srgbClr val="FF0000"/>
              </a:solidFill>
              <a:effectLst/>
              <a:uLnTx/>
              <a:uFillTx/>
              <a:latin typeface="BIZ UDPゴシック"/>
              <a:ea typeface="BIZ UDPゴシック"/>
            </a:endParaRPr>
          </a:p>
        </p:txBody>
      </p:sp>
      <p:sp>
        <p:nvSpPr>
          <p:cNvPr id="19" name="Shape 17">
            <a:extLst>
              <a:ext uri="{FF2B5EF4-FFF2-40B4-BE49-F238E27FC236}">
                <a16:creationId xmlns:a16="http://schemas.microsoft.com/office/drawing/2014/main" id="{43F81EF5-9813-34B1-8ADF-D51401FFC40A}"/>
              </a:ext>
            </a:extLst>
          </p:cNvPr>
          <p:cNvSpPr/>
          <p:nvPr/>
        </p:nvSpPr>
        <p:spPr>
          <a:xfrm>
            <a:off x="8305800" y="2008499"/>
            <a:ext cx="3410712"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0" name="Text 18">
            <a:extLst>
              <a:ext uri="{FF2B5EF4-FFF2-40B4-BE49-F238E27FC236}">
                <a16:creationId xmlns:a16="http://schemas.microsoft.com/office/drawing/2014/main" id="{638BB7D8-C684-54E6-03A9-7EDE6B3CE4D2}"/>
              </a:ext>
            </a:extLst>
          </p:cNvPr>
          <p:cNvSpPr/>
          <p:nvPr/>
        </p:nvSpPr>
        <p:spPr>
          <a:xfrm>
            <a:off x="8467344" y="2173091"/>
            <a:ext cx="3008376"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56B8"/>
                </a:solidFill>
                <a:effectLst/>
                <a:uLnTx/>
                <a:uFillTx/>
                <a:latin typeface="BIZ UDPゴシック"/>
                <a:ea typeface="BIZ UDPゴシック"/>
              </a:rPr>
              <a:t>03｜提案・目指す姿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1" name="Shape 19">
            <a:extLst>
              <a:ext uri="{FF2B5EF4-FFF2-40B4-BE49-F238E27FC236}">
                <a16:creationId xmlns:a16="http://schemas.microsoft.com/office/drawing/2014/main" id="{C3C7FE7E-CE5F-85C6-D54C-3A2A1AB0734F}"/>
              </a:ext>
            </a:extLst>
          </p:cNvPr>
          <p:cNvSpPr/>
          <p:nvPr/>
        </p:nvSpPr>
        <p:spPr>
          <a:xfrm>
            <a:off x="8467344" y="2483987"/>
            <a:ext cx="3008376"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2" name="Text 20">
            <a:extLst>
              <a:ext uri="{FF2B5EF4-FFF2-40B4-BE49-F238E27FC236}">
                <a16:creationId xmlns:a16="http://schemas.microsoft.com/office/drawing/2014/main" id="{B3AC5597-9BB6-8B96-B6FA-BF153CA5FE98}"/>
              </a:ext>
            </a:extLst>
          </p:cNvPr>
          <p:cNvSpPr/>
          <p:nvPr/>
        </p:nvSpPr>
        <p:spPr>
          <a:xfrm>
            <a:off x="8494776" y="2630291"/>
            <a:ext cx="2953512"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・品質試験動画を再編集し、消費者に訴求</a:t>
            </a:r>
            <a:br>
              <a:rPr kumimoji="0" lang="ja-JP" altLang="en-US" sz="1200" i="0" u="none" strike="noStrike" kern="1200" cap="none" spc="0" normalizeH="0" baseline="0" noProof="0">
                <a:ln>
                  <a:noFill/>
                </a:ln>
                <a:solidFill>
                  <a:prstClr val="black"/>
                </a:solidFill>
                <a:effectLst/>
                <a:uLnTx/>
                <a:uFillTx/>
                <a:latin typeface="BIZ UDPゴシック"/>
                <a:ea typeface="BIZ UDPゴシック"/>
              </a:rPr>
            </a:b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・「壊れ方まで検証」を軸に</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　 </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店頭・EC・SNSで見える化</a:t>
            </a:r>
            <a:br>
              <a:rPr kumimoji="0" lang="ja-JP" altLang="en-US" sz="1200" i="0" u="none" strike="noStrike" kern="1200" cap="none" spc="0" normalizeH="0" baseline="0" noProof="0">
                <a:ln>
                  <a:noFill/>
                </a:ln>
                <a:solidFill>
                  <a:srgbClr val="FF0000"/>
                </a:solidFill>
                <a:effectLst/>
                <a:uLnTx/>
                <a:uFillTx/>
                <a:latin typeface="BIZ UDPゴシック"/>
                <a:ea typeface="BIZ UDPゴシック"/>
              </a:rPr>
            </a:b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・大人の社会科見学など体験接点で、</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　信じられる理由を</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体感</a:t>
            </a: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へ</a:t>
            </a:r>
            <a:endParaRPr kumimoji="0" lang="en-US" sz="1400" i="0" u="none" strike="noStrike" kern="1200" cap="none" spc="0" normalizeH="0" baseline="0" noProof="0">
              <a:ln>
                <a:noFill/>
              </a:ln>
              <a:solidFill>
                <a:prstClr val="black"/>
              </a:solidFill>
              <a:effectLst/>
              <a:uLnTx/>
              <a:uFillTx/>
              <a:latin typeface="BIZ UDPゴシック"/>
              <a:ea typeface="BIZ UDPゴシック"/>
            </a:endParaRPr>
          </a:p>
        </p:txBody>
      </p:sp>
      <p:sp>
        <p:nvSpPr>
          <p:cNvPr id="23" name="Shape 21">
            <a:extLst>
              <a:ext uri="{FF2B5EF4-FFF2-40B4-BE49-F238E27FC236}">
                <a16:creationId xmlns:a16="http://schemas.microsoft.com/office/drawing/2014/main" id="{1A670805-6CD6-9B6F-F6AF-8F33A17BC98F}"/>
              </a:ext>
            </a:extLst>
          </p:cNvPr>
          <p:cNvSpPr/>
          <p:nvPr/>
        </p:nvSpPr>
        <p:spPr>
          <a:xfrm>
            <a:off x="475488" y="5230368"/>
            <a:ext cx="7150608"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4" name="Text 22">
            <a:extLst>
              <a:ext uri="{FF2B5EF4-FFF2-40B4-BE49-F238E27FC236}">
                <a16:creationId xmlns:a16="http://schemas.microsoft.com/office/drawing/2014/main" id="{DD64F375-153D-618D-36BC-3E9C09C9C9AF}"/>
              </a:ext>
            </a:extLst>
          </p:cNvPr>
          <p:cNvSpPr/>
          <p:nvPr/>
        </p:nvSpPr>
        <p:spPr>
          <a:xfrm>
            <a:off x="676656" y="5394960"/>
            <a:ext cx="19202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56B8"/>
                </a:solidFill>
                <a:effectLst/>
                <a:uLnTx/>
                <a:uFillTx/>
                <a:latin typeface="BIZ UDPゴシック"/>
                <a:ea typeface="BIZ UDPゴシック"/>
              </a:rPr>
              <a:t>会議で出たアイデアの芽</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5" name="Text 23">
            <a:extLst>
              <a:ext uri="{FF2B5EF4-FFF2-40B4-BE49-F238E27FC236}">
                <a16:creationId xmlns:a16="http://schemas.microsoft.com/office/drawing/2014/main" id="{8371B183-9EDA-07DA-DC9C-4E84C2BE8481}"/>
              </a:ext>
            </a:extLst>
          </p:cNvPr>
          <p:cNvSpPr/>
          <p:nvPr/>
        </p:nvSpPr>
        <p:spPr>
          <a:xfrm>
            <a:off x="2971800" y="5413248"/>
            <a:ext cx="3337560"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667085"/>
                </a:solidFill>
                <a:effectLst/>
                <a:uLnTx/>
                <a:uFillTx/>
                <a:latin typeface="BIZ UDPゴシック"/>
                <a:ea typeface="BIZ UDPゴシック"/>
              </a:rPr>
              <a:t>採否・表現・優先順位は担当者で更新</a:t>
            </a:r>
            <a:endParaRPr kumimoji="0" lang="en-US" sz="8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6" name="Shape 24">
            <a:extLst>
              <a:ext uri="{FF2B5EF4-FFF2-40B4-BE49-F238E27FC236}">
                <a16:creationId xmlns:a16="http://schemas.microsoft.com/office/drawing/2014/main" id="{1C0E102F-DE50-BD88-40EB-5FEA6C5273F0}"/>
              </a:ext>
            </a:extLst>
          </p:cNvPr>
          <p:cNvSpPr/>
          <p:nvPr/>
        </p:nvSpPr>
        <p:spPr>
          <a:xfrm>
            <a:off x="676656" y="5705856"/>
            <a:ext cx="6748272"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7" name="Shape 25">
            <a:extLst>
              <a:ext uri="{FF2B5EF4-FFF2-40B4-BE49-F238E27FC236}">
                <a16:creationId xmlns:a16="http://schemas.microsoft.com/office/drawing/2014/main" id="{C13959EF-54A4-36F3-AD0D-573B8DC758E0}"/>
              </a:ext>
            </a:extLst>
          </p:cNvPr>
          <p:cNvSpPr/>
          <p:nvPr/>
        </p:nvSpPr>
        <p:spPr>
          <a:xfrm>
            <a:off x="694944" y="5788152"/>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8" name="Text 26">
            <a:extLst>
              <a:ext uri="{FF2B5EF4-FFF2-40B4-BE49-F238E27FC236}">
                <a16:creationId xmlns:a16="http://schemas.microsoft.com/office/drawing/2014/main" id="{6EFFA99E-CE3F-73E9-469A-1616C0D5DD4D}"/>
              </a:ext>
            </a:extLst>
          </p:cNvPr>
          <p:cNvSpPr/>
          <p:nvPr/>
        </p:nvSpPr>
        <p:spPr>
          <a:xfrm>
            <a:off x="768096" y="5861304"/>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耐久・開閉試験</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9" name="Shape 27">
            <a:extLst>
              <a:ext uri="{FF2B5EF4-FFF2-40B4-BE49-F238E27FC236}">
                <a16:creationId xmlns:a16="http://schemas.microsoft.com/office/drawing/2014/main" id="{D0B27EB6-FCDE-92F7-DE12-964B87F86BCB}"/>
              </a:ext>
            </a:extLst>
          </p:cNvPr>
          <p:cNvSpPr/>
          <p:nvPr/>
        </p:nvSpPr>
        <p:spPr>
          <a:xfrm>
            <a:off x="2048256" y="5788152"/>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0" name="Text 28">
            <a:extLst>
              <a:ext uri="{FF2B5EF4-FFF2-40B4-BE49-F238E27FC236}">
                <a16:creationId xmlns:a16="http://schemas.microsoft.com/office/drawing/2014/main" id="{5299692C-E700-2576-95FC-7BCB8E5B8BA8}"/>
              </a:ext>
            </a:extLst>
          </p:cNvPr>
          <p:cNvSpPr/>
          <p:nvPr/>
        </p:nvSpPr>
        <p:spPr>
          <a:xfrm>
            <a:off x="2121408" y="5861304"/>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壊れ方まで検証</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1" name="Shape 29">
            <a:extLst>
              <a:ext uri="{FF2B5EF4-FFF2-40B4-BE49-F238E27FC236}">
                <a16:creationId xmlns:a16="http://schemas.microsoft.com/office/drawing/2014/main" id="{9AA11B6C-7C2F-CC12-36FD-70F0910D0157}"/>
              </a:ext>
            </a:extLst>
          </p:cNvPr>
          <p:cNvSpPr/>
          <p:nvPr/>
        </p:nvSpPr>
        <p:spPr>
          <a:xfrm>
            <a:off x="3401568" y="5788152"/>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2" name="Text 30">
            <a:extLst>
              <a:ext uri="{FF2B5EF4-FFF2-40B4-BE49-F238E27FC236}">
                <a16:creationId xmlns:a16="http://schemas.microsoft.com/office/drawing/2014/main" id="{C4B4CD85-7DEE-C016-82AF-F7EF72FD9D36}"/>
              </a:ext>
            </a:extLst>
          </p:cNvPr>
          <p:cNvSpPr/>
          <p:nvPr/>
        </p:nvSpPr>
        <p:spPr>
          <a:xfrm>
            <a:off x="3474720" y="5861304"/>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品質動画の再編集</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3" name="Shape 31">
            <a:extLst>
              <a:ext uri="{FF2B5EF4-FFF2-40B4-BE49-F238E27FC236}">
                <a16:creationId xmlns:a16="http://schemas.microsoft.com/office/drawing/2014/main" id="{DAE4F1C8-E17A-DCF9-EED1-9B4EFAEF3A83}"/>
              </a:ext>
            </a:extLst>
          </p:cNvPr>
          <p:cNvSpPr/>
          <p:nvPr/>
        </p:nvSpPr>
        <p:spPr>
          <a:xfrm>
            <a:off x="4754880" y="5788152"/>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4" name="Text 32">
            <a:extLst>
              <a:ext uri="{FF2B5EF4-FFF2-40B4-BE49-F238E27FC236}">
                <a16:creationId xmlns:a16="http://schemas.microsoft.com/office/drawing/2014/main" id="{619E236D-B351-E0DF-C9DE-5152636950E1}"/>
              </a:ext>
            </a:extLst>
          </p:cNvPr>
          <p:cNvSpPr/>
          <p:nvPr/>
        </p:nvSpPr>
        <p:spPr>
          <a:xfrm>
            <a:off x="4828032" y="5861304"/>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大人の社会科見学</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5" name="Shape 33">
            <a:extLst>
              <a:ext uri="{FF2B5EF4-FFF2-40B4-BE49-F238E27FC236}">
                <a16:creationId xmlns:a16="http://schemas.microsoft.com/office/drawing/2014/main" id="{8F9525A5-151C-44CF-19FD-4CF94904A5C9}"/>
              </a:ext>
            </a:extLst>
          </p:cNvPr>
          <p:cNvSpPr/>
          <p:nvPr/>
        </p:nvSpPr>
        <p:spPr>
          <a:xfrm>
            <a:off x="6108192" y="5788152"/>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6" name="Text 34">
            <a:extLst>
              <a:ext uri="{FF2B5EF4-FFF2-40B4-BE49-F238E27FC236}">
                <a16:creationId xmlns:a16="http://schemas.microsoft.com/office/drawing/2014/main" id="{9CC13805-48A0-66C9-6204-2909A521D1B8}"/>
              </a:ext>
            </a:extLst>
          </p:cNvPr>
          <p:cNvSpPr/>
          <p:nvPr/>
        </p:nvSpPr>
        <p:spPr>
          <a:xfrm>
            <a:off x="6181344" y="5861304"/>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こだわりガチャ</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7" name="Shape 35">
            <a:extLst>
              <a:ext uri="{FF2B5EF4-FFF2-40B4-BE49-F238E27FC236}">
                <a16:creationId xmlns:a16="http://schemas.microsoft.com/office/drawing/2014/main" id="{8DA3726B-613B-7F70-397D-BB7CBFBD23EF}"/>
              </a:ext>
            </a:extLst>
          </p:cNvPr>
          <p:cNvSpPr/>
          <p:nvPr/>
        </p:nvSpPr>
        <p:spPr>
          <a:xfrm>
            <a:off x="694944" y="6099048"/>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8" name="Text 36">
            <a:extLst>
              <a:ext uri="{FF2B5EF4-FFF2-40B4-BE49-F238E27FC236}">
                <a16:creationId xmlns:a16="http://schemas.microsoft.com/office/drawing/2014/main" id="{D26D74E9-1B08-5C5E-C1ED-C660E9D8F32F}"/>
              </a:ext>
            </a:extLst>
          </p:cNvPr>
          <p:cNvSpPr/>
          <p:nvPr/>
        </p:nvSpPr>
        <p:spPr>
          <a:xfrm>
            <a:off x="768096" y="6172200"/>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ソフトダンパー</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9" name="Shape 37">
            <a:extLst>
              <a:ext uri="{FF2B5EF4-FFF2-40B4-BE49-F238E27FC236}">
                <a16:creationId xmlns:a16="http://schemas.microsoft.com/office/drawing/2014/main" id="{1CB71C0C-54C7-F54D-C980-F81DEC387AF6}"/>
              </a:ext>
            </a:extLst>
          </p:cNvPr>
          <p:cNvSpPr/>
          <p:nvPr/>
        </p:nvSpPr>
        <p:spPr>
          <a:xfrm>
            <a:off x="2048256" y="6099048"/>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0" name="Text 38">
            <a:extLst>
              <a:ext uri="{FF2B5EF4-FFF2-40B4-BE49-F238E27FC236}">
                <a16:creationId xmlns:a16="http://schemas.microsoft.com/office/drawing/2014/main" id="{35114CEC-1BD0-B186-B3FF-BF0D887C3ADD}"/>
              </a:ext>
            </a:extLst>
          </p:cNvPr>
          <p:cNvSpPr/>
          <p:nvPr/>
        </p:nvSpPr>
        <p:spPr>
          <a:xfrm>
            <a:off x="2121408" y="6172200"/>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超ロングサポート</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1" name="Shape 39">
            <a:extLst>
              <a:ext uri="{FF2B5EF4-FFF2-40B4-BE49-F238E27FC236}">
                <a16:creationId xmlns:a16="http://schemas.microsoft.com/office/drawing/2014/main" id="{64F3E49C-0066-39E2-9DB3-05A799E1FC3B}"/>
              </a:ext>
            </a:extLst>
          </p:cNvPr>
          <p:cNvSpPr/>
          <p:nvPr/>
        </p:nvSpPr>
        <p:spPr>
          <a:xfrm>
            <a:off x="3401568" y="6099048"/>
            <a:ext cx="1225296" cy="256032"/>
          </a:xfrm>
          <a:prstGeom prst="roundRect">
            <a:avLst>
              <a:gd name="adj" fmla="val 42857"/>
            </a:avLst>
          </a:prstGeom>
          <a:solidFill>
            <a:srgbClr val="EAF2FF"/>
          </a:solidFill>
          <a:ln w="12700">
            <a:solidFill>
              <a:srgbClr val="EAF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2" name="Text 40">
            <a:extLst>
              <a:ext uri="{FF2B5EF4-FFF2-40B4-BE49-F238E27FC236}">
                <a16:creationId xmlns:a16="http://schemas.microsoft.com/office/drawing/2014/main" id="{E1D991F3-AD7A-00EE-C912-CBC943F6D555}"/>
              </a:ext>
            </a:extLst>
          </p:cNvPr>
          <p:cNvSpPr/>
          <p:nvPr/>
        </p:nvSpPr>
        <p:spPr>
          <a:xfrm>
            <a:off x="3474720" y="6172200"/>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1556B8"/>
                </a:solidFill>
                <a:effectLst/>
                <a:uLnTx/>
                <a:uFillTx/>
                <a:latin typeface="BIZ UDPゴシック"/>
                <a:ea typeface="BIZ UDPゴシック"/>
              </a:rPr>
              <a:t>部品保持</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3" name="Shape 41">
            <a:extLst>
              <a:ext uri="{FF2B5EF4-FFF2-40B4-BE49-F238E27FC236}">
                <a16:creationId xmlns:a16="http://schemas.microsoft.com/office/drawing/2014/main" id="{D7736911-0E9B-6EC1-4341-CD5507CD88D1}"/>
              </a:ext>
            </a:extLst>
          </p:cNvPr>
          <p:cNvSpPr/>
          <p:nvPr/>
        </p:nvSpPr>
        <p:spPr>
          <a:xfrm>
            <a:off x="7882128" y="5266944"/>
            <a:ext cx="3794760"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4" name="Text 42">
            <a:extLst>
              <a:ext uri="{FF2B5EF4-FFF2-40B4-BE49-F238E27FC236}">
                <a16:creationId xmlns:a16="http://schemas.microsoft.com/office/drawing/2014/main" id="{AD654B09-F6A5-5985-AEBC-AC59B0E68F11}"/>
              </a:ext>
            </a:extLst>
          </p:cNvPr>
          <p:cNvSpPr/>
          <p:nvPr/>
        </p:nvSpPr>
        <p:spPr>
          <a:xfrm>
            <a:off x="8083296" y="5324790"/>
            <a:ext cx="3392424"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err="1">
                <a:ln>
                  <a:noFill/>
                </a:ln>
                <a:solidFill>
                  <a:srgbClr val="1556B8"/>
                </a:solidFill>
                <a:effectLst/>
                <a:uLnTx/>
                <a:uFillTx/>
                <a:latin typeface="BIZ UDPゴシック"/>
                <a:ea typeface="BIZ UDPゴシック"/>
              </a:rPr>
              <a:t>担当者メモ</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6" name="Text 44">
            <a:extLst>
              <a:ext uri="{FF2B5EF4-FFF2-40B4-BE49-F238E27FC236}">
                <a16:creationId xmlns:a16="http://schemas.microsoft.com/office/drawing/2014/main" id="{D2C2B212-C8C3-58C2-F788-28DEC681123B}"/>
              </a:ext>
            </a:extLst>
          </p:cNvPr>
          <p:cNvSpPr/>
          <p:nvPr/>
        </p:nvSpPr>
        <p:spPr>
          <a:xfrm>
            <a:off x="8110728" y="5888736"/>
            <a:ext cx="3337560" cy="33832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7" name="Slide Number Placeholder 0">
            <a:extLst>
              <a:ext uri="{FF2B5EF4-FFF2-40B4-BE49-F238E27FC236}">
                <a16:creationId xmlns:a16="http://schemas.microsoft.com/office/drawing/2014/main" id="{02790C5D-4F42-AD54-88B2-393BEB7AC29D}"/>
              </a:ext>
            </a:extLst>
          </p:cNvPr>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srgbClr val="667085"/>
                </a:solidFill>
                <a:effectLst/>
                <a:uLnTx/>
                <a:uFillTx/>
                <a:latin typeface="BIZ UDPゴシック"/>
                <a:ea typeface="BIZ UDPゴシック"/>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667085"/>
              </a:solidFill>
              <a:effectLst/>
              <a:uLnTx/>
              <a:uFillTx/>
              <a:latin typeface="BIZ UDPゴシック"/>
              <a:ea typeface="BIZ UDPゴシック"/>
            </a:endParaRPr>
          </a:p>
        </p:txBody>
      </p:sp>
      <p:pic>
        <p:nvPicPr>
          <p:cNvPr id="50" name="Picture 49" descr="image.png"/>
          <p:cNvPicPr>
            <a:picLocks noChangeAspect="1"/>
          </p:cNvPicPr>
          <p:nvPr/>
        </p:nvPicPr>
        <p:blipFill>
          <a:blip r:embed="rId3"/>
          <a:stretch>
            <a:fillRect/>
          </a:stretch>
        </p:blipFill>
        <p:spPr>
          <a:xfrm>
            <a:off x="10617572" y="45720"/>
            <a:ext cx="1295672" cy="210312"/>
          </a:xfrm>
          <a:prstGeom prst="rect">
            <a:avLst/>
          </a:prstGeom>
        </p:spPr>
      </p:pic>
      <p:pic>
        <p:nvPicPr>
          <p:cNvPr id="9" name="Image 0" descr="images/image-dcfc1fbb6d3653ebe2841ae61a4e91c7.jpg">
            <a:extLst>
              <a:ext uri="{FF2B5EF4-FFF2-40B4-BE49-F238E27FC236}">
                <a16:creationId xmlns:a16="http://schemas.microsoft.com/office/drawing/2014/main" id="{AEB855F9-474D-F8E4-2AE8-68FE8B512033}"/>
              </a:ext>
            </a:extLst>
          </p:cNvPr>
          <p:cNvPicPr>
            <a:picLocks noChangeAspect="1"/>
          </p:cNvPicPr>
          <p:nvPr/>
        </p:nvPicPr>
        <p:blipFill>
          <a:blip r:embed="rId4"/>
          <a:srcRect t="10000" b="10000"/>
          <a:stretch/>
        </p:blipFill>
        <p:spPr>
          <a:xfrm>
            <a:off x="2585466" y="4418314"/>
            <a:ext cx="1373886" cy="732739"/>
          </a:xfrm>
          <a:prstGeom prst="rect">
            <a:avLst/>
          </a:prstGeom>
        </p:spPr>
      </p:pic>
      <p:pic>
        <p:nvPicPr>
          <p:cNvPr id="51" name="図 50">
            <a:extLst>
              <a:ext uri="{FF2B5EF4-FFF2-40B4-BE49-F238E27FC236}">
                <a16:creationId xmlns:a16="http://schemas.microsoft.com/office/drawing/2014/main" id="{1E6BDF06-16CE-41E7-B0B9-8876ABA6FD12}"/>
              </a:ext>
            </a:extLst>
          </p:cNvPr>
          <p:cNvPicPr>
            <a:picLocks noChangeAspect="1"/>
          </p:cNvPicPr>
          <p:nvPr/>
        </p:nvPicPr>
        <p:blipFill>
          <a:blip r:embed="rId5"/>
          <a:stretch>
            <a:fillRect/>
          </a:stretch>
        </p:blipFill>
        <p:spPr>
          <a:xfrm>
            <a:off x="8232650" y="4425907"/>
            <a:ext cx="1340109" cy="758741"/>
          </a:xfrm>
          <a:prstGeom prst="rect">
            <a:avLst/>
          </a:prstGeom>
        </p:spPr>
      </p:pic>
      <p:sp>
        <p:nvSpPr>
          <p:cNvPr id="53" name="Text 20">
            <a:extLst>
              <a:ext uri="{FF2B5EF4-FFF2-40B4-BE49-F238E27FC236}">
                <a16:creationId xmlns:a16="http://schemas.microsoft.com/office/drawing/2014/main" id="{B11476FE-D819-A518-6B15-DFE039E581F0}"/>
              </a:ext>
            </a:extLst>
          </p:cNvPr>
          <p:cNvSpPr/>
          <p:nvPr/>
        </p:nvSpPr>
        <p:spPr>
          <a:xfrm>
            <a:off x="8352034" y="5641848"/>
            <a:ext cx="3071869" cy="713232"/>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a:t>
            </a:r>
            <a:r>
              <a:rPr kumimoji="0" lang="en-US" altLang="ja-JP" sz="1000" i="0" u="none" strike="noStrike" kern="1200" cap="none" spc="0" normalizeH="0" baseline="0" noProof="0">
                <a:ln>
                  <a:noFill/>
                </a:ln>
                <a:solidFill>
                  <a:srgbClr val="3C4655"/>
                </a:solidFill>
                <a:effectLst/>
                <a:uLnTx/>
                <a:uFillTx/>
                <a:latin typeface="BIZ UDPゴシック"/>
                <a:ea typeface="BIZ UDPゴシック"/>
              </a:rPr>
              <a:t>Panasonic</a:t>
            </a: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の</a:t>
            </a:r>
            <a:r>
              <a:rPr kumimoji="0" lang="en-US" altLang="ja-JP" sz="1000" i="0" u="none" strike="noStrike" kern="1200" cap="none" spc="0" normalizeH="0" baseline="0" noProof="0">
                <a:ln>
                  <a:noFill/>
                </a:ln>
                <a:solidFill>
                  <a:srgbClr val="3C4655"/>
                </a:solidFill>
                <a:effectLst/>
                <a:uLnTx/>
                <a:uFillTx/>
                <a:latin typeface="BIZ UDPゴシック"/>
                <a:ea typeface="BIZ UDPゴシック"/>
              </a:rPr>
              <a:t>CM</a:t>
            </a: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もそうですが、</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　 競合他社も調理商品はおいしさを中心に訴求</a:t>
            </a:r>
            <a:endParaRPr kumimoji="0" lang="en-US" altLang="ja-JP" sz="10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・もっと品質にこだわっていることも訴求すれば</a:t>
            </a:r>
            <a:endParaRPr kumimoji="0" lang="en-US" altLang="ja-JP" sz="10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　消費者の安心感や信頼感が得られると思います。</a:t>
            </a:r>
            <a:endParaRPr kumimoji="0" lang="en-US" altLang="ja-JP" sz="10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・その他商品で訴求している</a:t>
            </a:r>
            <a:r>
              <a:rPr kumimoji="0" lang="en-US" altLang="ja-JP" sz="1000" i="0" u="none" strike="noStrike" kern="1200" cap="none" spc="0" normalizeH="0" baseline="0" noProof="0">
                <a:ln>
                  <a:noFill/>
                </a:ln>
                <a:solidFill>
                  <a:srgbClr val="3C4655"/>
                </a:solidFill>
                <a:effectLst/>
                <a:uLnTx/>
                <a:uFillTx/>
                <a:latin typeface="BIZ UDPゴシック"/>
                <a:ea typeface="BIZ UDPゴシック"/>
              </a:rPr>
              <a:t>CM</a:t>
            </a:r>
            <a:r>
              <a:rPr kumimoji="0" lang="ja-JP" altLang="en-US" sz="1000" i="0" u="none" strike="noStrike" kern="1200" cap="none" spc="0" normalizeH="0" baseline="0" noProof="0">
                <a:ln>
                  <a:noFill/>
                </a:ln>
                <a:solidFill>
                  <a:srgbClr val="3C4655"/>
                </a:solidFill>
                <a:effectLst/>
                <a:uLnTx/>
                <a:uFillTx/>
                <a:latin typeface="BIZ UDPゴシック"/>
                <a:ea typeface="BIZ UDPゴシック"/>
              </a:rPr>
              <a:t>はありますか？</a:t>
            </a:r>
            <a:endParaRPr kumimoji="0" lang="en-US" altLang="ja-JP" sz="1000" i="0" u="none" strike="noStrike" kern="1200" cap="none" spc="0" normalizeH="0" baseline="0" noProof="0">
              <a:ln>
                <a:noFill/>
              </a:ln>
              <a:solidFill>
                <a:srgbClr val="3C4655"/>
              </a:solidFill>
              <a:effectLst/>
              <a:uLnTx/>
              <a:uFillTx/>
              <a:latin typeface="BIZ UDPゴシック"/>
              <a:ea typeface="BIZ UDPゴシック"/>
            </a:endParaRPr>
          </a:p>
        </p:txBody>
      </p:sp>
      <p:sp>
        <p:nvSpPr>
          <p:cNvPr id="10" name="正方形/長方形 9">
            <a:extLst>
              <a:ext uri="{FF2B5EF4-FFF2-40B4-BE49-F238E27FC236}">
                <a16:creationId xmlns:a16="http://schemas.microsoft.com/office/drawing/2014/main" id="{5F1A6ABF-75A8-0470-0DC4-37675DBBD934}"/>
              </a:ext>
            </a:extLst>
          </p:cNvPr>
          <p:cNvSpPr/>
          <p:nvPr/>
        </p:nvSpPr>
        <p:spPr>
          <a:xfrm>
            <a:off x="9525" y="18869"/>
            <a:ext cx="694944" cy="2590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平野</a:t>
            </a:r>
          </a:p>
        </p:txBody>
      </p:sp>
    </p:spTree>
    <p:extLst>
      <p:ext uri="{BB962C8B-B14F-4D97-AF65-F5344CB8AC3E}">
        <p14:creationId xmlns:p14="http://schemas.microsoft.com/office/powerpoint/2010/main" val="1250488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450DE-F5CB-DC05-B712-E6203165E3B5}"/>
            </a:ext>
          </a:extLst>
        </p:cNvPr>
        <p:cNvGrpSpPr/>
        <p:nvPr/>
      </p:nvGrpSpPr>
      <p:grpSpPr>
        <a:xfrm>
          <a:off x="0" y="0"/>
          <a:ext cx="1" cy="1"/>
          <a:chOff x="0" y="0"/>
          <a:chExt cx="1" cy="1"/>
        </a:xfrm>
      </p:grpSpPr>
      <p:sp>
        <p:nvSpPr>
          <p:cNvPr id="49" name="Rectangle 48"/>
          <p:cNvSpPr/>
          <p:nvPr/>
        </p:nvSpPr>
        <p:spPr>
          <a:xfrm>
            <a:off x="0" y="0"/>
            <a:ext cx="12192000" cy="292608"/>
          </a:xfrm>
          <a:prstGeom prst="rect">
            <a:avLst/>
          </a:prstGeom>
          <a:solidFill>
            <a:srgbClr val="004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BIZ UDPゴシック"/>
              <a:ea typeface="BIZ UDPゴシック"/>
            </a:endParaRPr>
          </a:p>
        </p:txBody>
      </p:sp>
      <p:sp>
        <p:nvSpPr>
          <p:cNvPr id="2" name="Text 0">
            <a:extLst>
              <a:ext uri="{FF2B5EF4-FFF2-40B4-BE49-F238E27FC236}">
                <a16:creationId xmlns:a16="http://schemas.microsoft.com/office/drawing/2014/main" id="{4199AC40-EC0E-30EB-9437-3815E765C860}"/>
              </a:ext>
            </a:extLst>
          </p:cNvPr>
          <p:cNvSpPr/>
          <p:nvPr/>
        </p:nvSpPr>
        <p:spPr>
          <a:xfrm>
            <a:off x="475488" y="292608"/>
            <a:ext cx="2194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20" normalizeH="0" baseline="0" noProof="0">
                <a:ln>
                  <a:noFill/>
                </a:ln>
                <a:solidFill>
                  <a:srgbClr val="1556B8"/>
                </a:solidFill>
                <a:effectLst/>
                <a:uLnTx/>
                <a:uFillTx/>
                <a:latin typeface="BIZ UDPゴシック"/>
                <a:ea typeface="BIZ UDPゴシック"/>
              </a:rPr>
              <a:t>03｜QUALITY</a:t>
            </a:r>
            <a:endParaRPr kumimoji="0" lang="en-US" sz="9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 name="Text 1">
            <a:extLst>
              <a:ext uri="{FF2B5EF4-FFF2-40B4-BE49-F238E27FC236}">
                <a16:creationId xmlns:a16="http://schemas.microsoft.com/office/drawing/2014/main" id="{D0BD4A9A-D856-D610-54CD-A809950519F2}"/>
              </a:ext>
            </a:extLst>
          </p:cNvPr>
          <p:cNvSpPr/>
          <p:nvPr/>
        </p:nvSpPr>
        <p:spPr>
          <a:xfrm>
            <a:off x="475488" y="566928"/>
            <a:ext cx="8046720" cy="4114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err="1">
                <a:ln>
                  <a:noFill/>
                </a:ln>
                <a:solidFill>
                  <a:srgbClr val="001D35"/>
                </a:solidFill>
                <a:effectLst/>
                <a:uLnTx/>
                <a:uFillTx/>
                <a:latin typeface="BIZ UDPゴシック"/>
                <a:ea typeface="BIZ UDPゴシック"/>
              </a:rPr>
              <a:t>品質｜見えないこだわりを、伝わる価値へ</a:t>
            </a:r>
            <a:endParaRPr kumimoji="0" lang="en-US" sz="24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 name="Text 2">
            <a:extLst>
              <a:ext uri="{FF2B5EF4-FFF2-40B4-BE49-F238E27FC236}">
                <a16:creationId xmlns:a16="http://schemas.microsoft.com/office/drawing/2014/main" id="{1FE50E95-20FB-1D2D-5331-901E7980B7E3}"/>
              </a:ext>
            </a:extLst>
          </p:cNvPr>
          <p:cNvSpPr/>
          <p:nvPr/>
        </p:nvSpPr>
        <p:spPr>
          <a:xfrm>
            <a:off x="493776" y="1024128"/>
            <a:ext cx="5943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err="1">
                <a:ln>
                  <a:noFill/>
                </a:ln>
                <a:solidFill>
                  <a:srgbClr val="667085"/>
                </a:solidFill>
                <a:effectLst/>
                <a:uLnTx/>
                <a:uFillTx/>
                <a:latin typeface="BIZ UDPゴシック"/>
                <a:ea typeface="BIZ UDPゴシック"/>
              </a:rPr>
              <a:t>14・15ページの要点サマリー｜品質カテゴリー</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5" name="Shape 3">
            <a:extLst>
              <a:ext uri="{FF2B5EF4-FFF2-40B4-BE49-F238E27FC236}">
                <a16:creationId xmlns:a16="http://schemas.microsoft.com/office/drawing/2014/main" id="{05802256-15A6-A2D8-0A66-2CBB7DE1FD3D}"/>
              </a:ext>
            </a:extLst>
          </p:cNvPr>
          <p:cNvSpPr/>
          <p:nvPr/>
        </p:nvSpPr>
        <p:spPr>
          <a:xfrm>
            <a:off x="8732520" y="411480"/>
            <a:ext cx="2926080" cy="713232"/>
          </a:xfrm>
          <a:prstGeom prst="roundRect">
            <a:avLst>
              <a:gd name="adj" fmla="val 6410"/>
            </a:avLst>
          </a:prstGeom>
          <a:solidFill>
            <a:srgbClr val="EAF2FF"/>
          </a:solidFill>
          <a:ln w="12700">
            <a:solidFill>
              <a:srgbClr val="1556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6" name="Text 4">
            <a:extLst>
              <a:ext uri="{FF2B5EF4-FFF2-40B4-BE49-F238E27FC236}">
                <a16:creationId xmlns:a16="http://schemas.microsoft.com/office/drawing/2014/main" id="{1B6352EE-3D7D-A22C-D5A8-974BF905A563}"/>
              </a:ext>
            </a:extLst>
          </p:cNvPr>
          <p:cNvSpPr/>
          <p:nvPr/>
        </p:nvSpPr>
        <p:spPr>
          <a:xfrm>
            <a:off x="8942832" y="548640"/>
            <a:ext cx="1097280" cy="12801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1556B8"/>
                </a:solidFill>
                <a:effectLst/>
                <a:uLnTx/>
                <a:uFillTx/>
                <a:latin typeface="BIZ UDPゴシック"/>
                <a:ea typeface="BIZ UDPゴシック"/>
              </a:rPr>
              <a:t>カテゴリの一言定義</a:t>
            </a:r>
            <a:endParaRPr kumimoji="0" lang="en-US" sz="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7" name="Text 5">
            <a:extLst>
              <a:ext uri="{FF2B5EF4-FFF2-40B4-BE49-F238E27FC236}">
                <a16:creationId xmlns:a16="http://schemas.microsoft.com/office/drawing/2014/main" id="{0B5A0820-AA23-AD52-8640-C3CFC4A0631F}"/>
              </a:ext>
            </a:extLst>
          </p:cNvPr>
          <p:cNvSpPr/>
          <p:nvPr/>
        </p:nvSpPr>
        <p:spPr>
          <a:xfrm>
            <a:off x="8942832" y="768096"/>
            <a:ext cx="2487168" cy="146304"/>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01D35"/>
                </a:solidFill>
                <a:effectLst/>
                <a:uLnTx/>
                <a:uFillTx/>
                <a:latin typeface="BIZ UDPゴシック"/>
                <a:ea typeface="BIZ UDPゴシック"/>
              </a:rPr>
              <a:t>「信じられる理由」を見える化</a:t>
            </a:r>
            <a:endParaRPr kumimoji="0" lang="en-US" sz="11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1" name="Shape 9">
            <a:extLst>
              <a:ext uri="{FF2B5EF4-FFF2-40B4-BE49-F238E27FC236}">
                <a16:creationId xmlns:a16="http://schemas.microsoft.com/office/drawing/2014/main" id="{2240FC23-8E68-5A04-56F7-A563C431E941}"/>
              </a:ext>
            </a:extLst>
          </p:cNvPr>
          <p:cNvSpPr/>
          <p:nvPr/>
        </p:nvSpPr>
        <p:spPr>
          <a:xfrm>
            <a:off x="435864" y="1385740"/>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2" name="Text 10">
            <a:extLst>
              <a:ext uri="{FF2B5EF4-FFF2-40B4-BE49-F238E27FC236}">
                <a16:creationId xmlns:a16="http://schemas.microsoft.com/office/drawing/2014/main" id="{1A02E959-D840-C78E-0647-49AA7B8F19B7}"/>
              </a:ext>
            </a:extLst>
          </p:cNvPr>
          <p:cNvSpPr/>
          <p:nvPr/>
        </p:nvSpPr>
        <p:spPr>
          <a:xfrm>
            <a:off x="637032" y="1550332"/>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56B8"/>
                </a:solidFill>
                <a:effectLst/>
                <a:uLnTx/>
                <a:uFillTx/>
                <a:latin typeface="BIZ UDPゴシック"/>
                <a:ea typeface="BIZ UDPゴシック"/>
              </a:rPr>
              <a:t>01｜現状・強み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3" name="Shape 11">
            <a:extLst>
              <a:ext uri="{FF2B5EF4-FFF2-40B4-BE49-F238E27FC236}">
                <a16:creationId xmlns:a16="http://schemas.microsoft.com/office/drawing/2014/main" id="{798E9424-B5A0-FAEB-C87F-77ACDBBD6D40}"/>
              </a:ext>
            </a:extLst>
          </p:cNvPr>
          <p:cNvSpPr/>
          <p:nvPr/>
        </p:nvSpPr>
        <p:spPr>
          <a:xfrm>
            <a:off x="637032" y="1861228"/>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4" name="Text 12">
            <a:extLst>
              <a:ext uri="{FF2B5EF4-FFF2-40B4-BE49-F238E27FC236}">
                <a16:creationId xmlns:a16="http://schemas.microsoft.com/office/drawing/2014/main" id="{EC6B32DA-A4C1-E517-681F-1621C53AE457}"/>
              </a:ext>
            </a:extLst>
          </p:cNvPr>
          <p:cNvSpPr/>
          <p:nvPr/>
        </p:nvSpPr>
        <p:spPr>
          <a:xfrm>
            <a:off x="506214" y="2007531"/>
            <a:ext cx="3310128" cy="1639955"/>
          </a:xfrm>
          <a:prstGeom prst="rect">
            <a:avLst/>
          </a:prstGeom>
          <a:noFill/>
          <a:ln/>
        </p:spPr>
        <p:txBody>
          <a:bodyPr wrap="square" lIns="508" tIns="508" rIns="508" bIns="508" rtlCol="0" anchor="ctr">
            <a:normAutofit fontScale="92500" lnSpcReduction="10000"/>
          </a:bodyPr>
          <a:lstStyle/>
          <a:p>
            <a:pPr>
              <a:defRPr/>
            </a:pPr>
            <a:r>
              <a:rPr lang="ja-JP" altLang="en-US" sz="1200" b="1">
                <a:solidFill>
                  <a:srgbClr val="16232E"/>
                </a:solidFill>
                <a:latin typeface="BIZ UDPゴシック" pitchFamily="34" charset="0"/>
                <a:ea typeface="BIZ UDPゴシック" pitchFamily="34" charset="-122"/>
                <a:cs typeface="BIZ UDPゴシック" pitchFamily="34" charset="-120"/>
              </a:rPr>
              <a:t>商品づくりから</a:t>
            </a:r>
            <a:r>
              <a:rPr lang="en-US" altLang="ja-JP" sz="1200" b="1">
                <a:solidFill>
                  <a:srgbClr val="16232E"/>
                </a:solidFill>
                <a:latin typeface="BIZ UDPゴシック" pitchFamily="34" charset="0"/>
                <a:ea typeface="BIZ UDPゴシック" pitchFamily="34" charset="-122"/>
                <a:cs typeface="BIZ UDPゴシック" pitchFamily="34" charset="-120"/>
              </a:rPr>
              <a:t>「</a:t>
            </a:r>
            <a:r>
              <a:rPr lang="en-US" altLang="ja-JP" sz="1200" b="1" err="1">
                <a:solidFill>
                  <a:srgbClr val="FF0000"/>
                </a:solidFill>
                <a:latin typeface="BIZ UDPゴシック" pitchFamily="34" charset="0"/>
                <a:ea typeface="BIZ UDPゴシック" pitchFamily="34" charset="-122"/>
                <a:cs typeface="BIZ UDPゴシック" pitchFamily="34" charset="-120"/>
              </a:rPr>
              <a:t>壊れ</a:t>
            </a:r>
            <a:r>
              <a:rPr lang="ja-JP" altLang="en-US" sz="1200" b="1">
                <a:solidFill>
                  <a:srgbClr val="FF0000"/>
                </a:solidFill>
                <a:latin typeface="BIZ UDPゴシック" pitchFamily="34" charset="0"/>
                <a:ea typeface="BIZ UDPゴシック" pitchFamily="34" charset="-122"/>
                <a:cs typeface="BIZ UDPゴシック" pitchFamily="34" charset="-120"/>
              </a:rPr>
              <a:t>る</a:t>
            </a:r>
            <a:r>
              <a:rPr lang="en-US" altLang="ja-JP" sz="1200" b="1">
                <a:solidFill>
                  <a:srgbClr val="16232E"/>
                </a:solidFill>
                <a:latin typeface="BIZ UDPゴシック" pitchFamily="34" charset="0"/>
                <a:ea typeface="BIZ UDPゴシック" pitchFamily="34" charset="-122"/>
                <a:cs typeface="BIZ UDPゴシック" pitchFamily="34" charset="-120"/>
              </a:rPr>
              <a:t>」</a:t>
            </a:r>
            <a:r>
              <a:rPr lang="en-US" altLang="ja-JP" sz="1200" b="1" err="1">
                <a:solidFill>
                  <a:srgbClr val="16232E"/>
                </a:solidFill>
                <a:latin typeface="BIZ UDPゴシック" pitchFamily="34" charset="0"/>
                <a:ea typeface="BIZ UDPゴシック" pitchFamily="34" charset="-122"/>
                <a:cs typeface="BIZ UDPゴシック" pitchFamily="34" charset="-120"/>
              </a:rPr>
              <a:t>まで</a:t>
            </a:r>
            <a:r>
              <a:rPr lang="ja-JP" altLang="en-US" sz="1200" b="1">
                <a:solidFill>
                  <a:srgbClr val="16232E"/>
                </a:solidFill>
                <a:latin typeface="BIZ UDPゴシック" pitchFamily="34" charset="0"/>
                <a:ea typeface="BIZ UDPゴシック" pitchFamily="34" charset="-122"/>
                <a:cs typeface="BIZ UDPゴシック" pitchFamily="34" charset="-120"/>
              </a:rPr>
              <a:t>の確かな</a:t>
            </a:r>
            <a:r>
              <a:rPr lang="en-US" altLang="ja-JP" sz="1200" b="1" err="1">
                <a:solidFill>
                  <a:srgbClr val="16232E"/>
                </a:solidFill>
                <a:latin typeface="BIZ UDPゴシック" pitchFamily="34" charset="0"/>
                <a:ea typeface="BIZ UDPゴシック" pitchFamily="34" charset="-122"/>
                <a:cs typeface="BIZ UDPゴシック" pitchFamily="34" charset="-120"/>
              </a:rPr>
              <a:t>品質と発信資産</a:t>
            </a:r>
            <a:endParaRPr lang="en-US" altLang="ja-JP" sz="1200" b="1">
              <a:solidFill>
                <a:prstClr val="black"/>
              </a:solidFill>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16232E"/>
                </a:solidFill>
                <a:effectLst/>
                <a:uLnTx/>
                <a:uFillTx/>
                <a:latin typeface="BIZ UDPゴシック" pitchFamily="34" charset="0"/>
                <a:ea typeface="BIZ UDPゴシック" pitchFamily="34" charset="-122"/>
                <a:cs typeface="BIZ UDPゴシック" pitchFamily="34" charset="-120"/>
              </a:rPr>
              <a:t>　</a:t>
            </a:r>
            <a:endParaRPr kumimoji="0" lang="en-US" altLang="ja-JP" sz="1200" b="1" i="0" u="none" strike="noStrike" kern="1200" cap="none" spc="0" normalizeH="0" baseline="0" noProof="0">
              <a:ln>
                <a:noFill/>
              </a:ln>
              <a:solidFill>
                <a:srgbClr val="16232E"/>
              </a:solidFill>
              <a:effectLst/>
              <a:uLnTx/>
              <a:uFillTx/>
              <a:latin typeface="BIZ UDPゴシック" pitchFamily="34" charset="0"/>
              <a:ea typeface="BIZ UDPゴシック" pitchFamily="34" charset="-122"/>
              <a:cs typeface="BIZ UDPゴシック"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a:solidFill>
                  <a:srgbClr val="16232E"/>
                </a:solidFill>
                <a:latin typeface="BIZ UDPゴシック" pitchFamily="34" charset="0"/>
                <a:ea typeface="BIZ UDPゴシック" pitchFamily="34" charset="-122"/>
                <a:cs typeface="BIZ UDPゴシック" pitchFamily="34" charset="-120"/>
              </a:rPr>
              <a:t>強み</a:t>
            </a: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effectLst/>
                <a:uLnTx/>
                <a:uFillTx/>
                <a:latin typeface="BIZ UDPゴシック"/>
                <a:ea typeface="BIZ UDPゴシック"/>
              </a:rPr>
              <a:t>・通常利用の環境を超えた</a:t>
            </a:r>
            <a:r>
              <a:rPr kumimoji="0" lang="ja-JP" altLang="en-US" sz="1200" b="1" i="0" u="none" strike="noStrike" kern="1200" cap="none" spc="0" normalizeH="0" baseline="0" noProof="0">
                <a:ln>
                  <a:noFill/>
                </a:ln>
                <a:effectLst/>
                <a:uLnTx/>
                <a:uFillTx/>
                <a:latin typeface="BIZ UDPゴシック"/>
                <a:ea typeface="BIZ UDPゴシック"/>
              </a:rPr>
              <a:t>徹底した品質試験</a:t>
            </a:r>
            <a:endParaRPr kumimoji="0" lang="en-US" altLang="ja-JP" sz="1200" b="1" i="0" u="none" strike="noStrike" kern="1200" cap="none" spc="0" normalizeH="0" baseline="0" noProof="0">
              <a:ln>
                <a:noFill/>
              </a:ln>
              <a:effectLst/>
              <a:uLnTx/>
              <a:uFillTx/>
              <a:latin typeface="BIZ UDPゴシック"/>
              <a:ea typeface="BIZ UDPゴシック"/>
            </a:endParaRPr>
          </a:p>
          <a:p>
            <a:pPr lvl="0">
              <a:defRPr/>
            </a:pPr>
            <a:r>
              <a:rPr lang="ja-JP" altLang="en-US" sz="1000">
                <a:ea typeface="BIZ UDPゴシック"/>
              </a:rPr>
              <a:t>（例：レンジ扉開閉15万回試験、炊飯器摩擦耐久試験など</a:t>
            </a:r>
            <a:r>
              <a:rPr lang="ja-JP" altLang="en-US" sz="1200">
                <a:ea typeface="BIZ UDPゴシック"/>
              </a:rPr>
              <a:t>）</a:t>
            </a:r>
            <a:endParaRPr lang="en-US" altLang="ja-JP" sz="1200">
              <a:ea typeface="BIZ UDPゴシック"/>
            </a:endParaRPr>
          </a:p>
          <a:p>
            <a:pPr lvl="0">
              <a:defRPr/>
            </a:pPr>
            <a:endParaRPr kumimoji="0" lang="en-US" altLang="ja-JP" sz="1200" i="0" u="none" strike="noStrike" kern="1200" cap="none" spc="0" normalizeH="0" baseline="0" noProof="0">
              <a:ln>
                <a:noFill/>
              </a:ln>
              <a:effectLst/>
              <a:uLnTx/>
              <a:uFillTx/>
              <a:latin typeface="BIZ UDPゴシック"/>
              <a:ea typeface="BIZ UDPゴシック"/>
            </a:endParaRPr>
          </a:p>
          <a:p>
            <a:pPr>
              <a:defRPr/>
            </a:pPr>
            <a:r>
              <a:rPr kumimoji="0" lang="ja-JP" altLang="en-US" sz="1200" i="0" u="none" strike="noStrike" kern="1200" cap="none" spc="0" normalizeH="0" baseline="0" noProof="0">
                <a:ln>
                  <a:noFill/>
                </a:ln>
                <a:effectLst/>
                <a:uLnTx/>
                <a:uFillTx/>
                <a:latin typeface="BIZ UDPゴシック"/>
                <a:ea typeface="BIZ UDPゴシック"/>
              </a:rPr>
              <a:t>・</a:t>
            </a:r>
            <a:r>
              <a:rPr kumimoji="0" lang="ja-JP" altLang="en-US" sz="1200" b="1" i="0" u="none" strike="noStrike" kern="1200" cap="none" spc="0" normalizeH="0" baseline="0" noProof="0">
                <a:ln>
                  <a:noFill/>
                </a:ln>
                <a:effectLst/>
                <a:uLnTx/>
                <a:uFillTx/>
                <a:latin typeface="BIZ UDPゴシック"/>
                <a:ea typeface="BIZ UDPゴシック"/>
              </a:rPr>
              <a:t>確か</a:t>
            </a:r>
            <a:r>
              <a:rPr lang="ja-JP" altLang="en-US" sz="1200" b="1">
                <a:ea typeface="BIZ UDPゴシック"/>
              </a:rPr>
              <a:t>な技術・研究</a:t>
            </a:r>
            <a:r>
              <a:rPr lang="ja-JP" altLang="en-US" sz="1200">
                <a:ea typeface="BIZ UDPゴシック"/>
              </a:rPr>
              <a:t>をもとにした商品開発</a:t>
            </a:r>
            <a:endParaRPr lang="en-US" altLang="ja-JP" sz="1200">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200" i="0" u="none" strike="noStrike" kern="1200" cap="none" spc="0" normalizeH="0" baseline="0" noProof="0">
              <a:ln>
                <a:noFill/>
              </a:ln>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effectLst/>
                <a:uLnTx/>
                <a:uFillTx/>
                <a:latin typeface="BIZ UDPゴシック"/>
                <a:ea typeface="BIZ UDPゴシック"/>
              </a:rPr>
              <a:t>現状</a:t>
            </a:r>
            <a:br>
              <a:rPr kumimoji="0" lang="ja-JP" altLang="en-US" sz="1200" i="0" u="none" strike="noStrike" kern="1200" cap="none" spc="0" normalizeH="0" baseline="0" noProof="0">
                <a:ln>
                  <a:noFill/>
                </a:ln>
                <a:effectLst/>
                <a:uLnTx/>
                <a:uFillTx/>
                <a:latin typeface="BIZ UDPゴシック"/>
                <a:ea typeface="BIZ UDPゴシック"/>
              </a:rPr>
            </a:br>
            <a:r>
              <a:rPr kumimoji="0" lang="ja-JP" altLang="en-US" sz="1200" i="0" u="none" strike="noStrike" kern="1200" cap="none" spc="0" normalizeH="0" baseline="0" noProof="0">
                <a:ln>
                  <a:noFill/>
                </a:ln>
                <a:effectLst/>
                <a:uLnTx/>
                <a:uFillTx/>
                <a:latin typeface="BIZ UDPゴシック"/>
                <a:ea typeface="BIZ UDPゴシック"/>
              </a:rPr>
              <a:t>・</a:t>
            </a:r>
            <a:r>
              <a:rPr kumimoji="0" lang="ja-JP" altLang="en-US" sz="1200" b="1" i="0" u="none" strike="noStrike" kern="1200" cap="none" spc="0" normalizeH="0" baseline="0" noProof="0">
                <a:ln>
                  <a:noFill/>
                </a:ln>
                <a:effectLst/>
                <a:uLnTx/>
                <a:uFillTx/>
                <a:latin typeface="BIZ UDPゴシック"/>
                <a:ea typeface="BIZ UDPゴシック"/>
              </a:rPr>
              <a:t>「Panasonic Quality」</a:t>
            </a:r>
            <a:r>
              <a:rPr kumimoji="0" lang="ja-JP" altLang="en-US" sz="1200" i="0" u="none" strike="noStrike" kern="1200" cap="none" spc="0" normalizeH="0" baseline="0" noProof="0">
                <a:ln>
                  <a:noFill/>
                </a:ln>
                <a:effectLst/>
                <a:uLnTx/>
                <a:uFillTx/>
                <a:latin typeface="BIZ UDPゴシック"/>
                <a:ea typeface="BIZ UDPゴシック"/>
              </a:rPr>
              <a:t>で発信中</a:t>
            </a:r>
            <a:endParaRPr kumimoji="0" lang="en-US" altLang="ja-JP" sz="1200" i="0" u="none" strike="noStrike" kern="1200" cap="none" spc="0" normalizeH="0" baseline="0" noProof="0">
              <a:ln>
                <a:noFill/>
              </a:ln>
              <a:effectLst/>
              <a:uLnTx/>
              <a:uFillTx/>
              <a:latin typeface="BIZ UDPゴシック"/>
              <a:ea typeface="BIZ UDPゴシック"/>
            </a:endParaRPr>
          </a:p>
        </p:txBody>
      </p:sp>
      <p:sp>
        <p:nvSpPr>
          <p:cNvPr id="15" name="Shape 13">
            <a:extLst>
              <a:ext uri="{FF2B5EF4-FFF2-40B4-BE49-F238E27FC236}">
                <a16:creationId xmlns:a16="http://schemas.microsoft.com/office/drawing/2014/main" id="{73B180CF-236E-1177-8F0B-CC5AFDF95B1D}"/>
              </a:ext>
            </a:extLst>
          </p:cNvPr>
          <p:cNvSpPr/>
          <p:nvPr/>
        </p:nvSpPr>
        <p:spPr>
          <a:xfrm>
            <a:off x="4376928" y="1423685"/>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6" name="Text 14">
            <a:extLst>
              <a:ext uri="{FF2B5EF4-FFF2-40B4-BE49-F238E27FC236}">
                <a16:creationId xmlns:a16="http://schemas.microsoft.com/office/drawing/2014/main" id="{1E47F52A-EB76-F4BF-8A49-6208A558FA28}"/>
              </a:ext>
            </a:extLst>
          </p:cNvPr>
          <p:cNvSpPr/>
          <p:nvPr/>
        </p:nvSpPr>
        <p:spPr>
          <a:xfrm>
            <a:off x="4578096" y="1588277"/>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56B8"/>
                </a:solidFill>
                <a:effectLst/>
                <a:uLnTx/>
                <a:uFillTx/>
                <a:latin typeface="BIZ UDPゴシック"/>
                <a:ea typeface="BIZ UDPゴシック"/>
              </a:rPr>
              <a:t>02｜課題</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7" name="Shape 15">
            <a:extLst>
              <a:ext uri="{FF2B5EF4-FFF2-40B4-BE49-F238E27FC236}">
                <a16:creationId xmlns:a16="http://schemas.microsoft.com/office/drawing/2014/main" id="{5C55E757-C46D-9B13-B17D-2E9DBF0B1630}"/>
              </a:ext>
            </a:extLst>
          </p:cNvPr>
          <p:cNvSpPr/>
          <p:nvPr/>
        </p:nvSpPr>
        <p:spPr>
          <a:xfrm>
            <a:off x="4578096" y="1899173"/>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8" name="Text 16">
            <a:extLst>
              <a:ext uri="{FF2B5EF4-FFF2-40B4-BE49-F238E27FC236}">
                <a16:creationId xmlns:a16="http://schemas.microsoft.com/office/drawing/2014/main" id="{34559169-04DC-583E-6977-CF42543D74CF}"/>
              </a:ext>
            </a:extLst>
          </p:cNvPr>
          <p:cNvSpPr/>
          <p:nvPr/>
        </p:nvSpPr>
        <p:spPr>
          <a:xfrm>
            <a:off x="4605528" y="2045477"/>
            <a:ext cx="2980944" cy="1527048"/>
          </a:xfrm>
          <a:prstGeom prst="rect">
            <a:avLst/>
          </a:prstGeom>
          <a:noFill/>
          <a:ln/>
        </p:spPr>
        <p:txBody>
          <a:bodyPr wrap="square" lIns="508" tIns="508" rIns="508" bIns="508"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3C4655"/>
                </a:solidFill>
                <a:effectLst/>
                <a:uLnTx/>
                <a:uFillTx/>
                <a:latin typeface="BIZ UDPゴシック"/>
                <a:ea typeface="BIZ UDPゴシック"/>
              </a:rPr>
              <a:t>社員間、お客様の間での</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伝達ギャップ</a:t>
            </a:r>
            <a:r>
              <a:rPr kumimoji="0" lang="ja-JP" altLang="en-US" sz="1200" b="1" i="0" u="none" strike="noStrike" kern="1200" cap="none" spc="0" normalizeH="0" baseline="0" noProof="0">
                <a:ln>
                  <a:noFill/>
                </a:ln>
                <a:solidFill>
                  <a:srgbClr val="3C4655"/>
                </a:solidFill>
                <a:effectLst/>
                <a:uLnTx/>
                <a:uFillTx/>
                <a:latin typeface="BIZ UDPゴシック"/>
                <a:ea typeface="BIZ UDPゴシック"/>
              </a:rPr>
              <a:t>が存在</a:t>
            </a:r>
            <a:endParaRPr kumimoji="0" lang="en-US" altLang="ja-JP" sz="1200" b="1"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200" i="0" u="none" strike="noStrike" kern="1200" cap="none" spc="0" normalizeH="0" baseline="0" noProof="0">
              <a:ln>
                <a:noFill/>
              </a:ln>
              <a:solidFill>
                <a:srgbClr val="3C4655"/>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solidFill>
                  <a:srgbClr val="3C4655"/>
                </a:solidFill>
                <a:effectLst/>
                <a:uLnTx/>
                <a:uFillTx/>
                <a:latin typeface="BIZ UDPゴシック"/>
                <a:ea typeface="BIZ UDPゴシック"/>
              </a:rPr>
              <a:t>・品質への</a:t>
            </a:r>
            <a:r>
              <a:rPr kumimoji="0" lang="ja-JP" altLang="en-US" sz="1200" i="0" u="none" strike="noStrike" kern="1200" cap="none" spc="0" normalizeH="0" baseline="0" noProof="0">
                <a:ln>
                  <a:noFill/>
                </a:ln>
                <a:effectLst/>
                <a:uLnTx/>
                <a:uFillTx/>
                <a:latin typeface="BIZ UDPゴシック"/>
                <a:ea typeface="BIZ UDPゴシック"/>
              </a:rPr>
              <a:t>こだわりが</a:t>
            </a:r>
            <a:r>
              <a:rPr lang="ja-JP" altLang="en-US" sz="1200" b="1">
                <a:latin typeface="BIZ UDPゴシック"/>
                <a:ea typeface="BIZ UDPゴシック"/>
              </a:rPr>
              <a:t>一部の社員のみが知る</a:t>
            </a:r>
            <a:r>
              <a:rPr lang="ja-JP" altLang="en-US" sz="1200">
                <a:latin typeface="BIZ UDPゴシック"/>
                <a:ea typeface="BIZ UDPゴシック"/>
              </a:rPr>
              <a:t>資料</a:t>
            </a:r>
            <a:r>
              <a:rPr kumimoji="0" lang="ja-JP" altLang="en-US" sz="1200" i="0" u="none" strike="noStrike" kern="1200" cap="none" spc="0" normalizeH="0" baseline="0" noProof="0">
                <a:ln>
                  <a:noFill/>
                </a:ln>
                <a:effectLst/>
                <a:uLnTx/>
                <a:uFillTx/>
                <a:latin typeface="BIZ UDPゴシック"/>
                <a:ea typeface="BIZ UDPゴシック"/>
              </a:rPr>
              <a:t>に留まり、他部門との連携・発信ができていない</a:t>
            </a:r>
            <a:endParaRPr kumimoji="0" lang="en-US" altLang="ja-JP" sz="1200" i="0" u="none" strike="noStrike" kern="1200" cap="none" spc="0" normalizeH="0" baseline="0" noProof="0">
              <a:ln>
                <a:noFill/>
              </a:ln>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ja-JP" altLang="en-US" sz="1200" i="0" u="none" strike="noStrike" kern="1200" cap="none" spc="0" normalizeH="0" baseline="0" noProof="0">
                <a:ln>
                  <a:noFill/>
                </a:ln>
                <a:effectLst/>
                <a:uLnTx/>
                <a:uFillTx/>
                <a:latin typeface="BIZ UDPゴシック"/>
                <a:ea typeface="BIZ UDPゴシック"/>
              </a:rPr>
            </a:br>
            <a:r>
              <a:rPr kumimoji="0" lang="ja-JP" altLang="en-US" sz="1200" i="0" u="none" strike="noStrike" kern="1200" cap="none" spc="0" normalizeH="0" baseline="0" noProof="0">
                <a:ln>
                  <a:noFill/>
                </a:ln>
                <a:effectLst/>
                <a:uLnTx/>
                <a:uFillTx/>
                <a:latin typeface="BIZ UDPゴシック"/>
                <a:ea typeface="BIZ UDPゴシック"/>
              </a:rPr>
              <a:t>・数値が</a:t>
            </a:r>
            <a:r>
              <a:rPr kumimoji="0" lang="ja-JP" altLang="en-US" sz="1200" b="1" i="0" u="none" strike="noStrike" kern="1200" cap="none" spc="0" normalizeH="0" baseline="0" noProof="0">
                <a:ln>
                  <a:noFill/>
                </a:ln>
                <a:effectLst/>
                <a:uLnTx/>
                <a:uFillTx/>
                <a:latin typeface="BIZ UDPゴシック"/>
                <a:ea typeface="BIZ UDPゴシック"/>
              </a:rPr>
              <a:t>生活実感に翻訳</a:t>
            </a:r>
            <a:r>
              <a:rPr kumimoji="0" lang="ja-JP" altLang="en-US" sz="1200" i="0" u="none" strike="noStrike" kern="1200" cap="none" spc="0" normalizeH="0" baseline="0" noProof="0">
                <a:ln>
                  <a:noFill/>
                </a:ln>
                <a:effectLst/>
                <a:uLnTx/>
                <a:uFillTx/>
                <a:latin typeface="BIZ UDPゴシック"/>
                <a:ea typeface="BIZ UDPゴシック"/>
              </a:rPr>
              <a:t>されていない</a:t>
            </a:r>
            <a:endParaRPr kumimoji="0" lang="en-US" altLang="ja-JP" sz="1200" i="0" u="none" strike="noStrike" kern="1200" cap="none" spc="0" normalizeH="0" baseline="0" noProof="0">
              <a:ln>
                <a:noFill/>
              </a:ln>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ja-JP" altLang="en-US" sz="1200" i="0" u="none" strike="noStrike" kern="1200" cap="none" spc="0" normalizeH="0" baseline="0" noProof="0">
                <a:ln>
                  <a:noFill/>
                </a:ln>
                <a:effectLst/>
                <a:uLnTx/>
                <a:uFillTx/>
                <a:latin typeface="BIZ UDPゴシック"/>
                <a:ea typeface="BIZ UDPゴシック"/>
              </a:rPr>
            </a:br>
            <a:r>
              <a:rPr kumimoji="0" lang="ja-JP" altLang="en-US" sz="1200" i="0" u="none" strike="noStrike" kern="1200" cap="none" spc="0" normalizeH="0" baseline="0" noProof="0">
                <a:ln>
                  <a:noFill/>
                </a:ln>
                <a:effectLst/>
                <a:uLnTx/>
                <a:uFillTx/>
                <a:latin typeface="BIZ UDPゴシック"/>
                <a:ea typeface="BIZ UDPゴシック"/>
              </a:rPr>
              <a:t>・発信が認知目的に偏り、</a:t>
            </a:r>
            <a:endParaRPr kumimoji="0" lang="en-US" altLang="ja-JP" sz="1200" i="0" u="none" strike="noStrike" kern="1200" cap="none" spc="0" normalizeH="0" baseline="0" noProof="0">
              <a:ln>
                <a:noFill/>
              </a:ln>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1200" cap="none" spc="0" normalizeH="0" baseline="0" noProof="0">
                <a:ln>
                  <a:noFill/>
                </a:ln>
                <a:effectLst/>
                <a:uLnTx/>
                <a:uFillTx/>
                <a:latin typeface="BIZ UDPゴシック"/>
                <a:ea typeface="BIZ UDPゴシック"/>
              </a:rPr>
              <a:t>　</a:t>
            </a:r>
            <a:r>
              <a:rPr kumimoji="0" lang="ja-JP" altLang="en-US" sz="1200" b="1" i="0" u="none" strike="noStrike" kern="1200" cap="none" spc="0" normalizeH="0" baseline="0" noProof="0">
                <a:ln>
                  <a:noFill/>
                </a:ln>
                <a:effectLst/>
                <a:uLnTx/>
                <a:uFillTx/>
                <a:latin typeface="BIZ UDPゴシック"/>
                <a:ea typeface="BIZ UDPゴシック"/>
              </a:rPr>
              <a:t>購入・購入後の実体験</a:t>
            </a:r>
            <a:r>
              <a:rPr kumimoji="0" lang="ja-JP" altLang="en-US" sz="1200" i="0" u="none" strike="noStrike" kern="1200" cap="none" spc="0" normalizeH="0" baseline="0" noProof="0">
                <a:ln>
                  <a:noFill/>
                </a:ln>
                <a:effectLst/>
                <a:uLnTx/>
                <a:uFillTx/>
                <a:latin typeface="BIZ UDPゴシック"/>
                <a:ea typeface="BIZ UDPゴシック"/>
              </a:rPr>
              <a:t>につながらない</a:t>
            </a:r>
            <a:endParaRPr kumimoji="0" lang="en-US" sz="1400" i="0" u="none" strike="noStrike" kern="1200" cap="none" spc="0" normalizeH="0" baseline="0" noProof="0">
              <a:ln>
                <a:noFill/>
              </a:ln>
              <a:effectLst/>
              <a:uLnTx/>
              <a:uFillTx/>
              <a:latin typeface="BIZ UDPゴシック"/>
              <a:ea typeface="BIZ UDPゴシック"/>
            </a:endParaRPr>
          </a:p>
        </p:txBody>
      </p:sp>
      <p:sp>
        <p:nvSpPr>
          <p:cNvPr id="19" name="Shape 17">
            <a:extLst>
              <a:ext uri="{FF2B5EF4-FFF2-40B4-BE49-F238E27FC236}">
                <a16:creationId xmlns:a16="http://schemas.microsoft.com/office/drawing/2014/main" id="{43F81EF5-9813-34B1-8ADF-D51401FFC40A}"/>
              </a:ext>
            </a:extLst>
          </p:cNvPr>
          <p:cNvSpPr/>
          <p:nvPr/>
        </p:nvSpPr>
        <p:spPr>
          <a:xfrm>
            <a:off x="8115499" y="1430050"/>
            <a:ext cx="3410712"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0" name="Text 18">
            <a:extLst>
              <a:ext uri="{FF2B5EF4-FFF2-40B4-BE49-F238E27FC236}">
                <a16:creationId xmlns:a16="http://schemas.microsoft.com/office/drawing/2014/main" id="{638BB7D8-C684-54E6-03A9-7EDE6B3CE4D2}"/>
              </a:ext>
            </a:extLst>
          </p:cNvPr>
          <p:cNvSpPr/>
          <p:nvPr/>
        </p:nvSpPr>
        <p:spPr>
          <a:xfrm>
            <a:off x="8277043" y="1594642"/>
            <a:ext cx="3008376"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56B8"/>
                </a:solidFill>
                <a:effectLst/>
                <a:uLnTx/>
                <a:uFillTx/>
                <a:latin typeface="BIZ UDPゴシック"/>
                <a:ea typeface="BIZ UDPゴシック"/>
              </a:rPr>
              <a:t>03｜提案・目指す姿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1" name="Shape 19">
            <a:extLst>
              <a:ext uri="{FF2B5EF4-FFF2-40B4-BE49-F238E27FC236}">
                <a16:creationId xmlns:a16="http://schemas.microsoft.com/office/drawing/2014/main" id="{C3C7FE7E-CE5F-85C6-D54C-3A2A1AB0734F}"/>
              </a:ext>
            </a:extLst>
          </p:cNvPr>
          <p:cNvSpPr/>
          <p:nvPr/>
        </p:nvSpPr>
        <p:spPr>
          <a:xfrm>
            <a:off x="8277043" y="1905538"/>
            <a:ext cx="3008376"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2" name="Text 20">
            <a:extLst>
              <a:ext uri="{FF2B5EF4-FFF2-40B4-BE49-F238E27FC236}">
                <a16:creationId xmlns:a16="http://schemas.microsoft.com/office/drawing/2014/main" id="{B3AC5597-9BB6-8B96-B6FA-BF153CA5FE98}"/>
              </a:ext>
            </a:extLst>
          </p:cNvPr>
          <p:cNvSpPr/>
          <p:nvPr/>
        </p:nvSpPr>
        <p:spPr>
          <a:xfrm>
            <a:off x="8304475" y="1960403"/>
            <a:ext cx="2953512" cy="1731388"/>
          </a:xfrm>
          <a:prstGeom prst="rect">
            <a:avLst/>
          </a:prstGeom>
          <a:noFill/>
          <a:ln/>
        </p:spPr>
        <p:txBody>
          <a:bodyPr wrap="square" lIns="508" tIns="508" rIns="508" bIns="508" rtlCol="0" anchor="ctr">
            <a:normAutofit fontScale="85000" lnSpcReduction="20000"/>
          </a:bodyPr>
          <a:lstStyle/>
          <a:p>
            <a:pPr lvl="0">
              <a:defRPr/>
            </a:pPr>
            <a:r>
              <a:rPr lang="ja-JP" altLang="en-US" sz="1200" b="1" dirty="0">
                <a:solidFill>
                  <a:srgbClr val="3C4655"/>
                </a:solidFill>
                <a:ea typeface="BIZ UDPゴシック"/>
              </a:rPr>
              <a:t>目指す姿</a:t>
            </a:r>
            <a:endParaRPr lang="en-US" altLang="ja-JP" sz="1200" b="1" dirty="0">
              <a:solidFill>
                <a:srgbClr val="3C4655"/>
              </a:solidFill>
              <a:ea typeface="BIZ UDPゴシック"/>
            </a:endParaRPr>
          </a:p>
          <a:p>
            <a:pPr>
              <a:defRPr/>
            </a:pPr>
            <a:r>
              <a:rPr lang="ja-JP" altLang="en-US" sz="1200" dirty="0">
                <a:solidFill>
                  <a:srgbClr val="FF0000"/>
                </a:solidFill>
                <a:ea typeface="BIZ UDPゴシック"/>
              </a:rPr>
              <a:t>　</a:t>
            </a:r>
            <a:r>
              <a:rPr lang="ja-JP" altLang="en-US" sz="1200" b="1" dirty="0">
                <a:solidFill>
                  <a:srgbClr val="FF0000"/>
                </a:solidFill>
                <a:ea typeface="BIZ UDPゴシック"/>
              </a:rPr>
              <a:t>「パナソニックでよかった」</a:t>
            </a:r>
            <a:r>
              <a:rPr lang="ja-JP" altLang="en-US" sz="1200" b="1" dirty="0">
                <a:ea typeface="BIZ UDPゴシック"/>
              </a:rPr>
              <a:t>を体感へ</a:t>
            </a:r>
            <a:endParaRPr lang="en-US" altLang="ja-JP" sz="1200" b="1" dirty="0">
              <a:solidFill>
                <a:srgbClr val="3C4655"/>
              </a:solidFill>
              <a:ea typeface="BIZ UDPゴシック"/>
            </a:endParaRPr>
          </a:p>
          <a:p>
            <a:pPr lvl="0">
              <a:defRPr/>
            </a:pPr>
            <a:r>
              <a:rPr lang="ja-JP" altLang="en-US" sz="1200" dirty="0">
                <a:solidFill>
                  <a:srgbClr val="3C4655"/>
                </a:solidFill>
                <a:ea typeface="BIZ UDPゴシック"/>
              </a:rPr>
              <a:t>・お客様の言葉へ翻訳</a:t>
            </a:r>
            <a:endParaRPr lang="en-US" altLang="ja-JP" sz="1200" dirty="0">
              <a:solidFill>
                <a:srgbClr val="3C4655"/>
              </a:solidFill>
              <a:ea typeface="BIZ UDPゴシック"/>
            </a:endParaRPr>
          </a:p>
          <a:p>
            <a:pPr lvl="0">
              <a:defRPr/>
            </a:pPr>
            <a:r>
              <a:rPr lang="ja-JP" altLang="en-US" sz="1200" dirty="0">
                <a:solidFill>
                  <a:srgbClr val="3C4655"/>
                </a:solidFill>
                <a:ea typeface="BIZ UDPゴシック"/>
              </a:rPr>
              <a:t>・手放すまで続く接点</a:t>
            </a:r>
            <a:endParaRPr lang="en-US" altLang="ja-JP" sz="1200" dirty="0">
              <a:solidFill>
                <a:srgbClr val="3C4655"/>
              </a:solidFill>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dirty="0">
                <a:ln>
                  <a:noFill/>
                </a:ln>
                <a:effectLst/>
                <a:uLnTx/>
                <a:uFillTx/>
                <a:latin typeface="BIZ UDPゴシック"/>
                <a:ea typeface="BIZ UDPゴシック"/>
              </a:rPr>
              <a:t>＞リアル</a:t>
            </a:r>
            <a:endParaRPr kumimoji="0" lang="en-US" altLang="ja-JP" sz="1200" b="1" i="0" u="none" strike="noStrike" kern="1200" cap="none" spc="0" normalizeH="0" baseline="0" noProof="0" dirty="0">
              <a:ln>
                <a:noFill/>
              </a:ln>
              <a:effectLst/>
              <a:uLnTx/>
              <a:uFillTx/>
              <a:latin typeface="BIZ UDPゴシック"/>
              <a:ea typeface="BIZ UDPゴシック"/>
            </a:endParaRPr>
          </a:p>
          <a:p>
            <a:pPr lvl="0">
              <a:defRPr/>
            </a:pPr>
            <a:r>
              <a:rPr lang="ja-JP" altLang="en-US" sz="1200" dirty="0">
                <a:ea typeface="BIZ UDPゴシック"/>
              </a:rPr>
              <a:t>・大人の社会科見学など体験接点で、信じられる理由を</a:t>
            </a:r>
            <a:r>
              <a:rPr lang="ja-JP" altLang="en-US" sz="1200" b="1" dirty="0">
                <a:ea typeface="BIZ UDPゴシック"/>
              </a:rPr>
              <a:t>体感</a:t>
            </a:r>
            <a:r>
              <a:rPr lang="ja-JP" altLang="en-US" sz="1200" dirty="0">
                <a:ea typeface="BIZ UDPゴシック"/>
              </a:rPr>
              <a:t>へ（こだわりガチャ、家電のメモリアルパーツ）</a:t>
            </a:r>
            <a:endParaRPr kumimoji="0" lang="en-US" altLang="ja-JP" sz="1200" i="0" u="none" strike="noStrike" kern="1200" cap="none" spc="0" normalizeH="0" baseline="0" noProof="0" dirty="0">
              <a:ln>
                <a:noFill/>
              </a:ln>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200" i="0" u="none" strike="noStrike" kern="1200" cap="none" spc="0" normalizeH="0" baseline="0" noProof="0" dirty="0">
              <a:ln>
                <a:noFill/>
              </a:ln>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latin typeface="BIZ UDPゴシック"/>
                <a:ea typeface="BIZ UDPゴシック"/>
              </a:rPr>
              <a:t>＞デジタル</a:t>
            </a:r>
            <a:endParaRPr lang="en-US" altLang="ja-JP" sz="1200" b="1" dirty="0">
              <a:latin typeface="BIZ UDPゴシック"/>
              <a:ea typeface="BIZ UDPゴシック"/>
            </a:endParaRPr>
          </a:p>
          <a:p>
            <a:pPr lvl="0">
              <a:defRPr/>
            </a:pPr>
            <a:r>
              <a:rPr lang="ja-JP" altLang="en-US" sz="1200" dirty="0">
                <a:ea typeface="BIZ UDPゴシック"/>
              </a:rPr>
              <a:t>・バーチャル工場見学</a:t>
            </a:r>
            <a:endParaRPr lang="en-US" altLang="ja-JP" sz="1200" dirty="0">
              <a:ea typeface="BIZ UDPゴシック"/>
            </a:endParaRPr>
          </a:p>
          <a:p>
            <a:pPr lvl="0">
              <a:defRPr/>
            </a:pPr>
            <a:r>
              <a:rPr lang="ja-JP" altLang="en-US" sz="1200" dirty="0">
                <a:ea typeface="BIZ UDPゴシック"/>
              </a:rPr>
              <a:t>・見えないこだわりをお客様視点で見える化（</a:t>
            </a:r>
            <a:r>
              <a:rPr lang="en-US" altLang="ja-JP" sz="1200" dirty="0">
                <a:ea typeface="BIZ UDPゴシック"/>
              </a:rPr>
              <a:t>SNS</a:t>
            </a:r>
            <a:r>
              <a:rPr lang="ja-JP" altLang="en-US" sz="1200" dirty="0">
                <a:ea typeface="BIZ UDPゴシック"/>
              </a:rPr>
              <a:t>等）</a:t>
            </a:r>
            <a:endParaRPr lang="en-US" altLang="ja-JP" sz="1200" dirty="0">
              <a:ea typeface="BIZ UDPゴシック"/>
            </a:endParaRPr>
          </a:p>
          <a:p>
            <a:pPr lvl="0">
              <a:defRPr/>
            </a:pPr>
            <a:r>
              <a:rPr lang="ja-JP" altLang="en-US" sz="1200" dirty="0">
                <a:ea typeface="BIZ UDPゴシック"/>
              </a:rPr>
              <a:t>・社員向けコンテンツ</a:t>
            </a:r>
            <a:endParaRPr lang="en-US" altLang="ja-JP" sz="1200" dirty="0">
              <a:ea typeface="BIZ UDPゴシック"/>
            </a:endParaRPr>
          </a:p>
        </p:txBody>
      </p:sp>
      <p:sp>
        <p:nvSpPr>
          <p:cNvPr id="46" name="Text 44">
            <a:extLst>
              <a:ext uri="{FF2B5EF4-FFF2-40B4-BE49-F238E27FC236}">
                <a16:creationId xmlns:a16="http://schemas.microsoft.com/office/drawing/2014/main" id="{D2C2B212-C8C3-58C2-F788-28DEC681123B}"/>
              </a:ext>
            </a:extLst>
          </p:cNvPr>
          <p:cNvSpPr/>
          <p:nvPr/>
        </p:nvSpPr>
        <p:spPr>
          <a:xfrm>
            <a:off x="8110728" y="5888736"/>
            <a:ext cx="3337560" cy="33832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7" name="Slide Number Placeholder 0">
            <a:extLst>
              <a:ext uri="{FF2B5EF4-FFF2-40B4-BE49-F238E27FC236}">
                <a16:creationId xmlns:a16="http://schemas.microsoft.com/office/drawing/2014/main" id="{02790C5D-4F42-AD54-88B2-393BEB7AC29D}"/>
              </a:ext>
            </a:extLst>
          </p:cNvPr>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srgbClr val="667085"/>
                </a:solidFill>
                <a:effectLst/>
                <a:uLnTx/>
                <a:uFillTx/>
                <a:latin typeface="BIZ UDPゴシック"/>
                <a:ea typeface="BIZ UDPゴシック"/>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667085"/>
              </a:solidFill>
              <a:effectLst/>
              <a:uLnTx/>
              <a:uFillTx/>
              <a:latin typeface="BIZ UDPゴシック"/>
              <a:ea typeface="BIZ UDPゴシック"/>
            </a:endParaRPr>
          </a:p>
        </p:txBody>
      </p:sp>
      <p:pic>
        <p:nvPicPr>
          <p:cNvPr id="50" name="Picture 49" descr="image.png"/>
          <p:cNvPicPr>
            <a:picLocks noChangeAspect="1"/>
          </p:cNvPicPr>
          <p:nvPr/>
        </p:nvPicPr>
        <p:blipFill>
          <a:blip r:embed="rId2"/>
          <a:stretch>
            <a:fillRect/>
          </a:stretch>
        </p:blipFill>
        <p:spPr>
          <a:xfrm>
            <a:off x="10617572" y="45720"/>
            <a:ext cx="1295672" cy="210312"/>
          </a:xfrm>
          <a:prstGeom prst="rect">
            <a:avLst/>
          </a:prstGeom>
        </p:spPr>
      </p:pic>
      <p:sp>
        <p:nvSpPr>
          <p:cNvPr id="10" name="正方形/長方形 9">
            <a:extLst>
              <a:ext uri="{FF2B5EF4-FFF2-40B4-BE49-F238E27FC236}">
                <a16:creationId xmlns:a16="http://schemas.microsoft.com/office/drawing/2014/main" id="{5F1A6ABF-75A8-0470-0DC4-37675DBBD934}"/>
              </a:ext>
            </a:extLst>
          </p:cNvPr>
          <p:cNvSpPr/>
          <p:nvPr/>
        </p:nvSpPr>
        <p:spPr>
          <a:xfrm>
            <a:off x="9525" y="18869"/>
            <a:ext cx="694944" cy="2590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上野・平野</a:t>
            </a:r>
          </a:p>
        </p:txBody>
      </p:sp>
      <p:pic>
        <p:nvPicPr>
          <p:cNvPr id="45" name="図 44">
            <a:extLst>
              <a:ext uri="{FF2B5EF4-FFF2-40B4-BE49-F238E27FC236}">
                <a16:creationId xmlns:a16="http://schemas.microsoft.com/office/drawing/2014/main" id="{EF381F08-F9F0-2EE0-E712-B7874BFCE918}"/>
              </a:ext>
            </a:extLst>
          </p:cNvPr>
          <p:cNvPicPr>
            <a:picLocks noChangeAspect="1"/>
          </p:cNvPicPr>
          <p:nvPr/>
        </p:nvPicPr>
        <p:blipFill>
          <a:blip r:embed="rId3"/>
          <a:stretch>
            <a:fillRect/>
          </a:stretch>
        </p:blipFill>
        <p:spPr>
          <a:xfrm>
            <a:off x="3956253" y="4065442"/>
            <a:ext cx="3719332" cy="1630958"/>
          </a:xfrm>
          <a:prstGeom prst="rect">
            <a:avLst/>
          </a:prstGeom>
        </p:spPr>
      </p:pic>
      <p:pic>
        <p:nvPicPr>
          <p:cNvPr id="51" name="Image 0" descr="images/image-dcfc1fbb6d3653ebe2841ae61a4e91c7.jpg">
            <a:extLst>
              <a:ext uri="{FF2B5EF4-FFF2-40B4-BE49-F238E27FC236}">
                <a16:creationId xmlns:a16="http://schemas.microsoft.com/office/drawing/2014/main" id="{727B6966-911F-D459-0268-88E8DEB5A86F}"/>
              </a:ext>
            </a:extLst>
          </p:cNvPr>
          <p:cNvPicPr>
            <a:picLocks noChangeAspect="1"/>
          </p:cNvPicPr>
          <p:nvPr/>
        </p:nvPicPr>
        <p:blipFill>
          <a:blip r:embed="rId4"/>
          <a:srcRect t="10000" b="10000"/>
          <a:stretch/>
        </p:blipFill>
        <p:spPr>
          <a:xfrm>
            <a:off x="536448" y="3993187"/>
            <a:ext cx="2929128" cy="1562201"/>
          </a:xfrm>
          <a:prstGeom prst="rect">
            <a:avLst/>
          </a:prstGeom>
        </p:spPr>
      </p:pic>
      <p:sp>
        <p:nvSpPr>
          <p:cNvPr id="54" name="テキスト ボックス 53">
            <a:extLst>
              <a:ext uri="{FF2B5EF4-FFF2-40B4-BE49-F238E27FC236}">
                <a16:creationId xmlns:a16="http://schemas.microsoft.com/office/drawing/2014/main" id="{146756CE-4B9D-3B80-F2FA-E20D8D5EB423}"/>
              </a:ext>
            </a:extLst>
          </p:cNvPr>
          <p:cNvSpPr txBox="1"/>
          <p:nvPr/>
        </p:nvSpPr>
        <p:spPr>
          <a:xfrm>
            <a:off x="8446302" y="6255741"/>
            <a:ext cx="2090340" cy="584775"/>
          </a:xfrm>
          <a:prstGeom prst="rect">
            <a:avLst/>
          </a:prstGeom>
          <a:noFill/>
        </p:spPr>
        <p:txBody>
          <a:bodyPr wrap="square">
            <a:spAutoFit/>
          </a:bodyPr>
          <a:lstStyle/>
          <a:p>
            <a:r>
              <a:rPr lang="ja-JP" altLang="en-US" sz="800"/>
              <a:t>https://note.connect.panasonic.com/n/n46f3f24f670a?gs=d1ed1365ecf74397355364fd77a6160c</a:t>
            </a:r>
          </a:p>
        </p:txBody>
      </p:sp>
      <p:pic>
        <p:nvPicPr>
          <p:cNvPr id="55" name="図 54" descr="画像">
            <a:extLst>
              <a:ext uri="{FF2B5EF4-FFF2-40B4-BE49-F238E27FC236}">
                <a16:creationId xmlns:a16="http://schemas.microsoft.com/office/drawing/2014/main" id="{700716A6-2DDF-53DE-62D2-7CB49B7BAE8E}"/>
              </a:ext>
            </a:extLst>
          </p:cNvPr>
          <p:cNvPicPr>
            <a:picLocks noChangeAspect="1"/>
          </p:cNvPicPr>
          <p:nvPr/>
        </p:nvPicPr>
        <p:blipFill>
          <a:blip r:embed="rId5"/>
          <a:stretch>
            <a:fillRect/>
          </a:stretch>
        </p:blipFill>
        <p:spPr>
          <a:xfrm>
            <a:off x="8304475" y="3871498"/>
            <a:ext cx="2929129" cy="2196847"/>
          </a:xfrm>
          <a:prstGeom prst="rect">
            <a:avLst/>
          </a:prstGeom>
        </p:spPr>
      </p:pic>
    </p:spTree>
    <p:extLst>
      <p:ext uri="{BB962C8B-B14F-4D97-AF65-F5344CB8AC3E}">
        <p14:creationId xmlns:p14="http://schemas.microsoft.com/office/powerpoint/2010/main" val="3383295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0" name="Rectangle 49"/>
          <p:cNvSpPr/>
          <p:nvPr/>
        </p:nvSpPr>
        <p:spPr>
          <a:xfrm>
            <a:off x="0" y="0"/>
            <a:ext cx="12192000" cy="292608"/>
          </a:xfrm>
          <a:prstGeom prst="rect">
            <a:avLst/>
          </a:prstGeom>
          <a:solidFill>
            <a:srgbClr val="004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BIZ UDPゴシック"/>
              <a:ea typeface="BIZ UDPゴシック"/>
            </a:endParaRPr>
          </a:p>
        </p:txBody>
      </p:sp>
      <p:sp>
        <p:nvSpPr>
          <p:cNvPr id="2" name="Text 0"/>
          <p:cNvSpPr/>
          <p:nvPr/>
        </p:nvSpPr>
        <p:spPr>
          <a:xfrm>
            <a:off x="475488" y="292608"/>
            <a:ext cx="2194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20" normalizeH="0" baseline="0" noProof="0">
                <a:ln>
                  <a:noFill/>
                </a:ln>
                <a:solidFill>
                  <a:srgbClr val="D96B18"/>
                </a:solidFill>
                <a:effectLst/>
                <a:uLnTx/>
                <a:uFillTx/>
                <a:latin typeface="BIZ UDPゴシック"/>
                <a:ea typeface="BIZ UDPゴシック"/>
              </a:rPr>
              <a:t>04｜CUSTOMER SERVICE</a:t>
            </a:r>
            <a:endParaRPr kumimoji="0" lang="en-US" sz="9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 name="Text 1"/>
          <p:cNvSpPr/>
          <p:nvPr/>
        </p:nvSpPr>
        <p:spPr>
          <a:xfrm>
            <a:off x="475488" y="566928"/>
            <a:ext cx="8046720" cy="4114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1D35"/>
                </a:solidFill>
                <a:effectLst/>
                <a:uLnTx/>
                <a:uFillTx/>
                <a:latin typeface="BIZ UDPゴシック"/>
                <a:ea typeface="BIZ UDPゴシック"/>
              </a:rPr>
              <a:t>CS｜購入後の安心を、購入前の選択価値へ</a:t>
            </a:r>
            <a:endParaRPr kumimoji="0" lang="en-US" sz="24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 name="Text 2"/>
          <p:cNvSpPr/>
          <p:nvPr/>
        </p:nvSpPr>
        <p:spPr>
          <a:xfrm>
            <a:off x="493776" y="1024128"/>
            <a:ext cx="5943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67085"/>
                </a:solidFill>
                <a:effectLst/>
                <a:uLnTx/>
                <a:uFillTx/>
                <a:latin typeface="BIZ UDPゴシック"/>
                <a:ea typeface="BIZ UDPゴシック"/>
              </a:rPr>
              <a:t>担当者が詳細を追記・更新する共通フォーマット</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5" name="Shape 3"/>
          <p:cNvSpPr/>
          <p:nvPr/>
        </p:nvSpPr>
        <p:spPr>
          <a:xfrm>
            <a:off x="8732520" y="411480"/>
            <a:ext cx="2926080" cy="713232"/>
          </a:xfrm>
          <a:prstGeom prst="roundRect">
            <a:avLst>
              <a:gd name="adj" fmla="val 6410"/>
            </a:avLst>
          </a:prstGeom>
          <a:solidFill>
            <a:srgbClr val="FFF1E5"/>
          </a:solidFill>
          <a:ln w="12700">
            <a:solidFill>
              <a:srgbClr val="D96B1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6" name="Text 4"/>
          <p:cNvSpPr/>
          <p:nvPr/>
        </p:nvSpPr>
        <p:spPr>
          <a:xfrm>
            <a:off x="8942832" y="548640"/>
            <a:ext cx="1097280" cy="12801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D96B18"/>
                </a:solidFill>
                <a:effectLst/>
                <a:uLnTx/>
                <a:uFillTx/>
                <a:latin typeface="BIZ UDPゴシック"/>
                <a:ea typeface="BIZ UDPゴシック"/>
              </a:rPr>
              <a:t>カテゴリの一言定義</a:t>
            </a:r>
            <a:endParaRPr kumimoji="0" lang="en-US" sz="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7" name="Text 5"/>
          <p:cNvSpPr/>
          <p:nvPr/>
        </p:nvSpPr>
        <p:spPr>
          <a:xfrm>
            <a:off x="8942832" y="768096"/>
            <a:ext cx="2487168" cy="146304"/>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01D35"/>
                </a:solidFill>
                <a:effectLst/>
                <a:uLnTx/>
                <a:uFillTx/>
                <a:latin typeface="BIZ UDPゴシック"/>
                <a:ea typeface="BIZ UDPゴシック"/>
              </a:rPr>
              <a:t>「任せられる理由」を具体化</a:t>
            </a:r>
            <a:endParaRPr kumimoji="0" lang="en-US" sz="11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1" name="Shape 9"/>
          <p:cNvSpPr/>
          <p:nvPr/>
        </p:nvSpPr>
        <p:spPr>
          <a:xfrm>
            <a:off x="594360" y="1975104"/>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2" name="Text 10"/>
          <p:cNvSpPr/>
          <p:nvPr/>
        </p:nvSpPr>
        <p:spPr>
          <a:xfrm>
            <a:off x="795528" y="2139696"/>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01｜現状・強み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3" name="Shape 11"/>
          <p:cNvSpPr/>
          <p:nvPr/>
        </p:nvSpPr>
        <p:spPr>
          <a:xfrm>
            <a:off x="795528" y="2450592"/>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5" name="Shape 13"/>
          <p:cNvSpPr/>
          <p:nvPr/>
        </p:nvSpPr>
        <p:spPr>
          <a:xfrm>
            <a:off x="4489704" y="1975104"/>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6" name="Text 14"/>
          <p:cNvSpPr/>
          <p:nvPr/>
        </p:nvSpPr>
        <p:spPr>
          <a:xfrm>
            <a:off x="4690872" y="2139696"/>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02｜課題・伝達ギャップ</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7" name="Shape 15"/>
          <p:cNvSpPr/>
          <p:nvPr/>
        </p:nvSpPr>
        <p:spPr>
          <a:xfrm>
            <a:off x="4690872" y="2450592"/>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9" name="Shape 17"/>
          <p:cNvSpPr/>
          <p:nvPr/>
        </p:nvSpPr>
        <p:spPr>
          <a:xfrm>
            <a:off x="8385048" y="1975104"/>
            <a:ext cx="3410712"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0" name="Text 18"/>
          <p:cNvSpPr/>
          <p:nvPr/>
        </p:nvSpPr>
        <p:spPr>
          <a:xfrm>
            <a:off x="8586216" y="2139696"/>
            <a:ext cx="3008376"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03｜提案・目指す姿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1" name="Shape 19"/>
          <p:cNvSpPr/>
          <p:nvPr/>
        </p:nvSpPr>
        <p:spPr>
          <a:xfrm>
            <a:off x="8586216" y="2450592"/>
            <a:ext cx="3008376"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3" name="Shape 21"/>
          <p:cNvSpPr/>
          <p:nvPr/>
        </p:nvSpPr>
        <p:spPr>
          <a:xfrm>
            <a:off x="475488" y="4846320"/>
            <a:ext cx="7150608"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4" name="Text 22"/>
          <p:cNvSpPr/>
          <p:nvPr/>
        </p:nvSpPr>
        <p:spPr>
          <a:xfrm>
            <a:off x="676656" y="5010912"/>
            <a:ext cx="19202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会議で出たアイデアの芽</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5" name="Text 23"/>
          <p:cNvSpPr/>
          <p:nvPr/>
        </p:nvSpPr>
        <p:spPr>
          <a:xfrm>
            <a:off x="2971800" y="5029200"/>
            <a:ext cx="3337560"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667085"/>
                </a:solidFill>
                <a:effectLst/>
                <a:uLnTx/>
                <a:uFillTx/>
                <a:latin typeface="BIZ UDPゴシック"/>
                <a:ea typeface="BIZ UDPゴシック"/>
              </a:rPr>
              <a:t>採否・表現・優先順位は担当者で更新</a:t>
            </a:r>
            <a:endParaRPr kumimoji="0" lang="en-US" sz="8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6" name="Shape 24"/>
          <p:cNvSpPr/>
          <p:nvPr/>
        </p:nvSpPr>
        <p:spPr>
          <a:xfrm>
            <a:off x="676656" y="5321808"/>
            <a:ext cx="6748272"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7" name="Shape 25"/>
          <p:cNvSpPr/>
          <p:nvPr/>
        </p:nvSpPr>
        <p:spPr>
          <a:xfrm>
            <a:off x="694944"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8" name="Text 26"/>
          <p:cNvSpPr/>
          <p:nvPr/>
        </p:nvSpPr>
        <p:spPr>
          <a:xfrm>
            <a:off x="768096"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問い合わせ導線</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9" name="Shape 27"/>
          <p:cNvSpPr/>
          <p:nvPr/>
        </p:nvSpPr>
        <p:spPr>
          <a:xfrm>
            <a:off x="2048256"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0" name="Text 28"/>
          <p:cNvSpPr/>
          <p:nvPr/>
        </p:nvSpPr>
        <p:spPr>
          <a:xfrm>
            <a:off x="2121408"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修理・サービス拠点</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1" name="Shape 29"/>
          <p:cNvSpPr/>
          <p:nvPr/>
        </p:nvSpPr>
        <p:spPr>
          <a:xfrm>
            <a:off x="3401568"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2" name="Text 30"/>
          <p:cNvSpPr/>
          <p:nvPr/>
        </p:nvSpPr>
        <p:spPr>
          <a:xfrm>
            <a:off x="3474720"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延長保証</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3" name="Shape 31"/>
          <p:cNvSpPr/>
          <p:nvPr/>
        </p:nvSpPr>
        <p:spPr>
          <a:xfrm>
            <a:off x="4754880"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4" name="Text 32"/>
          <p:cNvSpPr/>
          <p:nvPr/>
        </p:nvSpPr>
        <p:spPr>
          <a:xfrm>
            <a:off x="4828032"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オンライン相談</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5" name="Shape 33"/>
          <p:cNvSpPr/>
          <p:nvPr/>
        </p:nvSpPr>
        <p:spPr>
          <a:xfrm>
            <a:off x="6108192"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6" name="Text 34"/>
          <p:cNvSpPr/>
          <p:nvPr/>
        </p:nvSpPr>
        <p:spPr>
          <a:xfrm>
            <a:off x="6181344"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困った時カード</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7" name="Shape 35"/>
          <p:cNvSpPr/>
          <p:nvPr/>
        </p:nvSpPr>
        <p:spPr>
          <a:xfrm>
            <a:off x="694944" y="5715000"/>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8" name="Text 36"/>
          <p:cNvSpPr/>
          <p:nvPr/>
        </p:nvSpPr>
        <p:spPr>
          <a:xfrm>
            <a:off x="768096" y="5788152"/>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価値カード</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9" name="Shape 37"/>
          <p:cNvSpPr/>
          <p:nvPr/>
        </p:nvSpPr>
        <p:spPr>
          <a:xfrm>
            <a:off x="2048256" y="5715000"/>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0" name="Text 38"/>
          <p:cNvSpPr/>
          <p:nvPr/>
        </p:nvSpPr>
        <p:spPr>
          <a:xfrm>
            <a:off x="2121408" y="5788152"/>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口コミのきっかけ</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1" name="Shape 39"/>
          <p:cNvSpPr/>
          <p:nvPr/>
        </p:nvSpPr>
        <p:spPr>
          <a:xfrm>
            <a:off x="3401568" y="5715000"/>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2" name="Text 40"/>
          <p:cNvSpPr/>
          <p:nvPr/>
        </p:nvSpPr>
        <p:spPr>
          <a:xfrm>
            <a:off x="3474720" y="5788152"/>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長くつながる</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3" name="Shape 41"/>
          <p:cNvSpPr/>
          <p:nvPr/>
        </p:nvSpPr>
        <p:spPr>
          <a:xfrm>
            <a:off x="7882128" y="4846320"/>
            <a:ext cx="3794760"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4" name="Text 42"/>
          <p:cNvSpPr/>
          <p:nvPr/>
        </p:nvSpPr>
        <p:spPr>
          <a:xfrm>
            <a:off x="8083296" y="5010912"/>
            <a:ext cx="3392424"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担当者メモ</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5" name="Shape 43"/>
          <p:cNvSpPr/>
          <p:nvPr/>
        </p:nvSpPr>
        <p:spPr>
          <a:xfrm>
            <a:off x="8083296" y="5321808"/>
            <a:ext cx="3392424"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6" name="Text 44"/>
          <p:cNvSpPr/>
          <p:nvPr/>
        </p:nvSpPr>
        <p:spPr>
          <a:xfrm>
            <a:off x="8110728" y="5468112"/>
            <a:ext cx="3337560" cy="338328"/>
          </a:xfrm>
          <a:prstGeom prst="rect">
            <a:avLst/>
          </a:prstGeom>
          <a:noFill/>
          <a:ln/>
        </p:spPr>
        <p:txBody>
          <a:bodyPr wrap="square" lIns="508" tIns="508" rIns="508" bIns="508" rtlCol="0" anchor="ct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・追加調査／確認先</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・使いたい写真・動画・数値</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・社外公開可否／出典</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7" name="Slide Number Placeholder 0"/>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srgbClr val="667085"/>
                </a:solidFill>
                <a:effectLst/>
                <a:uLnTx/>
                <a:uFillTx/>
                <a:latin typeface="BIZ UDPゴシック"/>
                <a:ea typeface="BIZ UDPゴシック"/>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667085"/>
              </a:solidFill>
              <a:effectLst/>
              <a:uLnTx/>
              <a:uFillTx/>
              <a:latin typeface="BIZ UDPゴシック"/>
              <a:ea typeface="BIZ UDPゴシック"/>
            </a:endParaRPr>
          </a:p>
        </p:txBody>
      </p:sp>
      <p:pic>
        <p:nvPicPr>
          <p:cNvPr id="51" name="Picture 50" descr="image.png"/>
          <p:cNvPicPr>
            <a:picLocks noChangeAspect="1"/>
          </p:cNvPicPr>
          <p:nvPr/>
        </p:nvPicPr>
        <p:blipFill>
          <a:blip r:embed="rId3"/>
          <a:stretch>
            <a:fillRect/>
          </a:stretch>
        </p:blipFill>
        <p:spPr>
          <a:xfrm>
            <a:off x="10607040" y="45720"/>
            <a:ext cx="1316736" cy="210312"/>
          </a:xfrm>
          <a:prstGeom prst="rect">
            <a:avLst/>
          </a:prstGeom>
        </p:spPr>
      </p:pic>
      <p:sp>
        <p:nvSpPr>
          <p:cNvPr id="9" name="Text 16">
            <a:extLst>
              <a:ext uri="{FF2B5EF4-FFF2-40B4-BE49-F238E27FC236}">
                <a16:creationId xmlns:a16="http://schemas.microsoft.com/office/drawing/2014/main" id="{E9F25ABE-7384-A628-774B-1C217ACD3544}"/>
              </a:ext>
            </a:extLst>
          </p:cNvPr>
          <p:cNvSpPr/>
          <p:nvPr/>
        </p:nvSpPr>
        <p:spPr>
          <a:xfrm>
            <a:off x="4640580" y="2596896"/>
            <a:ext cx="3163824"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パナソニック</a:t>
            </a:r>
            <a:r>
              <a:rPr kumimoji="0" lang="en-US" altLang="ja-JP" sz="1200" b="0" i="0" u="none" strike="noStrike" kern="1200" cap="none" spc="0" normalizeH="0" baseline="0" noProof="0">
                <a:ln>
                  <a:noFill/>
                </a:ln>
                <a:solidFill>
                  <a:prstClr val="black"/>
                </a:solidFill>
                <a:effectLst/>
                <a:uLnTx/>
                <a:uFillTx/>
                <a:latin typeface="BIZ UDPゴシック"/>
                <a:ea typeface="BIZ UDPゴシック"/>
              </a:rPr>
              <a:t>CS</a:t>
            </a: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の</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価値が伝わり切っていない</a:t>
            </a:r>
            <a:endParaRPr kumimoji="0" lang="en-US" altLang="ja-JP" sz="1200" b="1" i="0" u="none" strike="noStrike" kern="1200" cap="none" spc="0" normalizeH="0" baseline="0" noProof="0">
              <a:ln>
                <a:noFill/>
              </a:ln>
              <a:solidFill>
                <a:srgbClr val="FF0000"/>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充実した</a:t>
            </a:r>
            <a:r>
              <a:rPr kumimoji="0" lang="en-US" altLang="ja-JP" sz="1200" b="0" i="0" u="none" strike="noStrike" kern="1200" cap="none" spc="0" normalizeH="0" baseline="0" noProof="0">
                <a:ln>
                  <a:noFill/>
                </a:ln>
                <a:solidFill>
                  <a:prstClr val="black"/>
                </a:solidFill>
                <a:effectLst/>
                <a:uLnTx/>
                <a:uFillTx/>
                <a:latin typeface="BIZ UDPゴシック"/>
                <a:ea typeface="BIZ UDPゴシック"/>
              </a:rPr>
              <a:t>CS</a:t>
            </a: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による安心を感じてもらいたい</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8" name="Text 20">
            <a:extLst>
              <a:ext uri="{FF2B5EF4-FFF2-40B4-BE49-F238E27FC236}">
                <a16:creationId xmlns:a16="http://schemas.microsoft.com/office/drawing/2014/main" id="{E3C5DE52-F7B5-83E1-1730-83D62B03D70F}"/>
              </a:ext>
            </a:extLst>
          </p:cNvPr>
          <p:cNvSpPr/>
          <p:nvPr/>
        </p:nvSpPr>
        <p:spPr>
          <a:xfrm>
            <a:off x="8641842" y="2596896"/>
            <a:ext cx="2953512"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購入に繋げるという点で、</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お買い物の最中にその安心を思い出してもらえる</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53" name="Text 16">
            <a:extLst>
              <a:ext uri="{FF2B5EF4-FFF2-40B4-BE49-F238E27FC236}">
                <a16:creationId xmlns:a16="http://schemas.microsoft.com/office/drawing/2014/main" id="{87B329DF-6855-46D6-250E-6CD36DF73B92}"/>
              </a:ext>
            </a:extLst>
          </p:cNvPr>
          <p:cNvSpPr/>
          <p:nvPr/>
        </p:nvSpPr>
        <p:spPr>
          <a:xfrm>
            <a:off x="776859" y="2601469"/>
            <a:ext cx="3589020" cy="1527048"/>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家電のコモディティ化が進む中、</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1200" cap="none" spc="0" normalizeH="0" baseline="0" noProof="0">
                <a:ln>
                  <a:noFill/>
                </a:ln>
                <a:solidFill>
                  <a:srgbClr val="FF0000"/>
                </a:solidFill>
                <a:effectLst/>
                <a:uLnTx/>
                <a:uFillTx/>
                <a:latin typeface="BIZ UDPゴシック"/>
                <a:ea typeface="BIZ UDPゴシック"/>
              </a:rPr>
              <a:t>CS</a:t>
            </a:r>
            <a:r>
              <a:rPr kumimoji="0" lang="ja-JP" altLang="en-US" sz="1200" b="1" i="0" u="none" strike="noStrike" kern="1200" cap="none" spc="0" normalizeH="0" baseline="0" noProof="0">
                <a:ln>
                  <a:noFill/>
                </a:ln>
                <a:solidFill>
                  <a:srgbClr val="FF0000"/>
                </a:solidFill>
                <a:effectLst/>
                <a:uLnTx/>
                <a:uFillTx/>
                <a:latin typeface="BIZ UDPゴシック"/>
                <a:ea typeface="BIZ UDPゴシック"/>
              </a:rPr>
              <a:t>は差別化ポイント</a:t>
            </a:r>
            <a:endParaRPr kumimoji="0" lang="en-US" altLang="ja-JP" sz="1200" b="1" i="0" u="none" strike="noStrike" kern="1200" cap="none" spc="0" normalizeH="0" baseline="0" noProof="0">
              <a:ln>
                <a:noFill/>
              </a:ln>
              <a:solidFill>
                <a:srgbClr val="FF0000"/>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パナソニック</a:t>
            </a:r>
            <a:r>
              <a:rPr kumimoji="0" lang="en-US" altLang="ja-JP" sz="1200" b="0" i="0" u="none" strike="noStrike" kern="1200" cap="none" spc="0" normalizeH="0" baseline="0" noProof="0">
                <a:ln>
                  <a:noFill/>
                </a:ln>
                <a:solidFill>
                  <a:prstClr val="black"/>
                </a:solidFill>
                <a:effectLst/>
                <a:uLnTx/>
                <a:uFillTx/>
                <a:latin typeface="BIZ UDPゴシック"/>
                <a:ea typeface="BIZ UDPゴシック"/>
              </a:rPr>
              <a:t>CS</a:t>
            </a: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の強み</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　困ったときの問い合わせ先がわかりやすい</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　問い合わせ先がフリーダイヤル</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　商品別の電話番号で繋がりやすい</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　サービス拠点が全国</a:t>
            </a:r>
            <a:r>
              <a:rPr kumimoji="0" lang="en-US" altLang="ja-JP" sz="1200" b="0" i="0" u="none" strike="noStrike" kern="1200" cap="none" spc="0" normalizeH="0" baseline="0" noProof="0">
                <a:ln>
                  <a:noFill/>
                </a:ln>
                <a:solidFill>
                  <a:prstClr val="black"/>
                </a:solidFill>
                <a:effectLst/>
                <a:uLnTx/>
                <a:uFillTx/>
                <a:latin typeface="BIZ UDPゴシック"/>
                <a:ea typeface="BIZ UDPゴシック"/>
              </a:rPr>
              <a:t>100</a:t>
            </a: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か所以上で迅速対応</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　ネット接続品の延長保証（</a:t>
            </a:r>
            <a:r>
              <a:rPr kumimoji="0" lang="en-US" altLang="ja-JP" sz="1200" b="0" i="0" u="none" strike="noStrike" kern="1200" cap="none" spc="0" normalizeH="0" baseline="0" noProof="0">
                <a:ln>
                  <a:noFill/>
                </a:ln>
                <a:solidFill>
                  <a:prstClr val="black"/>
                </a:solidFill>
                <a:effectLst/>
                <a:uLnTx/>
                <a:uFillTx/>
                <a:latin typeface="BIZ UDPゴシック"/>
                <a:ea typeface="BIZ UDPゴシック"/>
              </a:rPr>
              <a:t>3</a:t>
            </a: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年）</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prstClr val="black"/>
                </a:solidFill>
                <a:effectLst/>
                <a:uLnTx/>
                <a:uFillTx/>
                <a:latin typeface="BIZ UDPゴシック"/>
                <a:ea typeface="BIZ UDPゴシック"/>
              </a:rPr>
              <a:t>　無料のオンラインコンシェルジュサービス</a:t>
            </a:r>
            <a:endParaRPr kumimoji="0" lang="en-US" altLang="ja-JP"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0" name="正方形/長方形 9">
            <a:extLst>
              <a:ext uri="{FF2B5EF4-FFF2-40B4-BE49-F238E27FC236}">
                <a16:creationId xmlns:a16="http://schemas.microsoft.com/office/drawing/2014/main" id="{2D1A160C-7588-8047-8843-E302C8E60862}"/>
              </a:ext>
            </a:extLst>
          </p:cNvPr>
          <p:cNvSpPr/>
          <p:nvPr/>
        </p:nvSpPr>
        <p:spPr>
          <a:xfrm>
            <a:off x="9525" y="18869"/>
            <a:ext cx="694944" cy="2590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帆足</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FE32-CB33-CA05-FC10-55B1D8502758}"/>
            </a:ext>
          </a:extLst>
        </p:cNvPr>
        <p:cNvGrpSpPr/>
        <p:nvPr/>
      </p:nvGrpSpPr>
      <p:grpSpPr>
        <a:xfrm>
          <a:off x="0" y="0"/>
          <a:ext cx="1" cy="1"/>
          <a:chOff x="0" y="0"/>
          <a:chExt cx="1" cy="1"/>
        </a:xfrm>
      </p:grpSpPr>
      <p:sp>
        <p:nvSpPr>
          <p:cNvPr id="49" name="Rectangle 48"/>
          <p:cNvSpPr/>
          <p:nvPr/>
        </p:nvSpPr>
        <p:spPr>
          <a:xfrm>
            <a:off x="0" y="0"/>
            <a:ext cx="12192000" cy="292608"/>
          </a:xfrm>
          <a:prstGeom prst="rect">
            <a:avLst/>
          </a:prstGeom>
          <a:solidFill>
            <a:srgbClr val="004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BIZ UDPゴシック"/>
              <a:ea typeface="BIZ UDPゴシック"/>
            </a:endParaRPr>
          </a:p>
        </p:txBody>
      </p:sp>
      <p:sp>
        <p:nvSpPr>
          <p:cNvPr id="2" name="Text 0">
            <a:extLst>
              <a:ext uri="{FF2B5EF4-FFF2-40B4-BE49-F238E27FC236}">
                <a16:creationId xmlns:a16="http://schemas.microsoft.com/office/drawing/2014/main" id="{D0B78C40-9357-42EB-C534-8FA3F2D82B65}"/>
              </a:ext>
            </a:extLst>
          </p:cNvPr>
          <p:cNvSpPr/>
          <p:nvPr/>
        </p:nvSpPr>
        <p:spPr>
          <a:xfrm>
            <a:off x="475488" y="330708"/>
            <a:ext cx="2724912" cy="1640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20" normalizeH="0" baseline="0" noProof="0">
                <a:ln>
                  <a:noFill/>
                </a:ln>
                <a:solidFill>
                  <a:srgbClr val="D96B18"/>
                </a:solidFill>
                <a:effectLst/>
                <a:uLnTx/>
                <a:uFillTx/>
                <a:latin typeface="BIZ UDPゴシック"/>
                <a:ea typeface="BIZ UDPゴシック"/>
              </a:rPr>
              <a:t>04｜CUSTOMER SATISFACTION</a:t>
            </a:r>
            <a:endParaRPr kumimoji="0" lang="en-US" sz="9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 name="Text 1">
            <a:extLst>
              <a:ext uri="{FF2B5EF4-FFF2-40B4-BE49-F238E27FC236}">
                <a16:creationId xmlns:a16="http://schemas.microsoft.com/office/drawing/2014/main" id="{B1957688-CEE1-8973-F18F-BAF95798875C}"/>
              </a:ext>
            </a:extLst>
          </p:cNvPr>
          <p:cNvSpPr/>
          <p:nvPr/>
        </p:nvSpPr>
        <p:spPr>
          <a:xfrm>
            <a:off x="475488" y="566928"/>
            <a:ext cx="8046720" cy="411480"/>
          </a:xfrm>
          <a:prstGeom prst="rect">
            <a:avLst/>
          </a:prstGeom>
          <a:noFill/>
          <a:ln/>
        </p:spPr>
        <p:txBody>
          <a:bodyPr wrap="square" lIns="0" tIns="0" rIns="0" bIns="0"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err="1">
                <a:ln>
                  <a:noFill/>
                </a:ln>
                <a:solidFill>
                  <a:srgbClr val="001D35"/>
                </a:solidFill>
                <a:effectLst/>
                <a:uLnTx/>
                <a:uFillTx/>
                <a:latin typeface="BIZ UDPゴシック"/>
                <a:ea typeface="BIZ UDPゴシック"/>
              </a:rPr>
              <a:t>CS｜購入</a:t>
            </a:r>
            <a:r>
              <a:rPr kumimoji="0" lang="ja-JP" altLang="en-US" sz="2400" b="1" i="0" u="none" strike="noStrike" kern="1200" cap="none" spc="0" normalizeH="0" baseline="0" noProof="0">
                <a:ln>
                  <a:noFill/>
                </a:ln>
                <a:solidFill>
                  <a:srgbClr val="001D35"/>
                </a:solidFill>
                <a:effectLst/>
                <a:uLnTx/>
                <a:uFillTx/>
                <a:latin typeface="BIZ UDPゴシック"/>
                <a:ea typeface="BIZ UDPゴシック"/>
              </a:rPr>
              <a:t>者の価値理解促進 ➡ 価値の口コミ伝達もサポート</a:t>
            </a:r>
            <a:endParaRPr kumimoji="0" lang="en-US" sz="24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 name="Text 2">
            <a:extLst>
              <a:ext uri="{FF2B5EF4-FFF2-40B4-BE49-F238E27FC236}">
                <a16:creationId xmlns:a16="http://schemas.microsoft.com/office/drawing/2014/main" id="{8E29CBDF-D5C3-BA5A-3268-EC5A89088863}"/>
              </a:ext>
            </a:extLst>
          </p:cNvPr>
          <p:cNvSpPr/>
          <p:nvPr/>
        </p:nvSpPr>
        <p:spPr>
          <a:xfrm>
            <a:off x="493776" y="1024128"/>
            <a:ext cx="5943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50" b="1" i="0" u="none" strike="noStrike" kern="1200" cap="none" spc="0" normalizeH="0" baseline="0" noProof="0">
                <a:ln>
                  <a:noFill/>
                </a:ln>
                <a:solidFill>
                  <a:srgbClr val="667085"/>
                </a:solidFill>
                <a:effectLst/>
                <a:uLnTx/>
                <a:uFillTx/>
                <a:latin typeface="BIZ UDPゴシック"/>
                <a:ea typeface="BIZ UDPゴシック"/>
              </a:rPr>
              <a:t>商品の感性価値を伝える９枚＋困った時に</a:t>
            </a:r>
            <a:r>
              <a:rPr kumimoji="0" lang="en-US" altLang="ja-JP" sz="1050" b="1" i="0" u="none" strike="noStrike" kern="1200" cap="none" spc="0" normalizeH="0" baseline="0" noProof="0">
                <a:ln>
                  <a:noFill/>
                </a:ln>
                <a:solidFill>
                  <a:srgbClr val="667085"/>
                </a:solidFill>
                <a:effectLst/>
                <a:uLnTx/>
                <a:uFillTx/>
                <a:latin typeface="BIZ UDPゴシック"/>
                <a:ea typeface="BIZ UDPゴシック"/>
              </a:rPr>
              <a:t>CS</a:t>
            </a:r>
            <a:r>
              <a:rPr kumimoji="0" lang="ja-JP" altLang="en-US" sz="1050" b="1" i="0" u="none" strike="noStrike" kern="1200" cap="none" spc="0" normalizeH="0" baseline="0" noProof="0">
                <a:ln>
                  <a:noFill/>
                </a:ln>
                <a:solidFill>
                  <a:srgbClr val="667085"/>
                </a:solidFill>
                <a:effectLst/>
                <a:uLnTx/>
                <a:uFillTx/>
                <a:latin typeface="BIZ UDPゴシック"/>
                <a:ea typeface="BIZ UDPゴシック"/>
              </a:rPr>
              <a:t>につながる１枚</a:t>
            </a:r>
            <a:endParaRPr kumimoji="0" lang="en-US" sz="1050" b="1" i="0" u="none" strike="noStrike" kern="1200" cap="none" spc="0" normalizeH="0" baseline="0" noProof="0">
              <a:ln>
                <a:noFill/>
              </a:ln>
              <a:solidFill>
                <a:prstClr val="black"/>
              </a:solidFill>
              <a:effectLst/>
              <a:uLnTx/>
              <a:uFillTx/>
              <a:latin typeface="BIZ UDPゴシック"/>
              <a:ea typeface="BIZ UDPゴシック"/>
            </a:endParaRPr>
          </a:p>
        </p:txBody>
      </p:sp>
      <p:sp>
        <p:nvSpPr>
          <p:cNvPr id="5" name="Shape 3">
            <a:extLst>
              <a:ext uri="{FF2B5EF4-FFF2-40B4-BE49-F238E27FC236}">
                <a16:creationId xmlns:a16="http://schemas.microsoft.com/office/drawing/2014/main" id="{A0552F38-DB59-B52A-C4EE-D3D1674CAA75}"/>
              </a:ext>
            </a:extLst>
          </p:cNvPr>
          <p:cNvSpPr/>
          <p:nvPr/>
        </p:nvSpPr>
        <p:spPr>
          <a:xfrm>
            <a:off x="8732520" y="411480"/>
            <a:ext cx="2926080" cy="713232"/>
          </a:xfrm>
          <a:prstGeom prst="roundRect">
            <a:avLst>
              <a:gd name="adj" fmla="val 6410"/>
            </a:avLst>
          </a:prstGeom>
          <a:solidFill>
            <a:srgbClr val="FFF1E5"/>
          </a:solidFill>
          <a:ln w="12700">
            <a:solidFill>
              <a:srgbClr val="D96B1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6" name="Text 4">
            <a:extLst>
              <a:ext uri="{FF2B5EF4-FFF2-40B4-BE49-F238E27FC236}">
                <a16:creationId xmlns:a16="http://schemas.microsoft.com/office/drawing/2014/main" id="{EC23A908-619F-EDAA-642E-37B1783F5B0C}"/>
              </a:ext>
            </a:extLst>
          </p:cNvPr>
          <p:cNvSpPr/>
          <p:nvPr/>
        </p:nvSpPr>
        <p:spPr>
          <a:xfrm>
            <a:off x="8942832" y="548640"/>
            <a:ext cx="1097280" cy="12801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D96B18"/>
                </a:solidFill>
                <a:effectLst/>
                <a:uLnTx/>
                <a:uFillTx/>
                <a:latin typeface="BIZ UDPゴシック"/>
                <a:ea typeface="BIZ UDPゴシック"/>
              </a:rPr>
              <a:t>カテゴリの一言定義</a:t>
            </a:r>
            <a:endParaRPr kumimoji="0" lang="en-US" sz="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7" name="Text 5">
            <a:extLst>
              <a:ext uri="{FF2B5EF4-FFF2-40B4-BE49-F238E27FC236}">
                <a16:creationId xmlns:a16="http://schemas.microsoft.com/office/drawing/2014/main" id="{C57C664B-CB22-05AF-EFDD-85484D8A084D}"/>
              </a:ext>
            </a:extLst>
          </p:cNvPr>
          <p:cNvSpPr/>
          <p:nvPr/>
        </p:nvSpPr>
        <p:spPr>
          <a:xfrm>
            <a:off x="8893848" y="792588"/>
            <a:ext cx="2487168" cy="146304"/>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01D35"/>
                </a:solidFill>
                <a:effectLst/>
                <a:uLnTx/>
                <a:uFillTx/>
                <a:latin typeface="BIZ UDPゴシック"/>
                <a:ea typeface="BIZ UDPゴシック"/>
              </a:rPr>
              <a:t>「</a:t>
            </a:r>
            <a:r>
              <a:rPr kumimoji="0" lang="ja-JP" altLang="en-US" sz="1150" b="1" i="0" u="none" strike="noStrike" kern="1200" cap="none" spc="0" normalizeH="0" baseline="0" noProof="0">
                <a:ln>
                  <a:noFill/>
                </a:ln>
                <a:solidFill>
                  <a:srgbClr val="001D35"/>
                </a:solidFill>
                <a:effectLst/>
                <a:uLnTx/>
                <a:uFillTx/>
                <a:latin typeface="BIZ UDPゴシック"/>
                <a:ea typeface="BIZ UDPゴシック"/>
              </a:rPr>
              <a:t>価値や安心の伝え方</a:t>
            </a:r>
            <a:r>
              <a:rPr kumimoji="0" lang="en-US" sz="1150" b="1" i="0" u="none" strike="noStrike" kern="1200" cap="none" spc="0" normalizeH="0" baseline="0" noProof="0">
                <a:ln>
                  <a:noFill/>
                </a:ln>
                <a:solidFill>
                  <a:srgbClr val="001D35"/>
                </a:solidFill>
                <a:effectLst/>
                <a:uLnTx/>
                <a:uFillTx/>
                <a:latin typeface="BIZ UDPゴシック"/>
                <a:ea typeface="BIZ UDPゴシック"/>
              </a:rPr>
              <a:t>」</a:t>
            </a:r>
            <a:r>
              <a:rPr kumimoji="0" lang="ja-JP" altLang="en-US" sz="1150" b="1" i="0" u="none" strike="noStrike" kern="1200" cap="none" spc="0" normalizeH="0" baseline="0" noProof="0">
                <a:ln>
                  <a:noFill/>
                </a:ln>
                <a:solidFill>
                  <a:srgbClr val="001D35"/>
                </a:solidFill>
                <a:effectLst/>
                <a:uLnTx/>
                <a:uFillTx/>
                <a:latin typeface="BIZ UDPゴシック"/>
                <a:ea typeface="BIZ UDPゴシック"/>
              </a:rPr>
              <a:t>のデザイン</a:t>
            </a:r>
            <a:endParaRPr kumimoji="0" lang="en-US" altLang="ja-JP" sz="1150" b="1" i="0" u="none" strike="noStrike" kern="1200" cap="none" spc="0" normalizeH="0" baseline="0" noProof="0">
              <a:ln>
                <a:noFill/>
              </a:ln>
              <a:solidFill>
                <a:srgbClr val="001D35"/>
              </a:solidFill>
              <a:effectLst/>
              <a:uLnTx/>
              <a:uFillTx/>
              <a:latin typeface="BIZ UDPゴシック"/>
              <a:ea typeface="BIZ UDPゴシック"/>
            </a:endParaRPr>
          </a:p>
        </p:txBody>
      </p:sp>
      <p:sp>
        <p:nvSpPr>
          <p:cNvPr id="11" name="Shape 9">
            <a:extLst>
              <a:ext uri="{FF2B5EF4-FFF2-40B4-BE49-F238E27FC236}">
                <a16:creationId xmlns:a16="http://schemas.microsoft.com/office/drawing/2014/main" id="{D3707769-B9F4-83DD-F722-F48ACCF9956B}"/>
              </a:ext>
            </a:extLst>
          </p:cNvPr>
          <p:cNvSpPr/>
          <p:nvPr/>
        </p:nvSpPr>
        <p:spPr>
          <a:xfrm>
            <a:off x="594360" y="1975104"/>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2" name="Text 10">
            <a:extLst>
              <a:ext uri="{FF2B5EF4-FFF2-40B4-BE49-F238E27FC236}">
                <a16:creationId xmlns:a16="http://schemas.microsoft.com/office/drawing/2014/main" id="{07128C54-424B-A409-4CCD-DEF80531B6ED}"/>
              </a:ext>
            </a:extLst>
          </p:cNvPr>
          <p:cNvSpPr/>
          <p:nvPr/>
        </p:nvSpPr>
        <p:spPr>
          <a:xfrm>
            <a:off x="795528" y="2139696"/>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01｜現状・強み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3" name="Shape 11">
            <a:extLst>
              <a:ext uri="{FF2B5EF4-FFF2-40B4-BE49-F238E27FC236}">
                <a16:creationId xmlns:a16="http://schemas.microsoft.com/office/drawing/2014/main" id="{FD4CFDC3-AF8A-2A30-DACB-D487C420005A}"/>
              </a:ext>
            </a:extLst>
          </p:cNvPr>
          <p:cNvSpPr/>
          <p:nvPr/>
        </p:nvSpPr>
        <p:spPr>
          <a:xfrm>
            <a:off x="795528" y="2450592"/>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4" name="Text 12">
            <a:extLst>
              <a:ext uri="{FF2B5EF4-FFF2-40B4-BE49-F238E27FC236}">
                <a16:creationId xmlns:a16="http://schemas.microsoft.com/office/drawing/2014/main" id="{DD9A47B0-F6B6-8894-4D3B-452BDD332386}"/>
              </a:ext>
            </a:extLst>
          </p:cNvPr>
          <p:cNvSpPr/>
          <p:nvPr/>
        </p:nvSpPr>
        <p:spPr>
          <a:xfrm>
            <a:off x="822960" y="2596896"/>
            <a:ext cx="2980944"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現在行っている取組、代表事例、根拠となる数字・画像・担当者コメントを記載</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5" name="Shape 13">
            <a:extLst>
              <a:ext uri="{FF2B5EF4-FFF2-40B4-BE49-F238E27FC236}">
                <a16:creationId xmlns:a16="http://schemas.microsoft.com/office/drawing/2014/main" id="{D19291DA-5DE8-404B-4BDF-B45C27A83ACA}"/>
              </a:ext>
            </a:extLst>
          </p:cNvPr>
          <p:cNvSpPr/>
          <p:nvPr/>
        </p:nvSpPr>
        <p:spPr>
          <a:xfrm>
            <a:off x="4489704" y="1975104"/>
            <a:ext cx="3438144"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6" name="Text 14">
            <a:extLst>
              <a:ext uri="{FF2B5EF4-FFF2-40B4-BE49-F238E27FC236}">
                <a16:creationId xmlns:a16="http://schemas.microsoft.com/office/drawing/2014/main" id="{5B3ABD0B-F2A4-35A1-6568-2A0356063740}"/>
              </a:ext>
            </a:extLst>
          </p:cNvPr>
          <p:cNvSpPr/>
          <p:nvPr/>
        </p:nvSpPr>
        <p:spPr>
          <a:xfrm>
            <a:off x="4690872" y="2139696"/>
            <a:ext cx="303580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02｜課題・伝達ギャップ</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7" name="Shape 15">
            <a:extLst>
              <a:ext uri="{FF2B5EF4-FFF2-40B4-BE49-F238E27FC236}">
                <a16:creationId xmlns:a16="http://schemas.microsoft.com/office/drawing/2014/main" id="{2C2AF561-1F94-5E38-39F6-BAF3BEFE6251}"/>
              </a:ext>
            </a:extLst>
          </p:cNvPr>
          <p:cNvSpPr/>
          <p:nvPr/>
        </p:nvSpPr>
        <p:spPr>
          <a:xfrm>
            <a:off x="4690872" y="2450592"/>
            <a:ext cx="3035808"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8" name="Text 16">
            <a:extLst>
              <a:ext uri="{FF2B5EF4-FFF2-40B4-BE49-F238E27FC236}">
                <a16:creationId xmlns:a16="http://schemas.microsoft.com/office/drawing/2014/main" id="{E888AE77-6855-33C5-E0DD-C8BA7DF6B575}"/>
              </a:ext>
            </a:extLst>
          </p:cNvPr>
          <p:cNvSpPr/>
          <p:nvPr/>
        </p:nvSpPr>
        <p:spPr>
          <a:xfrm>
            <a:off x="4718304" y="2596896"/>
            <a:ext cx="2980944"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良い取組が「誰に」「なぜ」伝わっていないか。現状の発信・顧客接点・認知上の課題を記載</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19" name="Shape 17">
            <a:extLst>
              <a:ext uri="{FF2B5EF4-FFF2-40B4-BE49-F238E27FC236}">
                <a16:creationId xmlns:a16="http://schemas.microsoft.com/office/drawing/2014/main" id="{A9965C5A-9CFF-E679-047D-F20847BAE64D}"/>
              </a:ext>
            </a:extLst>
          </p:cNvPr>
          <p:cNvSpPr/>
          <p:nvPr/>
        </p:nvSpPr>
        <p:spPr>
          <a:xfrm>
            <a:off x="8385048" y="1975104"/>
            <a:ext cx="3410712" cy="2331720"/>
          </a:xfrm>
          <a:prstGeom prst="roundRect">
            <a:avLst>
              <a:gd name="adj" fmla="val 1569"/>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0" name="Text 18">
            <a:extLst>
              <a:ext uri="{FF2B5EF4-FFF2-40B4-BE49-F238E27FC236}">
                <a16:creationId xmlns:a16="http://schemas.microsoft.com/office/drawing/2014/main" id="{8156C047-4439-3552-6D62-5400D9BA4D12}"/>
              </a:ext>
            </a:extLst>
          </p:cNvPr>
          <p:cNvSpPr/>
          <p:nvPr/>
        </p:nvSpPr>
        <p:spPr>
          <a:xfrm>
            <a:off x="8586216" y="2139696"/>
            <a:ext cx="3008376"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03｜提案・目指す姿</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1" name="Shape 19">
            <a:extLst>
              <a:ext uri="{FF2B5EF4-FFF2-40B4-BE49-F238E27FC236}">
                <a16:creationId xmlns:a16="http://schemas.microsoft.com/office/drawing/2014/main" id="{2F9253F2-C046-0E5F-FD1B-3E5385D43E7F}"/>
              </a:ext>
            </a:extLst>
          </p:cNvPr>
          <p:cNvSpPr/>
          <p:nvPr/>
        </p:nvSpPr>
        <p:spPr>
          <a:xfrm>
            <a:off x="8586216" y="2450592"/>
            <a:ext cx="3008376"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2" name="Text 20">
            <a:extLst>
              <a:ext uri="{FF2B5EF4-FFF2-40B4-BE49-F238E27FC236}">
                <a16:creationId xmlns:a16="http://schemas.microsoft.com/office/drawing/2014/main" id="{25005888-002F-8745-2E05-EF0D57478C8A}"/>
              </a:ext>
            </a:extLst>
          </p:cNvPr>
          <p:cNvSpPr/>
          <p:nvPr/>
        </p:nvSpPr>
        <p:spPr>
          <a:xfrm>
            <a:off x="8613648" y="2596896"/>
            <a:ext cx="2953512" cy="152704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完成形でなくてよい。こう変えると良くなるのでは、という方向性と期待する未来を記載</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3" name="Shape 21">
            <a:extLst>
              <a:ext uri="{FF2B5EF4-FFF2-40B4-BE49-F238E27FC236}">
                <a16:creationId xmlns:a16="http://schemas.microsoft.com/office/drawing/2014/main" id="{FEF98C3F-4815-BF16-ED75-1B835C73B22D}"/>
              </a:ext>
            </a:extLst>
          </p:cNvPr>
          <p:cNvSpPr/>
          <p:nvPr/>
        </p:nvSpPr>
        <p:spPr>
          <a:xfrm>
            <a:off x="475488" y="4846320"/>
            <a:ext cx="7150608"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4" name="Text 22">
            <a:extLst>
              <a:ext uri="{FF2B5EF4-FFF2-40B4-BE49-F238E27FC236}">
                <a16:creationId xmlns:a16="http://schemas.microsoft.com/office/drawing/2014/main" id="{B422B669-88BB-0F19-68F0-8FDCFB118F15}"/>
              </a:ext>
            </a:extLst>
          </p:cNvPr>
          <p:cNvSpPr/>
          <p:nvPr/>
        </p:nvSpPr>
        <p:spPr>
          <a:xfrm>
            <a:off x="676656" y="5010912"/>
            <a:ext cx="19202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会議で出たアイデアの芽</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5" name="Text 23">
            <a:extLst>
              <a:ext uri="{FF2B5EF4-FFF2-40B4-BE49-F238E27FC236}">
                <a16:creationId xmlns:a16="http://schemas.microsoft.com/office/drawing/2014/main" id="{AA0E3368-4EDD-4C58-0CEA-CE675CAB8876}"/>
              </a:ext>
            </a:extLst>
          </p:cNvPr>
          <p:cNvSpPr/>
          <p:nvPr/>
        </p:nvSpPr>
        <p:spPr>
          <a:xfrm>
            <a:off x="2971800" y="5029200"/>
            <a:ext cx="3337560"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667085"/>
                </a:solidFill>
                <a:effectLst/>
                <a:uLnTx/>
                <a:uFillTx/>
                <a:latin typeface="BIZ UDPゴシック"/>
                <a:ea typeface="BIZ UDPゴシック"/>
              </a:rPr>
              <a:t>採否・表現・優先順位は担当者で更新</a:t>
            </a:r>
            <a:endParaRPr kumimoji="0" lang="en-US" sz="8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6" name="Shape 24">
            <a:extLst>
              <a:ext uri="{FF2B5EF4-FFF2-40B4-BE49-F238E27FC236}">
                <a16:creationId xmlns:a16="http://schemas.microsoft.com/office/drawing/2014/main" id="{CB15D90B-7D5E-DF95-6BF2-C1A553290299}"/>
              </a:ext>
            </a:extLst>
          </p:cNvPr>
          <p:cNvSpPr/>
          <p:nvPr/>
        </p:nvSpPr>
        <p:spPr>
          <a:xfrm>
            <a:off x="676656" y="5321808"/>
            <a:ext cx="6748272"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7" name="Shape 25">
            <a:extLst>
              <a:ext uri="{FF2B5EF4-FFF2-40B4-BE49-F238E27FC236}">
                <a16:creationId xmlns:a16="http://schemas.microsoft.com/office/drawing/2014/main" id="{372519A6-DF52-48D8-0BD8-C65D48F58CF9}"/>
              </a:ext>
            </a:extLst>
          </p:cNvPr>
          <p:cNvSpPr/>
          <p:nvPr/>
        </p:nvSpPr>
        <p:spPr>
          <a:xfrm>
            <a:off x="694944"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8" name="Text 26">
            <a:extLst>
              <a:ext uri="{FF2B5EF4-FFF2-40B4-BE49-F238E27FC236}">
                <a16:creationId xmlns:a16="http://schemas.microsoft.com/office/drawing/2014/main" id="{BB0CD650-574D-E1B1-9DE3-DC346A132473}"/>
              </a:ext>
            </a:extLst>
          </p:cNvPr>
          <p:cNvSpPr/>
          <p:nvPr/>
        </p:nvSpPr>
        <p:spPr>
          <a:xfrm>
            <a:off x="768096"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問い合わせ導線</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29" name="Shape 27">
            <a:extLst>
              <a:ext uri="{FF2B5EF4-FFF2-40B4-BE49-F238E27FC236}">
                <a16:creationId xmlns:a16="http://schemas.microsoft.com/office/drawing/2014/main" id="{E128C558-7182-03B4-D8DB-A86482AC6E2F}"/>
              </a:ext>
            </a:extLst>
          </p:cNvPr>
          <p:cNvSpPr/>
          <p:nvPr/>
        </p:nvSpPr>
        <p:spPr>
          <a:xfrm>
            <a:off x="2048256"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0" name="Text 28">
            <a:extLst>
              <a:ext uri="{FF2B5EF4-FFF2-40B4-BE49-F238E27FC236}">
                <a16:creationId xmlns:a16="http://schemas.microsoft.com/office/drawing/2014/main" id="{821D3E4F-1733-B59C-0DCF-4BBBDE9FEC99}"/>
              </a:ext>
            </a:extLst>
          </p:cNvPr>
          <p:cNvSpPr/>
          <p:nvPr/>
        </p:nvSpPr>
        <p:spPr>
          <a:xfrm>
            <a:off x="2121408"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修理・サービス拠点</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1" name="Shape 29">
            <a:extLst>
              <a:ext uri="{FF2B5EF4-FFF2-40B4-BE49-F238E27FC236}">
                <a16:creationId xmlns:a16="http://schemas.microsoft.com/office/drawing/2014/main" id="{165B04B4-DA54-DA3D-A66D-8E3F992E7F87}"/>
              </a:ext>
            </a:extLst>
          </p:cNvPr>
          <p:cNvSpPr/>
          <p:nvPr/>
        </p:nvSpPr>
        <p:spPr>
          <a:xfrm>
            <a:off x="3401568"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2" name="Text 30">
            <a:extLst>
              <a:ext uri="{FF2B5EF4-FFF2-40B4-BE49-F238E27FC236}">
                <a16:creationId xmlns:a16="http://schemas.microsoft.com/office/drawing/2014/main" id="{A137CE43-EB7E-7BB4-6B62-1186E96E12EF}"/>
              </a:ext>
            </a:extLst>
          </p:cNvPr>
          <p:cNvSpPr/>
          <p:nvPr/>
        </p:nvSpPr>
        <p:spPr>
          <a:xfrm>
            <a:off x="3474720"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延長保証</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3" name="Shape 31">
            <a:extLst>
              <a:ext uri="{FF2B5EF4-FFF2-40B4-BE49-F238E27FC236}">
                <a16:creationId xmlns:a16="http://schemas.microsoft.com/office/drawing/2014/main" id="{32116409-5595-0AD3-B8FD-A749C76E29FE}"/>
              </a:ext>
            </a:extLst>
          </p:cNvPr>
          <p:cNvSpPr/>
          <p:nvPr/>
        </p:nvSpPr>
        <p:spPr>
          <a:xfrm>
            <a:off x="4754880"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4" name="Text 32">
            <a:extLst>
              <a:ext uri="{FF2B5EF4-FFF2-40B4-BE49-F238E27FC236}">
                <a16:creationId xmlns:a16="http://schemas.microsoft.com/office/drawing/2014/main" id="{8AA242A2-BA5F-ACF9-F43B-E1716DCA5694}"/>
              </a:ext>
            </a:extLst>
          </p:cNvPr>
          <p:cNvSpPr/>
          <p:nvPr/>
        </p:nvSpPr>
        <p:spPr>
          <a:xfrm>
            <a:off x="4828032"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オンライン相談</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5" name="Shape 33">
            <a:extLst>
              <a:ext uri="{FF2B5EF4-FFF2-40B4-BE49-F238E27FC236}">
                <a16:creationId xmlns:a16="http://schemas.microsoft.com/office/drawing/2014/main" id="{543CB743-17A4-6CCF-4146-FCF5D5359CD1}"/>
              </a:ext>
            </a:extLst>
          </p:cNvPr>
          <p:cNvSpPr/>
          <p:nvPr/>
        </p:nvSpPr>
        <p:spPr>
          <a:xfrm>
            <a:off x="6108192" y="5404104"/>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6" name="Text 34">
            <a:extLst>
              <a:ext uri="{FF2B5EF4-FFF2-40B4-BE49-F238E27FC236}">
                <a16:creationId xmlns:a16="http://schemas.microsoft.com/office/drawing/2014/main" id="{C394426D-6A0A-9A6F-0678-82E03A05BC9E}"/>
              </a:ext>
            </a:extLst>
          </p:cNvPr>
          <p:cNvSpPr/>
          <p:nvPr/>
        </p:nvSpPr>
        <p:spPr>
          <a:xfrm>
            <a:off x="6181344" y="5477256"/>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困った時カード</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7" name="Shape 35">
            <a:extLst>
              <a:ext uri="{FF2B5EF4-FFF2-40B4-BE49-F238E27FC236}">
                <a16:creationId xmlns:a16="http://schemas.microsoft.com/office/drawing/2014/main" id="{B766134D-7580-DEBB-2EF0-7074853DEF68}"/>
              </a:ext>
            </a:extLst>
          </p:cNvPr>
          <p:cNvSpPr/>
          <p:nvPr/>
        </p:nvSpPr>
        <p:spPr>
          <a:xfrm>
            <a:off x="694944" y="5715000"/>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8" name="Text 36">
            <a:extLst>
              <a:ext uri="{FF2B5EF4-FFF2-40B4-BE49-F238E27FC236}">
                <a16:creationId xmlns:a16="http://schemas.microsoft.com/office/drawing/2014/main" id="{1CC89F7C-E813-ED86-F0D7-D4C3A9CB8E2A}"/>
              </a:ext>
            </a:extLst>
          </p:cNvPr>
          <p:cNvSpPr/>
          <p:nvPr/>
        </p:nvSpPr>
        <p:spPr>
          <a:xfrm>
            <a:off x="768096" y="5788152"/>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価値カード</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39" name="Shape 37">
            <a:extLst>
              <a:ext uri="{FF2B5EF4-FFF2-40B4-BE49-F238E27FC236}">
                <a16:creationId xmlns:a16="http://schemas.microsoft.com/office/drawing/2014/main" id="{C33185EE-2BC1-5542-D4BA-7038313F8BA0}"/>
              </a:ext>
            </a:extLst>
          </p:cNvPr>
          <p:cNvSpPr/>
          <p:nvPr/>
        </p:nvSpPr>
        <p:spPr>
          <a:xfrm>
            <a:off x="2048256" y="5715000"/>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0" name="Text 38">
            <a:extLst>
              <a:ext uri="{FF2B5EF4-FFF2-40B4-BE49-F238E27FC236}">
                <a16:creationId xmlns:a16="http://schemas.microsoft.com/office/drawing/2014/main" id="{3B7FCB0C-7DBE-62BE-83E1-CD5BCCF26251}"/>
              </a:ext>
            </a:extLst>
          </p:cNvPr>
          <p:cNvSpPr/>
          <p:nvPr/>
        </p:nvSpPr>
        <p:spPr>
          <a:xfrm>
            <a:off x="2121408" y="5788152"/>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口コミのきっかけ</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1" name="Shape 39">
            <a:extLst>
              <a:ext uri="{FF2B5EF4-FFF2-40B4-BE49-F238E27FC236}">
                <a16:creationId xmlns:a16="http://schemas.microsoft.com/office/drawing/2014/main" id="{8846290B-C568-0DF4-7B24-E84810F04088}"/>
              </a:ext>
            </a:extLst>
          </p:cNvPr>
          <p:cNvSpPr/>
          <p:nvPr/>
        </p:nvSpPr>
        <p:spPr>
          <a:xfrm>
            <a:off x="3401568" y="5715000"/>
            <a:ext cx="1225296" cy="256032"/>
          </a:xfrm>
          <a:prstGeom prst="roundRect">
            <a:avLst>
              <a:gd name="adj" fmla="val 42857"/>
            </a:avLst>
          </a:prstGeom>
          <a:solidFill>
            <a:srgbClr val="FFF1E5"/>
          </a:solidFill>
          <a:ln w="12700">
            <a:solidFill>
              <a:srgbClr val="FFF1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2" name="Text 40">
            <a:extLst>
              <a:ext uri="{FF2B5EF4-FFF2-40B4-BE49-F238E27FC236}">
                <a16:creationId xmlns:a16="http://schemas.microsoft.com/office/drawing/2014/main" id="{B52564CA-4EB1-F34E-CB40-C7D27FBA7F3F}"/>
              </a:ext>
            </a:extLst>
          </p:cNvPr>
          <p:cNvSpPr/>
          <p:nvPr/>
        </p:nvSpPr>
        <p:spPr>
          <a:xfrm>
            <a:off x="3474720" y="5788152"/>
            <a:ext cx="1078992" cy="91440"/>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80" b="1" i="0" u="none" strike="noStrike" kern="1200" cap="none" spc="0" normalizeH="0" baseline="0" noProof="0">
                <a:ln>
                  <a:noFill/>
                </a:ln>
                <a:solidFill>
                  <a:srgbClr val="D96B18"/>
                </a:solidFill>
                <a:effectLst/>
                <a:uLnTx/>
                <a:uFillTx/>
                <a:latin typeface="BIZ UDPゴシック"/>
                <a:ea typeface="BIZ UDPゴシック"/>
              </a:rPr>
              <a:t>長くつながる</a:t>
            </a:r>
            <a:endParaRPr kumimoji="0" lang="en-US" sz="78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3" name="Shape 41">
            <a:extLst>
              <a:ext uri="{FF2B5EF4-FFF2-40B4-BE49-F238E27FC236}">
                <a16:creationId xmlns:a16="http://schemas.microsoft.com/office/drawing/2014/main" id="{CCA37F39-CF6E-F794-0E35-49AD49BAC6B3}"/>
              </a:ext>
            </a:extLst>
          </p:cNvPr>
          <p:cNvSpPr/>
          <p:nvPr/>
        </p:nvSpPr>
        <p:spPr>
          <a:xfrm>
            <a:off x="7882128" y="4846320"/>
            <a:ext cx="3794760" cy="1143000"/>
          </a:xfrm>
          <a:prstGeom prst="roundRect">
            <a:avLst>
              <a:gd name="adj" fmla="val 3200"/>
            </a:avLst>
          </a:prstGeom>
          <a:solidFill>
            <a:srgbClr val="FFFFFF"/>
          </a:solidFill>
          <a:ln w="12700">
            <a:solidFill>
              <a:srgbClr val="CFD8E3"/>
            </a:solidFill>
            <a:prstDash val="solid"/>
          </a:ln>
          <a:effectLst>
            <a:outerShdw blurRad="12700" dist="3175" dir="27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4" name="Text 42">
            <a:extLst>
              <a:ext uri="{FF2B5EF4-FFF2-40B4-BE49-F238E27FC236}">
                <a16:creationId xmlns:a16="http://schemas.microsoft.com/office/drawing/2014/main" id="{C298BA81-DAF5-D05C-1BBF-7B5AC217EE4C}"/>
              </a:ext>
            </a:extLst>
          </p:cNvPr>
          <p:cNvSpPr/>
          <p:nvPr/>
        </p:nvSpPr>
        <p:spPr>
          <a:xfrm>
            <a:off x="8083296" y="5010912"/>
            <a:ext cx="3392424"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D96B18"/>
                </a:solidFill>
                <a:effectLst/>
                <a:uLnTx/>
                <a:uFillTx/>
                <a:latin typeface="BIZ UDPゴシック"/>
                <a:ea typeface="BIZ UDPゴシック"/>
              </a:rPr>
              <a:t>担当者メモ</a:t>
            </a:r>
            <a:endParaRPr kumimoji="0" lang="en-US" sz="12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5" name="Shape 43">
            <a:extLst>
              <a:ext uri="{FF2B5EF4-FFF2-40B4-BE49-F238E27FC236}">
                <a16:creationId xmlns:a16="http://schemas.microsoft.com/office/drawing/2014/main" id="{777401C6-9154-AC8A-B3BE-EE9CDA0BFC80}"/>
              </a:ext>
            </a:extLst>
          </p:cNvPr>
          <p:cNvSpPr/>
          <p:nvPr/>
        </p:nvSpPr>
        <p:spPr>
          <a:xfrm>
            <a:off x="8083296" y="5321808"/>
            <a:ext cx="3392424" cy="1"/>
          </a:xfrm>
          <a:prstGeom prst="line">
            <a:avLst/>
          </a:prstGeom>
          <a:noFill/>
          <a:ln w="12700">
            <a:solidFill>
              <a:srgbClr val="CFD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6" name="Text 44">
            <a:extLst>
              <a:ext uri="{FF2B5EF4-FFF2-40B4-BE49-F238E27FC236}">
                <a16:creationId xmlns:a16="http://schemas.microsoft.com/office/drawing/2014/main" id="{7C25ACBA-9569-AF10-394F-788C25B019B7}"/>
              </a:ext>
            </a:extLst>
          </p:cNvPr>
          <p:cNvSpPr/>
          <p:nvPr/>
        </p:nvSpPr>
        <p:spPr>
          <a:xfrm>
            <a:off x="8110728" y="5468112"/>
            <a:ext cx="3337560" cy="338328"/>
          </a:xfrm>
          <a:prstGeom prst="rect">
            <a:avLst/>
          </a:prstGeom>
          <a:noFill/>
          <a:ln/>
        </p:spPr>
        <p:txBody>
          <a:bodyPr wrap="square" lIns="508" tIns="508" rIns="508" bIns="508" rtlCol="0" anchor="ct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・追加調査／確認先</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・使いたい写真・動画・数値</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94A3"/>
                </a:solidFill>
                <a:effectLst/>
                <a:uLnTx/>
                <a:uFillTx/>
                <a:latin typeface="BIZ UDPゴシック"/>
                <a:ea typeface="BIZ UDPゴシック"/>
              </a:rPr>
              <a:t>・社外公開可否／出典</a:t>
            </a:r>
            <a:endParaRPr kumimoji="0" lang="en-US" sz="1050" b="0" i="0" u="none" strike="noStrike" kern="1200" cap="none" spc="0" normalizeH="0" baseline="0" noProof="0">
              <a:ln>
                <a:noFill/>
              </a:ln>
              <a:solidFill>
                <a:prstClr val="black"/>
              </a:solidFill>
              <a:effectLst/>
              <a:uLnTx/>
              <a:uFillTx/>
              <a:latin typeface="BIZ UDPゴシック"/>
              <a:ea typeface="BIZ UDPゴシック"/>
            </a:endParaRPr>
          </a:p>
        </p:txBody>
      </p:sp>
      <p:sp>
        <p:nvSpPr>
          <p:cNvPr id="47" name="Slide Number Placeholder 0">
            <a:extLst>
              <a:ext uri="{FF2B5EF4-FFF2-40B4-BE49-F238E27FC236}">
                <a16:creationId xmlns:a16="http://schemas.microsoft.com/office/drawing/2014/main" id="{D694B230-A9EA-BA30-84A7-5F8F49571794}"/>
              </a:ext>
            </a:extLst>
          </p:cNvPr>
          <p:cNvSpPr>
            <a:spLocks noGrp="1"/>
          </p:cNvSpPr>
          <p:nvPr>
            <p:ph type="sldNum" sz="quarter" idx="4294967295"/>
          </p:nvPr>
        </p:nvSpPr>
        <p:spPr>
          <a:xfrm>
            <a:off x="11576304" y="6528816"/>
            <a:ext cx="219456" cy="146304"/>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6708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srgbClr val="667085"/>
                </a:solidFill>
                <a:effectLst/>
                <a:uLnTx/>
                <a:uFillTx/>
                <a:latin typeface="BIZ UDPゴシック"/>
                <a:ea typeface="BIZ UDPゴシック"/>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667085"/>
              </a:solidFill>
              <a:effectLst/>
              <a:uLnTx/>
              <a:uFillTx/>
              <a:latin typeface="BIZ UDPゴシック"/>
              <a:ea typeface="BIZ UDPゴシック"/>
            </a:endParaRPr>
          </a:p>
        </p:txBody>
      </p:sp>
      <p:pic>
        <p:nvPicPr>
          <p:cNvPr id="50" name="Picture 49" descr="image.png"/>
          <p:cNvPicPr>
            <a:picLocks noChangeAspect="1"/>
          </p:cNvPicPr>
          <p:nvPr/>
        </p:nvPicPr>
        <p:blipFill>
          <a:blip r:embed="rId3"/>
          <a:stretch>
            <a:fillRect/>
          </a:stretch>
        </p:blipFill>
        <p:spPr>
          <a:xfrm>
            <a:off x="10607040" y="45720"/>
            <a:ext cx="1316736" cy="210312"/>
          </a:xfrm>
          <a:prstGeom prst="rect">
            <a:avLst/>
          </a:prstGeom>
        </p:spPr>
      </p:pic>
      <p:pic>
        <p:nvPicPr>
          <p:cNvPr id="51" name="図 50">
            <a:extLst>
              <a:ext uri="{FF2B5EF4-FFF2-40B4-BE49-F238E27FC236}">
                <a16:creationId xmlns:a16="http://schemas.microsoft.com/office/drawing/2014/main" id="{DC36FA70-B874-5FF9-F124-04311BFF6170}"/>
              </a:ext>
            </a:extLst>
          </p:cNvPr>
          <p:cNvPicPr>
            <a:picLocks noChangeAspect="1"/>
          </p:cNvPicPr>
          <p:nvPr/>
        </p:nvPicPr>
        <p:blipFill>
          <a:blip r:embed="rId4"/>
          <a:srcRect t="14933" b="4000"/>
          <a:stretch>
            <a:fillRect/>
          </a:stretch>
        </p:blipFill>
        <p:spPr>
          <a:xfrm>
            <a:off x="126056" y="1289304"/>
            <a:ext cx="11797720" cy="5229382"/>
          </a:xfrm>
          <a:prstGeom prst="rect">
            <a:avLst/>
          </a:prstGeom>
        </p:spPr>
      </p:pic>
      <p:sp>
        <p:nvSpPr>
          <p:cNvPr id="52" name="テキスト ボックス 51">
            <a:extLst>
              <a:ext uri="{FF2B5EF4-FFF2-40B4-BE49-F238E27FC236}">
                <a16:creationId xmlns:a16="http://schemas.microsoft.com/office/drawing/2014/main" id="{37DF8CBB-2FAC-3CB3-4FFD-39F7A0303134}"/>
              </a:ext>
            </a:extLst>
          </p:cNvPr>
          <p:cNvSpPr txBox="1"/>
          <p:nvPr/>
        </p:nvSpPr>
        <p:spPr>
          <a:xfrm>
            <a:off x="10654013" y="2024043"/>
            <a:ext cx="761619" cy="12311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rPr>
              <a:t>生活変わったよ</a:t>
            </a:r>
          </a:p>
        </p:txBody>
      </p:sp>
      <p:pic>
        <p:nvPicPr>
          <p:cNvPr id="56" name="図 55">
            <a:extLst>
              <a:ext uri="{FF2B5EF4-FFF2-40B4-BE49-F238E27FC236}">
                <a16:creationId xmlns:a16="http://schemas.microsoft.com/office/drawing/2014/main" id="{34F3233A-3B25-AAC6-0F4C-0E8BC22C37D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59" b="89967" l="9969" r="89954">
                        <a14:foregroundMark x1="42658" y1="51645" x2="42658" y2="51645"/>
                        <a14:foregroundMark x1="41113" y1="50740" x2="41113" y2="53536"/>
                        <a14:foregroundMark x1="53294" y1="49538" x2="53400" y2="53207"/>
                        <a14:foregroundMark x1="45595" y1="39638" x2="45595" y2="39638"/>
                        <a14:foregroundMark x1="49614" y1="38898" x2="49614" y2="38898"/>
                        <a14:foregroundMark x1="52937" y1="38898" x2="52937" y2="38898"/>
                        <a14:foregroundMark x1="58114" y1="38898" x2="58114" y2="38898"/>
                        <a14:foregroundMark x1="54405" y1="35033" x2="54405" y2="35033"/>
                        <a14:foregroundMark x1="47836" y1="35197" x2="47836" y2="35197"/>
                        <a14:foregroundMark x1="43895" y1="34868" x2="43895" y2="34868"/>
                        <a14:foregroundMark x1="56955" y1="56661" x2="56955" y2="56661"/>
                        <a14:foregroundMark x1="55178" y1="60115" x2="55178" y2="60115"/>
                        <a14:foregroundMark x1="50927" y1="35855" x2="50927" y2="35855"/>
                        <a14:foregroundMark x1="53400" y1="39638" x2="53400" y2="39638"/>
                        <a14:foregroundMark x1="57187" y1="34622" x2="57187" y2="34622"/>
                        <a14:foregroundMark x1="32921" y1="31332" x2="32921" y2="31332"/>
                        <a14:foregroundMark x1="33694" y1="31168" x2="30371" y2="30839"/>
                        <a14:foregroundMark x1="40340" y1="20806" x2="36399" y2="14063"/>
                        <a14:foregroundMark x1="51932" y1="17352" x2="52859" y2="8059"/>
                        <a14:foregroundMark x1="65997" y1="21217" x2="67717" y2="19803"/>
                        <a14:foregroundMark x1="67233" y1="19737" x2="68161" y2="18421"/>
                        <a14:foregroundMark x1="75889" y1="52632" x2="79134" y2="54030"/>
                        <a14:foregroundMark x1="72643" y1="58224" x2="72488" y2="59128"/>
                        <a14:backgroundMark x1="47450" y1="34786" x2="47450" y2="34786"/>
                        <a14:backgroundMark x1="56491" y1="35855" x2="56491" y2="35855"/>
                        <a14:backgroundMark x1="56878" y1="35362" x2="56414" y2="35609"/>
                        <a14:backgroundMark x1="50927" y1="35033" x2="50850" y2="35609"/>
                        <a14:backgroundMark x1="56414" y1="39391" x2="56414" y2="39391"/>
                        <a14:backgroundMark x1="52937" y1="38816" x2="52937" y2="38816"/>
                        <a14:backgroundMark x1="49382" y1="40132" x2="49382" y2="40132"/>
                        <a14:backgroundMark x1="50155" y1="40132" x2="50155" y2="40132"/>
                        <a14:backgroundMark x1="49691" y1="39803" x2="49691" y2="39803"/>
                        <a14:backgroundMark x1="55641" y1="49918" x2="55641" y2="49918"/>
                        <a14:backgroundMark x1="53400" y1="48684" x2="54096" y2="47944"/>
                        <a14:backgroundMark x1="54946" y1="52138" x2="55410" y2="51398"/>
                        <a14:backgroundMark x1="51855" y1="51316" x2="50850" y2="50493"/>
                        <a14:backgroundMark x1="50155" y1="47862" x2="51159" y2="47697"/>
                        <a14:backgroundMark x1="51236" y1="45970" x2="51623" y2="46217"/>
                        <a14:backgroundMark x1="53941" y1="46053" x2="53941" y2="46053"/>
                        <a14:backgroundMark x1="54946" y1="50329" x2="55719" y2="50987"/>
                        <a14:backgroundMark x1="54946" y1="51151" x2="53709" y2="51151"/>
                        <a14:backgroundMark x1="51082" y1="52385" x2="51855" y2="52385"/>
                        <a14:backgroundMark x1="49150" y1="68010" x2="49150" y2="68010"/>
                        <a14:backgroundMark x1="51932" y1="52385" x2="51623" y2="51151"/>
                        <a14:backgroundMark x1="50927" y1="53125" x2="50927" y2="51151"/>
                        <a14:backgroundMark x1="50696" y1="52467" x2="50696" y2="52467"/>
                        <a14:backgroundMark x1="50696" y1="51316" x2="50696" y2="51316"/>
                        <a14:backgroundMark x1="50618" y1="51891" x2="50618" y2="51891"/>
                        <a14:backgroundMark x1="50232" y1="51891" x2="52396" y2="51645"/>
                        <a14:backgroundMark x1="52473" y1="51563" x2="52937" y2="51398"/>
                        <a14:backgroundMark x1="54173" y1="51151" x2="53246" y2="51809"/>
                        <a14:backgroundMark x1="54482" y1="50822" x2="54482" y2="50000"/>
                        <a14:backgroundMark x1="53478" y1="48438" x2="53478" y2="48438"/>
                        <a14:backgroundMark x1="54250" y1="48109" x2="53091" y2="48109"/>
                        <a14:backgroundMark x1="55100" y1="50576" x2="56105" y2="51809"/>
                        <a14:backgroundMark x1="69165" y1="20395" x2="68161" y2="20806"/>
                        <a14:backgroundMark x1="72488" y1="17352" x2="70866" y2="17352"/>
                        <a14:backgroundMark x1="71716" y1="17270" x2="68046" y2="18726"/>
                        <a14:backgroundMark x1="70866" y1="17516" x2="72952" y2="15707"/>
                        <a14:backgroundMark x1="68470" y1="19079" x2="68083" y2="20230"/>
                      </a14:backgroundRemoval>
                    </a14:imgEffect>
                  </a14:imgLayer>
                </a14:imgProps>
              </a:ext>
            </a:extLst>
          </a:blip>
          <a:stretch>
            <a:fillRect/>
          </a:stretch>
        </p:blipFill>
        <p:spPr>
          <a:xfrm>
            <a:off x="7699248" y="283182"/>
            <a:ext cx="1155006" cy="1085384"/>
          </a:xfrm>
          <a:prstGeom prst="rect">
            <a:avLst/>
          </a:prstGeom>
        </p:spPr>
      </p:pic>
      <p:sp>
        <p:nvSpPr>
          <p:cNvPr id="60" name="テキスト ボックス 59">
            <a:extLst>
              <a:ext uri="{FF2B5EF4-FFF2-40B4-BE49-F238E27FC236}">
                <a16:creationId xmlns:a16="http://schemas.microsoft.com/office/drawing/2014/main" id="{44D209AB-BBE0-CC55-8448-34DC96466DA7}"/>
              </a:ext>
            </a:extLst>
          </p:cNvPr>
          <p:cNvSpPr txBox="1"/>
          <p:nvPr/>
        </p:nvSpPr>
        <p:spPr>
          <a:xfrm>
            <a:off x="6852504" y="5779500"/>
            <a:ext cx="761619" cy="12311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rPr>
              <a:t> 　　　　　　　　　　</a:t>
            </a:r>
            <a:endParaRPr kumimoji="1" lang="en-US" altLang="ja-JP" sz="8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endParaRPr>
          </a:p>
        </p:txBody>
      </p:sp>
      <p:sp>
        <p:nvSpPr>
          <p:cNvPr id="62" name="テキスト ボックス 61">
            <a:extLst>
              <a:ext uri="{FF2B5EF4-FFF2-40B4-BE49-F238E27FC236}">
                <a16:creationId xmlns:a16="http://schemas.microsoft.com/office/drawing/2014/main" id="{9008ECAC-C477-04EC-D51E-1BADDD2574FE}"/>
              </a:ext>
            </a:extLst>
          </p:cNvPr>
          <p:cNvSpPr txBox="1"/>
          <p:nvPr/>
        </p:nvSpPr>
        <p:spPr>
          <a:xfrm>
            <a:off x="3260761" y="5134037"/>
            <a:ext cx="1735782" cy="161583"/>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rPr>
              <a:t> 　　　　　　　　　　</a:t>
            </a:r>
            <a:endParaRPr kumimoji="1" lang="en-US" altLang="ja-JP" sz="105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1D466EC9-9B47-E3AB-56D2-4B50EC802CC6}"/>
              </a:ext>
            </a:extLst>
          </p:cNvPr>
          <p:cNvSpPr/>
          <p:nvPr/>
        </p:nvSpPr>
        <p:spPr>
          <a:xfrm>
            <a:off x="9525" y="18869"/>
            <a:ext cx="694944" cy="2590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幸</a:t>
            </a:r>
          </a:p>
        </p:txBody>
      </p:sp>
    </p:spTree>
    <p:extLst>
      <p:ext uri="{BB962C8B-B14F-4D97-AF65-F5344CB8AC3E}">
        <p14:creationId xmlns:p14="http://schemas.microsoft.com/office/powerpoint/2010/main" val="1310024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9037-9117-BC5C-5652-17A70D796A50}"/>
            </a:ext>
          </a:extLst>
        </p:cNvPr>
        <p:cNvGrpSpPr/>
        <p:nvPr/>
      </p:nvGrpSpPr>
      <p:grpSpPr>
        <a:xfrm>
          <a:off x="0" y="0"/>
          <a:ext cx="1" cy="1"/>
          <a:chOff x="0" y="0"/>
          <a:chExt cx="1" cy="1"/>
        </a:xfrm>
      </p:grpSpPr>
      <p:sp>
        <p:nvSpPr>
          <p:cNvPr id="49" name="Rectangle 48">
            <a:extLst>
              <a:ext uri="{FF2B5EF4-FFF2-40B4-BE49-F238E27FC236}">
                <a16:creationId xmlns:a16="http://schemas.microsoft.com/office/drawing/2014/main" id="{2D512AF8-37AC-7D95-6FDB-7F7A7EC7220E}"/>
              </a:ext>
            </a:extLst>
          </p:cNvPr>
          <p:cNvSpPr/>
          <p:nvPr/>
        </p:nvSpPr>
        <p:spPr>
          <a:xfrm>
            <a:off x="0" y="0"/>
            <a:ext cx="12192000" cy="292608"/>
          </a:xfrm>
          <a:prstGeom prst="rect">
            <a:avLst/>
          </a:prstGeom>
          <a:solidFill>
            <a:srgbClr val="004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BIZ UDPゴシック"/>
              <a:ea typeface="BIZ UDPゴシック"/>
            </a:endParaRPr>
          </a:p>
        </p:txBody>
      </p:sp>
      <p:pic>
        <p:nvPicPr>
          <p:cNvPr id="50" name="Picture 49" descr="image.png">
            <a:extLst>
              <a:ext uri="{FF2B5EF4-FFF2-40B4-BE49-F238E27FC236}">
                <a16:creationId xmlns:a16="http://schemas.microsoft.com/office/drawing/2014/main" id="{B85FB0FF-514A-4D9F-1E20-72E97101CC03}"/>
              </a:ext>
            </a:extLst>
          </p:cNvPr>
          <p:cNvPicPr>
            <a:picLocks noChangeAspect="1"/>
          </p:cNvPicPr>
          <p:nvPr/>
        </p:nvPicPr>
        <p:blipFill>
          <a:blip r:embed="rId3"/>
          <a:stretch>
            <a:fillRect/>
          </a:stretch>
        </p:blipFill>
        <p:spPr>
          <a:xfrm>
            <a:off x="10607040" y="45720"/>
            <a:ext cx="1316736" cy="210312"/>
          </a:xfrm>
          <a:prstGeom prst="rect">
            <a:avLst/>
          </a:prstGeom>
        </p:spPr>
      </p:pic>
      <p:pic>
        <p:nvPicPr>
          <p:cNvPr id="9" name="図 8">
            <a:extLst>
              <a:ext uri="{FF2B5EF4-FFF2-40B4-BE49-F238E27FC236}">
                <a16:creationId xmlns:a16="http://schemas.microsoft.com/office/drawing/2014/main" id="{31E4A003-6F75-2F47-75C4-0B711648B398}"/>
              </a:ext>
            </a:extLst>
          </p:cNvPr>
          <p:cNvPicPr>
            <a:picLocks noChangeAspect="1"/>
          </p:cNvPicPr>
          <p:nvPr/>
        </p:nvPicPr>
        <p:blipFill>
          <a:blip r:embed="rId4"/>
          <a:stretch>
            <a:fillRect/>
          </a:stretch>
        </p:blipFill>
        <p:spPr>
          <a:xfrm>
            <a:off x="212271" y="362820"/>
            <a:ext cx="11776819" cy="6152279"/>
          </a:xfrm>
          <a:prstGeom prst="rect">
            <a:avLst/>
          </a:prstGeom>
        </p:spPr>
      </p:pic>
      <p:sp>
        <p:nvSpPr>
          <p:cNvPr id="53" name="テキスト ボックス 52">
            <a:extLst>
              <a:ext uri="{FF2B5EF4-FFF2-40B4-BE49-F238E27FC236}">
                <a16:creationId xmlns:a16="http://schemas.microsoft.com/office/drawing/2014/main" id="{39641C48-2A2C-5423-17D2-4616624257CA}"/>
              </a:ext>
            </a:extLst>
          </p:cNvPr>
          <p:cNvSpPr txBox="1"/>
          <p:nvPr/>
        </p:nvSpPr>
        <p:spPr>
          <a:xfrm>
            <a:off x="5731518" y="5763171"/>
            <a:ext cx="761619" cy="12311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rPr>
              <a:t> 　　　　　　　　　　</a:t>
            </a:r>
            <a:endParaRPr kumimoji="1" lang="en-US" altLang="ja-JP" sz="8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endParaRPr>
          </a:p>
        </p:txBody>
      </p:sp>
      <p:sp>
        <p:nvSpPr>
          <p:cNvPr id="3" name="正方形/長方形 2">
            <a:extLst>
              <a:ext uri="{FF2B5EF4-FFF2-40B4-BE49-F238E27FC236}">
                <a16:creationId xmlns:a16="http://schemas.microsoft.com/office/drawing/2014/main" id="{BBE0C37D-5090-6CD9-6071-CE636BF3F089}"/>
              </a:ext>
            </a:extLst>
          </p:cNvPr>
          <p:cNvSpPr/>
          <p:nvPr/>
        </p:nvSpPr>
        <p:spPr>
          <a:xfrm>
            <a:off x="9525" y="18869"/>
            <a:ext cx="694944" cy="2590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幸</a:t>
            </a:r>
          </a:p>
        </p:txBody>
      </p:sp>
    </p:spTree>
    <p:extLst>
      <p:ext uri="{BB962C8B-B14F-4D97-AF65-F5344CB8AC3E}">
        <p14:creationId xmlns:p14="http://schemas.microsoft.com/office/powerpoint/2010/main" val="111302434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ゴシック"/>
        <a:ea typeface="BIZ UDPゴシック"/>
        <a:cs typeface="BIZ UDPゴシック"/>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BIZ UDPゴシック"/>
        <a:cs typeface="BIZ UDPゴシック"/>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2029</Words>
  <Application>Microsoft Office PowerPoint</Application>
  <PresentationFormat>ワイド画面</PresentationFormat>
  <Paragraphs>242</Paragraphs>
  <Slides>7</Slides>
  <Notes>6</Notes>
  <HiddenSlides>0</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7</vt:i4>
      </vt:variant>
    </vt:vector>
  </HeadingPairs>
  <TitlesOfParts>
    <vt:vector size="12" baseType="lpstr">
      <vt:lpstr>BIZ UDPゴシック</vt:lpstr>
      <vt:lpstr>Yu Gothic</vt:lpstr>
      <vt:lpstr>Arial</vt:lpstr>
      <vt:lpstr>1_Office Theme</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Panasonic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CUTE10 品質・CS・環境 3ページ記入フォーマット</dc:title>
  <dc:subject>PptxGenJS Presentation</dc:subject>
  <dc:creator>FUKUOKA DAISUKE (福岡 大輔)</dc:creator>
  <cp:lastModifiedBy>Hoashi Masakazu (帆足 正和)</cp:lastModifiedBy>
  <cp:revision>4</cp:revision>
  <dcterms:created xsi:type="dcterms:W3CDTF">2026-08-28T04:55:18Z</dcterms:created>
  <dcterms:modified xsi:type="dcterms:W3CDTF">2026-09-19T08:19:11Z</dcterms:modified>
</cp:coreProperties>
</file>