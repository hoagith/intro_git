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4" r:id="rId1"/>
  </p:sldMasterIdLst>
  <p:notesMasterIdLst>
    <p:notesMasterId r:id="rId5"/>
  </p:notesMasterIdLst>
  <p:sldIdLst>
    <p:sldId id="1830" r:id="rId2"/>
    <p:sldId id="1831" r:id="rId3"/>
    <p:sldId id="1832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276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126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9/15/2026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Ideas and keywords are drawn from transcribed CUTE10 meetings on 8/19 and 8/26: turn13search2 lines 525-566; turn13search6 lines 40-62, 71-137, 146-201. The slide is an editable draft format; details must be maintained and verified by the担当者.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894D4-F82C-4EB8-08B7-7B88E8BA1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AD96-9A7A-4555-5434-339283E36E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678198-0DB4-B538-FBCB-3DDF96BA42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Ideas and keywords are drawn from transcribed CUTE10 meetings on 8/19 and 8/26: turn13search2 lines 525-566; turn13search6 lines 40-62, 71-137, 146-201. The slide is an editable draft format; details must be maintained and verified by the担当者.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30ECB-3224-2E99-1A25-97403CBD60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20050113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4DB83-43B3-0D2E-4967-B087E94FF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4975E4-213B-B9C7-C73E-D3D3077AC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97970F-FA8D-D17F-5E54-993846BA7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[Sources]
Ideas and keywords are drawn from transcribed CUTE10 meetings on 8/19 and 8/26: turn13search2 lines 525-566; turn13search6 lines 40-62, 71-137, 146-201. The slide is an editable draft format; details must be maintained and verified by the担当者.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C4F44-D10C-E2E8-4C52-040626F458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3898905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5883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116580-1B06-8960-E7F0-9CDA45B37A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C124D8B-669B-F3BC-B736-BBBD923964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93B72B-DFDB-9ECF-152C-7FAB5E3E0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7680B-45B9-4B99-B3E9-76930A1FD627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6FC84CB-72C8-7686-5548-0092F9CDF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A37163F-2C60-852E-A5B1-F4B3D34AA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D678E6-7FC7-4E8C-9A6F-74A82CC587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4991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41C0"/>
          </a:solidFill>
          <a:ln w="12700">
            <a:solidFill>
              <a:srgbClr val="0041C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57200" y="6528816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667085"/>
                </a:solidFill>
              </a:rPr>
              <a:t>CUTE10｜中間発表ドラフト</a:t>
            </a:r>
            <a:endParaRPr lang="en-US" sz="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528816"/>
            <a:ext cx="219456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196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528816"/>
            <a:ext cx="219456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3735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7" r:id="rId2"/>
    <p:sldLayoutId id="2147483658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BIZ UDPゴシック"/>
          <a:ea typeface="BIZ UDPゴシック"/>
          <a:cs typeface="BIZ UDPゴシック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50" name="Rectangle 49"/>
          <p:cNvSpPr/>
          <p:nvPr/>
        </p:nvSpPr>
        <p:spPr>
          <a:xfrm>
            <a:off x="0" y="0"/>
            <a:ext cx="12192000" cy="292608"/>
          </a:xfrm>
          <a:prstGeom prst="rect">
            <a:avLst/>
          </a:prstGeom>
          <a:solidFill>
            <a:srgbClr val="004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" name="Text 0"/>
          <p:cNvSpPr/>
          <p:nvPr/>
        </p:nvSpPr>
        <p:spPr>
          <a:xfrm>
            <a:off x="475488" y="2926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2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04｜CUSTOMER SERVICE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1D35"/>
                </a:solidFill>
                <a:effectLst/>
                <a:uLnTx/>
                <a:uFillTx/>
                <a:latin typeface="BIZ UDPゴシック"/>
                <a:ea typeface="BIZ UDPゴシック"/>
              </a:rPr>
              <a:t>CS｜購入後の安心を、購入前の選択価値へ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" name="Text 2"/>
          <p:cNvSpPr/>
          <p:nvPr/>
        </p:nvSpPr>
        <p:spPr>
          <a:xfrm>
            <a:off x="493776" y="10241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67085"/>
                </a:solidFill>
                <a:effectLst/>
                <a:uLnTx/>
                <a:uFillTx/>
                <a:latin typeface="BIZ UDPゴシック"/>
                <a:ea typeface="BIZ UDPゴシック"/>
              </a:rPr>
              <a:t>担当者が詳細を追記・更新する共通フォーマット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732520" y="411480"/>
            <a:ext cx="2926080" cy="713232"/>
          </a:xfrm>
          <a:prstGeom prst="roundRect">
            <a:avLst>
              <a:gd name="adj" fmla="val 6410"/>
            </a:avLst>
          </a:prstGeom>
          <a:solidFill>
            <a:srgbClr val="FFF1E5"/>
          </a:solidFill>
          <a:ln w="12700">
            <a:solidFill>
              <a:srgbClr val="D96B1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6" name="Text 4"/>
          <p:cNvSpPr/>
          <p:nvPr/>
        </p:nvSpPr>
        <p:spPr>
          <a:xfrm>
            <a:off x="8942832" y="548640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カテゴリの一言定義</a:t>
            </a:r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7" name="Text 5"/>
          <p:cNvSpPr/>
          <p:nvPr/>
        </p:nvSpPr>
        <p:spPr>
          <a:xfrm>
            <a:off x="8942832" y="768096"/>
            <a:ext cx="2487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001D35"/>
                </a:solidFill>
                <a:effectLst/>
                <a:uLnTx/>
                <a:uFillTx/>
                <a:latin typeface="BIZ UDPゴシック"/>
                <a:ea typeface="BIZ UDPゴシック"/>
              </a:rPr>
              <a:t>「任せられる理由」を具体化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94360" y="1975104"/>
            <a:ext cx="3438144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95528" y="2139696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01｜現状・強み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95528" y="2450592"/>
            <a:ext cx="3035808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489704" y="1975104"/>
            <a:ext cx="3438144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690872" y="2139696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02｜課題・伝達ギャップ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90872" y="2450592"/>
            <a:ext cx="3035808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385048" y="1975104"/>
            <a:ext cx="3410712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586216" y="213969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03｜提案・目指す姿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586216" y="2450592"/>
            <a:ext cx="3008376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75488" y="4846320"/>
            <a:ext cx="7150608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76656" y="5010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会議で出たアイデアの芽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2971800" y="5029200"/>
            <a:ext cx="3337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>
                <a:ln>
                  <a:noFill/>
                </a:ln>
                <a:solidFill>
                  <a:srgbClr val="667085"/>
                </a:solidFill>
                <a:effectLst/>
                <a:uLnTx/>
                <a:uFillTx/>
                <a:latin typeface="BIZ UDPゴシック"/>
                <a:ea typeface="BIZ UDPゴシック"/>
              </a:rPr>
              <a:t>採否・表現・優先順位は担当者で更新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6656" y="5321808"/>
            <a:ext cx="6748272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94944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68096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8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問い合わせ導線</a:t>
            </a:r>
            <a:endParaRPr kumimoji="0" lang="en-US" sz="7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2048256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2121408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8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修理・サービス拠点</a:t>
            </a:r>
            <a:endParaRPr kumimoji="0" lang="en-US" sz="7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401568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3474720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8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延長保証</a:t>
            </a:r>
            <a:endParaRPr kumimoji="0" lang="en-US" sz="7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754880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828032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8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オンライン相談</a:t>
            </a:r>
            <a:endParaRPr kumimoji="0" lang="en-US" sz="7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108192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181344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8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困った時カード</a:t>
            </a:r>
            <a:endParaRPr kumimoji="0" lang="en-US" sz="7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94944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768096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8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価値カード</a:t>
            </a:r>
            <a:endParaRPr kumimoji="0" lang="en-US" sz="7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2048256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2121408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8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口コミのきっかけ</a:t>
            </a:r>
            <a:endParaRPr kumimoji="0" lang="en-US" sz="7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3401568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3474720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8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長くつながる</a:t>
            </a:r>
            <a:endParaRPr kumimoji="0" lang="en-US" sz="7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7882128" y="4846320"/>
            <a:ext cx="3794760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083296" y="5010912"/>
            <a:ext cx="3392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担当者メモ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083296" y="5321808"/>
            <a:ext cx="3392424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110728" y="5468112"/>
            <a:ext cx="333756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8A94A3"/>
                </a:solidFill>
                <a:effectLst/>
                <a:uLnTx/>
                <a:uFillTx/>
                <a:latin typeface="BIZ UDPゴシック"/>
                <a:ea typeface="BIZ UDPゴシック"/>
              </a:rPr>
              <a:t>・追加調査／確認先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8A94A3"/>
                </a:solidFill>
                <a:effectLst/>
                <a:uLnTx/>
                <a:uFillTx/>
                <a:latin typeface="BIZ UDPゴシック"/>
                <a:ea typeface="BIZ UDPゴシック"/>
              </a:rPr>
              <a:t>・使いたい写真・動画・数値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8A94A3"/>
                </a:solidFill>
                <a:effectLst/>
                <a:uLnTx/>
                <a:uFillTx/>
                <a:latin typeface="BIZ UDPゴシック"/>
                <a:ea typeface="BIZ UDPゴシック"/>
              </a:rPr>
              <a:t>・社外公開可否／出典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528816"/>
            <a:ext cx="219456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667085"/>
                </a:solidFill>
                <a:effectLst/>
                <a:uLnTx/>
                <a:uFillTx/>
                <a:latin typeface="BIZ UDPゴシック"/>
                <a:ea typeface="BIZ UDPゴシック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667085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5720"/>
            <a:ext cx="1316736" cy="210312"/>
          </a:xfrm>
          <a:prstGeom prst="rect">
            <a:avLst/>
          </a:prstGeom>
        </p:spPr>
      </p:pic>
      <p:sp>
        <p:nvSpPr>
          <p:cNvPr id="9" name="Text 16">
            <a:extLst>
              <a:ext uri="{FF2B5EF4-FFF2-40B4-BE49-F238E27FC236}">
                <a16:creationId xmlns:a16="http://schemas.microsoft.com/office/drawing/2014/main" id="{E9F25ABE-7384-A628-774B-1C217ACD3544}"/>
              </a:ext>
            </a:extLst>
          </p:cNvPr>
          <p:cNvSpPr/>
          <p:nvPr/>
        </p:nvSpPr>
        <p:spPr>
          <a:xfrm>
            <a:off x="4640580" y="2596896"/>
            <a:ext cx="3163824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パナソニック</a:t>
            </a:r>
            <a:r>
              <a:rPr kumimoji="0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CS</a:t>
            </a: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の</a:t>
            </a:r>
            <a:r>
              <a:rPr kumimoji="0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BIZ UDPゴシック"/>
                <a:ea typeface="BIZ UDPゴシック"/>
              </a:rPr>
              <a:t>価値が伝わり切っていない</a:t>
            </a:r>
            <a:endParaRPr kumimoji="0" lang="en-US" altLang="ja-JP" sz="12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BIZ UDPゴシック"/>
              <a:ea typeface="BIZ UDP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充実した</a:t>
            </a:r>
            <a:r>
              <a:rPr kumimoji="0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CS</a:t>
            </a: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による安心を感じてもらいたい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E3C5DE52-F7B5-83E1-1730-83D62B03D70F}"/>
              </a:ext>
            </a:extLst>
          </p:cNvPr>
          <p:cNvSpPr/>
          <p:nvPr/>
        </p:nvSpPr>
        <p:spPr>
          <a:xfrm>
            <a:off x="8641842" y="2596896"/>
            <a:ext cx="2953512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購入に繋げるという点で、</a:t>
            </a:r>
            <a:endParaRPr kumimoji="0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お買い物の最中にその安心を思い出してもらえる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53" name="Text 16">
            <a:extLst>
              <a:ext uri="{FF2B5EF4-FFF2-40B4-BE49-F238E27FC236}">
                <a16:creationId xmlns:a16="http://schemas.microsoft.com/office/drawing/2014/main" id="{87B329DF-6855-46D6-250E-6CD36DF73B92}"/>
              </a:ext>
            </a:extLst>
          </p:cNvPr>
          <p:cNvSpPr/>
          <p:nvPr/>
        </p:nvSpPr>
        <p:spPr>
          <a:xfrm>
            <a:off x="776859" y="2601469"/>
            <a:ext cx="3589020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家電のコモディティ化が進む中、</a:t>
            </a:r>
            <a:endParaRPr kumimoji="0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BIZ UDPゴシック"/>
                <a:ea typeface="BIZ UDPゴシック"/>
              </a:rPr>
              <a:t>CS</a:t>
            </a:r>
            <a:r>
              <a:rPr kumimoji="0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BIZ UDPゴシック"/>
                <a:ea typeface="BIZ UDPゴシック"/>
              </a:rPr>
              <a:t>は差別化ポイント</a:t>
            </a:r>
            <a:endParaRPr kumimoji="0" lang="en-US" altLang="ja-JP" sz="12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BIZ UDPゴシック"/>
              <a:ea typeface="BIZ UDP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パナソニック</a:t>
            </a:r>
            <a:r>
              <a:rPr kumimoji="0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CS</a:t>
            </a: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の強み</a:t>
            </a:r>
            <a:endParaRPr kumimoji="0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　困ったときの問い合わせ先がわかりやすい</a:t>
            </a:r>
            <a:endParaRPr kumimoji="0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　問い合わせ先がフリーダイヤル</a:t>
            </a:r>
            <a:endParaRPr kumimoji="0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　商品別の電話番号で繋がりやすい</a:t>
            </a:r>
            <a:endParaRPr kumimoji="0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　サービス拠点が全国</a:t>
            </a:r>
            <a:r>
              <a:rPr kumimoji="0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100</a:t>
            </a: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か所以上で迅速対応</a:t>
            </a:r>
            <a:endParaRPr kumimoji="0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　ネット接続品の延長保証（</a:t>
            </a:r>
            <a:r>
              <a:rPr kumimoji="0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3</a:t>
            </a: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年）</a:t>
            </a:r>
            <a:endParaRPr kumimoji="0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/>
                <a:ea typeface="BIZ UDPゴシック"/>
              </a:rPr>
              <a:t>　無料のオンラインコンシェルジュサービス</a:t>
            </a:r>
            <a:endParaRPr kumimoji="0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D1A160C-7588-8047-8843-E302C8E60862}"/>
              </a:ext>
            </a:extLst>
          </p:cNvPr>
          <p:cNvSpPr/>
          <p:nvPr/>
        </p:nvSpPr>
        <p:spPr>
          <a:xfrm>
            <a:off x="9525" y="18869"/>
            <a:ext cx="694944" cy="2590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/>
              <a:t>帆足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2FE32-CB33-CA05-FC10-55B1D8502758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49" name="Rectangle 48"/>
          <p:cNvSpPr/>
          <p:nvPr/>
        </p:nvSpPr>
        <p:spPr>
          <a:xfrm>
            <a:off x="0" y="0"/>
            <a:ext cx="12192000" cy="292608"/>
          </a:xfrm>
          <a:prstGeom prst="rect">
            <a:avLst/>
          </a:prstGeom>
          <a:solidFill>
            <a:srgbClr val="004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D0B78C40-9357-42EB-C534-8FA3F2D82B65}"/>
              </a:ext>
            </a:extLst>
          </p:cNvPr>
          <p:cNvSpPr/>
          <p:nvPr/>
        </p:nvSpPr>
        <p:spPr>
          <a:xfrm>
            <a:off x="475488" y="330708"/>
            <a:ext cx="2724912" cy="164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2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04｜CUSTOMER SATISFACTION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1957688-CEE1-8973-F18F-BAF95798875C}"/>
              </a:ext>
            </a:extLst>
          </p:cNvPr>
          <p:cNvSpPr/>
          <p:nvPr/>
        </p:nvSpPr>
        <p:spPr>
          <a:xfrm>
            <a:off x="475488" y="5669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err="1">
                <a:ln>
                  <a:noFill/>
                </a:ln>
                <a:solidFill>
                  <a:srgbClr val="001D35"/>
                </a:solidFill>
                <a:effectLst/>
                <a:uLnTx/>
                <a:uFillTx/>
                <a:latin typeface="BIZ UDPゴシック"/>
                <a:ea typeface="BIZ UDPゴシック"/>
              </a:rPr>
              <a:t>CS｜購入</a:t>
            </a:r>
            <a:r>
              <a:rPr kumimoji="0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01D35"/>
                </a:solidFill>
                <a:effectLst/>
                <a:uLnTx/>
                <a:uFillTx/>
                <a:latin typeface="BIZ UDPゴシック"/>
                <a:ea typeface="BIZ UDPゴシック"/>
              </a:rPr>
              <a:t>者の価値理解促進 ➡ 価値の口コミ伝達もサポート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29CBDF-D5C3-BA5A-3268-EC5A89088863}"/>
              </a:ext>
            </a:extLst>
          </p:cNvPr>
          <p:cNvSpPr/>
          <p:nvPr/>
        </p:nvSpPr>
        <p:spPr>
          <a:xfrm>
            <a:off x="493776" y="10241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667085"/>
                </a:solidFill>
                <a:effectLst/>
                <a:uLnTx/>
                <a:uFillTx/>
                <a:latin typeface="BIZ UDPゴシック"/>
                <a:ea typeface="BIZ UDPゴシック"/>
              </a:rPr>
              <a:t>商品の感性価値を伝える９枚＋困った時に</a:t>
            </a:r>
            <a:r>
              <a:rPr kumimoji="0" lang="en-US" altLang="ja-JP" sz="1050" b="1" i="0" u="none" strike="noStrike" kern="1200" cap="none" spc="0" normalizeH="0" baseline="0" noProof="0">
                <a:ln>
                  <a:noFill/>
                </a:ln>
                <a:solidFill>
                  <a:srgbClr val="667085"/>
                </a:solidFill>
                <a:effectLst/>
                <a:uLnTx/>
                <a:uFillTx/>
                <a:latin typeface="BIZ UDPゴシック"/>
                <a:ea typeface="BIZ UDPゴシック"/>
              </a:rPr>
              <a:t>CS</a:t>
            </a:r>
            <a:r>
              <a:rPr kumimoji="0" lang="ja-JP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667085"/>
                </a:solidFill>
                <a:effectLst/>
                <a:uLnTx/>
                <a:uFillTx/>
                <a:latin typeface="BIZ UDPゴシック"/>
                <a:ea typeface="BIZ UDPゴシック"/>
              </a:rPr>
              <a:t>につながる１枚</a:t>
            </a:r>
            <a:endParaRPr kumimoji="0" lang="en-US" sz="10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0552F38-DB59-B52A-C4EE-D3D1674CAA75}"/>
              </a:ext>
            </a:extLst>
          </p:cNvPr>
          <p:cNvSpPr/>
          <p:nvPr/>
        </p:nvSpPr>
        <p:spPr>
          <a:xfrm>
            <a:off x="8732520" y="411480"/>
            <a:ext cx="2926080" cy="713232"/>
          </a:xfrm>
          <a:prstGeom prst="roundRect">
            <a:avLst>
              <a:gd name="adj" fmla="val 6410"/>
            </a:avLst>
          </a:prstGeom>
          <a:solidFill>
            <a:srgbClr val="FFF1E5"/>
          </a:solidFill>
          <a:ln w="12700">
            <a:solidFill>
              <a:srgbClr val="D96B1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C23A908-619F-EDAA-642E-37B1783F5B0C}"/>
              </a:ext>
            </a:extLst>
          </p:cNvPr>
          <p:cNvSpPr/>
          <p:nvPr/>
        </p:nvSpPr>
        <p:spPr>
          <a:xfrm>
            <a:off x="8942832" y="548640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カテゴリの一言定義</a:t>
            </a:r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57C664B-CB22-05AF-EFDD-85484D8A084D}"/>
              </a:ext>
            </a:extLst>
          </p:cNvPr>
          <p:cNvSpPr/>
          <p:nvPr/>
        </p:nvSpPr>
        <p:spPr>
          <a:xfrm>
            <a:off x="8893848" y="792588"/>
            <a:ext cx="2487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001D35"/>
                </a:solidFill>
                <a:effectLst/>
                <a:uLnTx/>
                <a:uFillTx/>
                <a:latin typeface="BIZ UDPゴシック"/>
                <a:ea typeface="BIZ UDPゴシック"/>
              </a:rPr>
              <a:t>「</a:t>
            </a:r>
            <a:r>
              <a:rPr kumimoji="0" lang="ja-JP" altLang="en-US" sz="1150" b="1" i="0" u="none" strike="noStrike" kern="1200" cap="none" spc="0" normalizeH="0" baseline="0" noProof="0">
                <a:ln>
                  <a:noFill/>
                </a:ln>
                <a:solidFill>
                  <a:srgbClr val="001D35"/>
                </a:solidFill>
                <a:effectLst/>
                <a:uLnTx/>
                <a:uFillTx/>
                <a:latin typeface="BIZ UDPゴシック"/>
                <a:ea typeface="BIZ UDPゴシック"/>
              </a:rPr>
              <a:t>価値や安心の伝え方</a:t>
            </a: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001D35"/>
                </a:solidFill>
                <a:effectLst/>
                <a:uLnTx/>
                <a:uFillTx/>
                <a:latin typeface="BIZ UDPゴシック"/>
                <a:ea typeface="BIZ UDPゴシック"/>
              </a:rPr>
              <a:t>」</a:t>
            </a:r>
            <a:r>
              <a:rPr kumimoji="0" lang="ja-JP" altLang="en-US" sz="1150" b="1" i="0" u="none" strike="noStrike" kern="1200" cap="none" spc="0" normalizeH="0" baseline="0" noProof="0">
                <a:ln>
                  <a:noFill/>
                </a:ln>
                <a:solidFill>
                  <a:srgbClr val="001D35"/>
                </a:solidFill>
                <a:effectLst/>
                <a:uLnTx/>
                <a:uFillTx/>
                <a:latin typeface="BIZ UDPゴシック"/>
                <a:ea typeface="BIZ UDPゴシック"/>
              </a:rPr>
              <a:t>のデザイン</a:t>
            </a:r>
            <a:endParaRPr kumimoji="0" lang="en-US" altLang="ja-JP" sz="1150" b="1" i="0" u="none" strike="noStrike" kern="1200" cap="none" spc="0" normalizeH="0" baseline="0" noProof="0">
              <a:ln>
                <a:noFill/>
              </a:ln>
              <a:solidFill>
                <a:srgbClr val="001D35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3707769-B9F4-83DD-F722-F48ACCF9956B}"/>
              </a:ext>
            </a:extLst>
          </p:cNvPr>
          <p:cNvSpPr/>
          <p:nvPr/>
        </p:nvSpPr>
        <p:spPr>
          <a:xfrm>
            <a:off x="594360" y="1975104"/>
            <a:ext cx="3438144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7128C54-424B-A409-4CCD-DEF80531B6ED}"/>
              </a:ext>
            </a:extLst>
          </p:cNvPr>
          <p:cNvSpPr/>
          <p:nvPr/>
        </p:nvSpPr>
        <p:spPr>
          <a:xfrm>
            <a:off x="795528" y="2139696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01｜現状・強み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D4CFDC3-AF8A-2A30-DACB-D487C420005A}"/>
              </a:ext>
            </a:extLst>
          </p:cNvPr>
          <p:cNvSpPr/>
          <p:nvPr/>
        </p:nvSpPr>
        <p:spPr>
          <a:xfrm>
            <a:off x="795528" y="2450592"/>
            <a:ext cx="3035808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D9A47B0-F6B6-8894-4D3B-452BDD332386}"/>
              </a:ext>
            </a:extLst>
          </p:cNvPr>
          <p:cNvSpPr/>
          <p:nvPr/>
        </p:nvSpPr>
        <p:spPr>
          <a:xfrm>
            <a:off x="822960" y="2596896"/>
            <a:ext cx="2980944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8A94A3"/>
                </a:solidFill>
                <a:effectLst/>
                <a:uLnTx/>
                <a:uFillTx/>
                <a:latin typeface="BIZ UDPゴシック"/>
                <a:ea typeface="BIZ UDPゴシック"/>
              </a:rPr>
              <a:t>現在行っている取組、代表事例、根拠となる数字・画像・担当者コメントを記載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19291DA-5DE8-404B-4BDF-B45C27A83ACA}"/>
              </a:ext>
            </a:extLst>
          </p:cNvPr>
          <p:cNvSpPr/>
          <p:nvPr/>
        </p:nvSpPr>
        <p:spPr>
          <a:xfrm>
            <a:off x="4489704" y="1975104"/>
            <a:ext cx="3438144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B3ABD0B-F2A4-35A1-6568-2A0356063740}"/>
              </a:ext>
            </a:extLst>
          </p:cNvPr>
          <p:cNvSpPr/>
          <p:nvPr/>
        </p:nvSpPr>
        <p:spPr>
          <a:xfrm>
            <a:off x="4690872" y="2139696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02｜課題・伝達ギャップ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C2AF561-1F94-5E38-39F6-BAF3BEFE6251}"/>
              </a:ext>
            </a:extLst>
          </p:cNvPr>
          <p:cNvSpPr/>
          <p:nvPr/>
        </p:nvSpPr>
        <p:spPr>
          <a:xfrm>
            <a:off x="4690872" y="2450592"/>
            <a:ext cx="3035808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888AE77-6855-33C5-E0DD-C8BA7DF6B575}"/>
              </a:ext>
            </a:extLst>
          </p:cNvPr>
          <p:cNvSpPr/>
          <p:nvPr/>
        </p:nvSpPr>
        <p:spPr>
          <a:xfrm>
            <a:off x="4718304" y="2596896"/>
            <a:ext cx="2980944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8A94A3"/>
                </a:solidFill>
                <a:effectLst/>
                <a:uLnTx/>
                <a:uFillTx/>
                <a:latin typeface="BIZ UDPゴシック"/>
                <a:ea typeface="BIZ UDPゴシック"/>
              </a:rPr>
              <a:t>良い取組が「誰に」「なぜ」伝わっていないか。現状の発信・顧客接点・認知上の課題を記載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A9965C5A-9CFF-E679-047D-F20847BAE64D}"/>
              </a:ext>
            </a:extLst>
          </p:cNvPr>
          <p:cNvSpPr/>
          <p:nvPr/>
        </p:nvSpPr>
        <p:spPr>
          <a:xfrm>
            <a:off x="8385048" y="1975104"/>
            <a:ext cx="3410712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8156C047-4439-3552-6D62-5400D9BA4D12}"/>
              </a:ext>
            </a:extLst>
          </p:cNvPr>
          <p:cNvSpPr/>
          <p:nvPr/>
        </p:nvSpPr>
        <p:spPr>
          <a:xfrm>
            <a:off x="8586216" y="213969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03｜提案・目指す姿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F9253F2-C046-0E5F-FD1B-3E5385D43E7F}"/>
              </a:ext>
            </a:extLst>
          </p:cNvPr>
          <p:cNvSpPr/>
          <p:nvPr/>
        </p:nvSpPr>
        <p:spPr>
          <a:xfrm>
            <a:off x="8586216" y="2450592"/>
            <a:ext cx="3008376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5005888-002F-8745-2E05-EF0D57478C8A}"/>
              </a:ext>
            </a:extLst>
          </p:cNvPr>
          <p:cNvSpPr/>
          <p:nvPr/>
        </p:nvSpPr>
        <p:spPr>
          <a:xfrm>
            <a:off x="8613648" y="2596896"/>
            <a:ext cx="2953512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8A94A3"/>
                </a:solidFill>
                <a:effectLst/>
                <a:uLnTx/>
                <a:uFillTx/>
                <a:latin typeface="BIZ UDPゴシック"/>
                <a:ea typeface="BIZ UDPゴシック"/>
              </a:rPr>
              <a:t>完成形でなくてよい。こう変えると良くなるのでは、という方向性と期待する未来を記載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FEF98C3F-4815-BF16-ED75-1B835C73B22D}"/>
              </a:ext>
            </a:extLst>
          </p:cNvPr>
          <p:cNvSpPr/>
          <p:nvPr/>
        </p:nvSpPr>
        <p:spPr>
          <a:xfrm>
            <a:off x="475488" y="4846320"/>
            <a:ext cx="7150608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422B669-88BB-0F19-68F0-8FDCFB118F15}"/>
              </a:ext>
            </a:extLst>
          </p:cNvPr>
          <p:cNvSpPr/>
          <p:nvPr/>
        </p:nvSpPr>
        <p:spPr>
          <a:xfrm>
            <a:off x="676656" y="5010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会議で出たアイデアの芽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A0E3368-4EDD-4C58-0CEA-CE675CAB8876}"/>
              </a:ext>
            </a:extLst>
          </p:cNvPr>
          <p:cNvSpPr/>
          <p:nvPr/>
        </p:nvSpPr>
        <p:spPr>
          <a:xfrm>
            <a:off x="2971800" y="5029200"/>
            <a:ext cx="3337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>
                <a:ln>
                  <a:noFill/>
                </a:ln>
                <a:solidFill>
                  <a:srgbClr val="667085"/>
                </a:solidFill>
                <a:effectLst/>
                <a:uLnTx/>
                <a:uFillTx/>
                <a:latin typeface="BIZ UDPゴシック"/>
                <a:ea typeface="BIZ UDPゴシック"/>
              </a:rPr>
              <a:t>採否・表現・優先順位は担当者で更新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CB15D90B-7D5E-DF95-6BF2-C1A553290299}"/>
              </a:ext>
            </a:extLst>
          </p:cNvPr>
          <p:cNvSpPr/>
          <p:nvPr/>
        </p:nvSpPr>
        <p:spPr>
          <a:xfrm>
            <a:off x="676656" y="5321808"/>
            <a:ext cx="6748272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372519A6-DF52-48D8-0BD8-C65D48F58CF9}"/>
              </a:ext>
            </a:extLst>
          </p:cNvPr>
          <p:cNvSpPr/>
          <p:nvPr/>
        </p:nvSpPr>
        <p:spPr>
          <a:xfrm>
            <a:off x="694944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B0CD650-574D-E1B1-9DE3-DC346A132473}"/>
              </a:ext>
            </a:extLst>
          </p:cNvPr>
          <p:cNvSpPr/>
          <p:nvPr/>
        </p:nvSpPr>
        <p:spPr>
          <a:xfrm>
            <a:off x="768096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8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問い合わせ導線</a:t>
            </a:r>
            <a:endParaRPr kumimoji="0" lang="en-US" sz="7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E128C558-7182-03B4-D8DB-A86482AC6E2F}"/>
              </a:ext>
            </a:extLst>
          </p:cNvPr>
          <p:cNvSpPr/>
          <p:nvPr/>
        </p:nvSpPr>
        <p:spPr>
          <a:xfrm>
            <a:off x="2048256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821D3E4F-1733-B59C-0DCF-4BBBDE9FEC99}"/>
              </a:ext>
            </a:extLst>
          </p:cNvPr>
          <p:cNvSpPr/>
          <p:nvPr/>
        </p:nvSpPr>
        <p:spPr>
          <a:xfrm>
            <a:off x="2121408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8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修理・サービス拠点</a:t>
            </a:r>
            <a:endParaRPr kumimoji="0" lang="en-US" sz="7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165B04B4-DA54-DA3D-A66D-8E3F992E7F87}"/>
              </a:ext>
            </a:extLst>
          </p:cNvPr>
          <p:cNvSpPr/>
          <p:nvPr/>
        </p:nvSpPr>
        <p:spPr>
          <a:xfrm>
            <a:off x="3401568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A137CE43-EB7E-7BB4-6B62-1186E96E12EF}"/>
              </a:ext>
            </a:extLst>
          </p:cNvPr>
          <p:cNvSpPr/>
          <p:nvPr/>
        </p:nvSpPr>
        <p:spPr>
          <a:xfrm>
            <a:off x="3474720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8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延長保証</a:t>
            </a:r>
            <a:endParaRPr kumimoji="0" lang="en-US" sz="7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32116409-5595-0AD3-B8FD-A749C76E29FE}"/>
              </a:ext>
            </a:extLst>
          </p:cNvPr>
          <p:cNvSpPr/>
          <p:nvPr/>
        </p:nvSpPr>
        <p:spPr>
          <a:xfrm>
            <a:off x="4754880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8AA242A2-BA5F-ACF9-F43B-E1716DCA5694}"/>
              </a:ext>
            </a:extLst>
          </p:cNvPr>
          <p:cNvSpPr/>
          <p:nvPr/>
        </p:nvSpPr>
        <p:spPr>
          <a:xfrm>
            <a:off x="4828032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8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オンライン相談</a:t>
            </a:r>
            <a:endParaRPr kumimoji="0" lang="en-US" sz="7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543CB743-17A4-6CCF-4146-FCF5D5359CD1}"/>
              </a:ext>
            </a:extLst>
          </p:cNvPr>
          <p:cNvSpPr/>
          <p:nvPr/>
        </p:nvSpPr>
        <p:spPr>
          <a:xfrm>
            <a:off x="6108192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C394426D-6A0A-9A6F-0678-82E03A05BC9E}"/>
              </a:ext>
            </a:extLst>
          </p:cNvPr>
          <p:cNvSpPr/>
          <p:nvPr/>
        </p:nvSpPr>
        <p:spPr>
          <a:xfrm>
            <a:off x="6181344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8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困った時カード</a:t>
            </a:r>
            <a:endParaRPr kumimoji="0" lang="en-US" sz="7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B766134D-7580-DEBB-2EF0-7074853DEF68}"/>
              </a:ext>
            </a:extLst>
          </p:cNvPr>
          <p:cNvSpPr/>
          <p:nvPr/>
        </p:nvSpPr>
        <p:spPr>
          <a:xfrm>
            <a:off x="694944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1CC89F7C-E813-ED86-F0D7-D4C3A9CB8E2A}"/>
              </a:ext>
            </a:extLst>
          </p:cNvPr>
          <p:cNvSpPr/>
          <p:nvPr/>
        </p:nvSpPr>
        <p:spPr>
          <a:xfrm>
            <a:off x="768096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8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価値カード</a:t>
            </a:r>
            <a:endParaRPr kumimoji="0" lang="en-US" sz="7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C33185EE-2BC1-5542-D4BA-7038313F8BA0}"/>
              </a:ext>
            </a:extLst>
          </p:cNvPr>
          <p:cNvSpPr/>
          <p:nvPr/>
        </p:nvSpPr>
        <p:spPr>
          <a:xfrm>
            <a:off x="2048256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3B7FCB0C-7DBE-62BE-83E1-CD5BCCF26251}"/>
              </a:ext>
            </a:extLst>
          </p:cNvPr>
          <p:cNvSpPr/>
          <p:nvPr/>
        </p:nvSpPr>
        <p:spPr>
          <a:xfrm>
            <a:off x="2121408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8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口コミのきっかけ</a:t>
            </a:r>
            <a:endParaRPr kumimoji="0" lang="en-US" sz="7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8846290B-C568-0DF4-7B24-E84810F04088}"/>
              </a:ext>
            </a:extLst>
          </p:cNvPr>
          <p:cNvSpPr/>
          <p:nvPr/>
        </p:nvSpPr>
        <p:spPr>
          <a:xfrm>
            <a:off x="3401568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B52564CA-4EB1-F34E-CB40-C7D27FBA7F3F}"/>
              </a:ext>
            </a:extLst>
          </p:cNvPr>
          <p:cNvSpPr/>
          <p:nvPr/>
        </p:nvSpPr>
        <p:spPr>
          <a:xfrm>
            <a:off x="3474720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8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長くつながる</a:t>
            </a:r>
            <a:endParaRPr kumimoji="0" lang="en-US" sz="78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CCA37F39-CF6E-F794-0E35-49AD49BAC6B3}"/>
              </a:ext>
            </a:extLst>
          </p:cNvPr>
          <p:cNvSpPr/>
          <p:nvPr/>
        </p:nvSpPr>
        <p:spPr>
          <a:xfrm>
            <a:off x="7882128" y="4846320"/>
            <a:ext cx="3794760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C298BA81-DAF5-D05C-1BBF-7B5AC217EE4C}"/>
              </a:ext>
            </a:extLst>
          </p:cNvPr>
          <p:cNvSpPr/>
          <p:nvPr/>
        </p:nvSpPr>
        <p:spPr>
          <a:xfrm>
            <a:off x="8083296" y="5010912"/>
            <a:ext cx="3392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D96B18"/>
                </a:solidFill>
                <a:effectLst/>
                <a:uLnTx/>
                <a:uFillTx/>
                <a:latin typeface="BIZ UDPゴシック"/>
                <a:ea typeface="BIZ UDPゴシック"/>
              </a:rPr>
              <a:t>担当者メモ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777401C6-9154-AC8A-B3BE-EE9CDA0BFC80}"/>
              </a:ext>
            </a:extLst>
          </p:cNvPr>
          <p:cNvSpPr/>
          <p:nvPr/>
        </p:nvSpPr>
        <p:spPr>
          <a:xfrm>
            <a:off x="8083296" y="5321808"/>
            <a:ext cx="3392424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7C25ACBA-9569-AF10-394F-788C25B019B7}"/>
              </a:ext>
            </a:extLst>
          </p:cNvPr>
          <p:cNvSpPr/>
          <p:nvPr/>
        </p:nvSpPr>
        <p:spPr>
          <a:xfrm>
            <a:off x="8110728" y="5468112"/>
            <a:ext cx="333756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8A94A3"/>
                </a:solidFill>
                <a:effectLst/>
                <a:uLnTx/>
                <a:uFillTx/>
                <a:latin typeface="BIZ UDPゴシック"/>
                <a:ea typeface="BIZ UDPゴシック"/>
              </a:rPr>
              <a:t>・追加調査／確認先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8A94A3"/>
                </a:solidFill>
                <a:effectLst/>
                <a:uLnTx/>
                <a:uFillTx/>
                <a:latin typeface="BIZ UDPゴシック"/>
                <a:ea typeface="BIZ UDPゴシック"/>
              </a:rPr>
              <a:t>・使いたい写真・動画・数値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8A94A3"/>
                </a:solidFill>
                <a:effectLst/>
                <a:uLnTx/>
                <a:uFillTx/>
                <a:latin typeface="BIZ UDPゴシック"/>
                <a:ea typeface="BIZ UDPゴシック"/>
              </a:rPr>
              <a:t>・社外公開可否／出典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sp>
        <p:nvSpPr>
          <p:cNvPr id="47" name="Slide Number Placeholder 0">
            <a:extLst>
              <a:ext uri="{FF2B5EF4-FFF2-40B4-BE49-F238E27FC236}">
                <a16:creationId xmlns:a16="http://schemas.microsoft.com/office/drawing/2014/main" id="{D694B230-A9EA-BA30-84A7-5F8F4957179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76304" y="6528816"/>
            <a:ext cx="219456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667085"/>
                </a:solidFill>
                <a:effectLst/>
                <a:uLnTx/>
                <a:uFillTx/>
                <a:latin typeface="BIZ UDPゴシック"/>
                <a:ea typeface="BIZ UDPゴシック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667085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5720"/>
            <a:ext cx="1316736" cy="210312"/>
          </a:xfrm>
          <a:prstGeom prst="rect">
            <a:avLst/>
          </a:prstGeom>
        </p:spPr>
      </p:pic>
      <p:pic>
        <p:nvPicPr>
          <p:cNvPr id="51" name="図 50">
            <a:extLst>
              <a:ext uri="{FF2B5EF4-FFF2-40B4-BE49-F238E27FC236}">
                <a16:creationId xmlns:a16="http://schemas.microsoft.com/office/drawing/2014/main" id="{DC36FA70-B874-5FF9-F124-04311BFF61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4933" b="4000"/>
          <a:stretch>
            <a:fillRect/>
          </a:stretch>
        </p:blipFill>
        <p:spPr>
          <a:xfrm>
            <a:off x="126056" y="1289304"/>
            <a:ext cx="11797720" cy="5229382"/>
          </a:xfrm>
          <a:prstGeom prst="rect">
            <a:avLst/>
          </a:prstGeom>
        </p:spPr>
      </p:pic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37DF8CBB-2FAC-3CB3-4FFD-39F7A0303134}"/>
              </a:ext>
            </a:extLst>
          </p:cNvPr>
          <p:cNvSpPr txBox="1"/>
          <p:nvPr/>
        </p:nvSpPr>
        <p:spPr>
          <a:xfrm>
            <a:off x="10654013" y="2024043"/>
            <a:ext cx="761619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生活変わったよ</a:t>
            </a: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34F3233A-3B25-AAC6-0F4C-0E8BC22C37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8059" b="89967" l="9969" r="89954">
                        <a14:foregroundMark x1="42658" y1="51645" x2="42658" y2="51645"/>
                        <a14:foregroundMark x1="41113" y1="50740" x2="41113" y2="53536"/>
                        <a14:foregroundMark x1="53294" y1="49538" x2="53400" y2="53207"/>
                        <a14:foregroundMark x1="45595" y1="39638" x2="45595" y2="39638"/>
                        <a14:foregroundMark x1="49614" y1="38898" x2="49614" y2="38898"/>
                        <a14:foregroundMark x1="52937" y1="38898" x2="52937" y2="38898"/>
                        <a14:foregroundMark x1="58114" y1="38898" x2="58114" y2="38898"/>
                        <a14:foregroundMark x1="54405" y1="35033" x2="54405" y2="35033"/>
                        <a14:foregroundMark x1="47836" y1="35197" x2="47836" y2="35197"/>
                        <a14:foregroundMark x1="43895" y1="34868" x2="43895" y2="34868"/>
                        <a14:foregroundMark x1="56955" y1="56661" x2="56955" y2="56661"/>
                        <a14:foregroundMark x1="55178" y1="60115" x2="55178" y2="60115"/>
                        <a14:foregroundMark x1="50927" y1="35855" x2="50927" y2="35855"/>
                        <a14:foregroundMark x1="53400" y1="39638" x2="53400" y2="39638"/>
                        <a14:foregroundMark x1="57187" y1="34622" x2="57187" y2="34622"/>
                        <a14:foregroundMark x1="32921" y1="31332" x2="32921" y2="31332"/>
                        <a14:foregroundMark x1="33694" y1="31168" x2="30371" y2="30839"/>
                        <a14:foregroundMark x1="40340" y1="20806" x2="36399" y2="14063"/>
                        <a14:foregroundMark x1="51932" y1="17352" x2="52859" y2="8059"/>
                        <a14:foregroundMark x1="65997" y1="21217" x2="67717" y2="19803"/>
                        <a14:foregroundMark x1="67233" y1="19737" x2="68161" y2="18421"/>
                        <a14:foregroundMark x1="75889" y1="52632" x2="79134" y2="54030"/>
                        <a14:foregroundMark x1="72643" y1="58224" x2="72488" y2="59128"/>
                        <a14:backgroundMark x1="47450" y1="34786" x2="47450" y2="34786"/>
                        <a14:backgroundMark x1="56491" y1="35855" x2="56491" y2="35855"/>
                        <a14:backgroundMark x1="56878" y1="35362" x2="56414" y2="35609"/>
                        <a14:backgroundMark x1="50927" y1="35033" x2="50850" y2="35609"/>
                        <a14:backgroundMark x1="56414" y1="39391" x2="56414" y2="39391"/>
                        <a14:backgroundMark x1="52937" y1="38816" x2="52937" y2="38816"/>
                        <a14:backgroundMark x1="49382" y1="40132" x2="49382" y2="40132"/>
                        <a14:backgroundMark x1="50155" y1="40132" x2="50155" y2="40132"/>
                        <a14:backgroundMark x1="49691" y1="39803" x2="49691" y2="39803"/>
                        <a14:backgroundMark x1="55641" y1="49918" x2="55641" y2="49918"/>
                        <a14:backgroundMark x1="53400" y1="48684" x2="54096" y2="47944"/>
                        <a14:backgroundMark x1="54946" y1="52138" x2="55410" y2="51398"/>
                        <a14:backgroundMark x1="51855" y1="51316" x2="50850" y2="50493"/>
                        <a14:backgroundMark x1="50155" y1="47862" x2="51159" y2="47697"/>
                        <a14:backgroundMark x1="51236" y1="45970" x2="51623" y2="46217"/>
                        <a14:backgroundMark x1="53941" y1="46053" x2="53941" y2="46053"/>
                        <a14:backgroundMark x1="54946" y1="50329" x2="55719" y2="50987"/>
                        <a14:backgroundMark x1="54946" y1="51151" x2="53709" y2="51151"/>
                        <a14:backgroundMark x1="51082" y1="52385" x2="51855" y2="52385"/>
                        <a14:backgroundMark x1="49150" y1="68010" x2="49150" y2="68010"/>
                        <a14:backgroundMark x1="51932" y1="52385" x2="51623" y2="51151"/>
                        <a14:backgroundMark x1="50927" y1="53125" x2="50927" y2="51151"/>
                        <a14:backgroundMark x1="50696" y1="52467" x2="50696" y2="52467"/>
                        <a14:backgroundMark x1="50696" y1="51316" x2="50696" y2="51316"/>
                        <a14:backgroundMark x1="50618" y1="51891" x2="50618" y2="51891"/>
                        <a14:backgroundMark x1="50232" y1="51891" x2="52396" y2="51645"/>
                        <a14:backgroundMark x1="52473" y1="51563" x2="52937" y2="51398"/>
                        <a14:backgroundMark x1="54173" y1="51151" x2="53246" y2="51809"/>
                        <a14:backgroundMark x1="54482" y1="50822" x2="54482" y2="50000"/>
                        <a14:backgroundMark x1="53478" y1="48438" x2="53478" y2="48438"/>
                        <a14:backgroundMark x1="54250" y1="48109" x2="53091" y2="48109"/>
                        <a14:backgroundMark x1="55100" y1="50576" x2="56105" y2="51809"/>
                        <a14:backgroundMark x1="69165" y1="20395" x2="68161" y2="20806"/>
                        <a14:backgroundMark x1="72488" y1="17352" x2="70866" y2="17352"/>
                        <a14:backgroundMark x1="71716" y1="17270" x2="68046" y2="18726"/>
                        <a14:backgroundMark x1="70866" y1="17516" x2="72952" y2="15707"/>
                        <a14:backgroundMark x1="68470" y1="19079" x2="68083" y2="2023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99248" y="283182"/>
            <a:ext cx="1155006" cy="1085384"/>
          </a:xfrm>
          <a:prstGeom prst="rect">
            <a:avLst/>
          </a:prstGeom>
        </p:spPr>
      </p:pic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44D209AB-BBE0-CC55-8448-34DC96466DA7}"/>
              </a:ext>
            </a:extLst>
          </p:cNvPr>
          <p:cNvSpPr txBox="1"/>
          <p:nvPr/>
        </p:nvSpPr>
        <p:spPr>
          <a:xfrm>
            <a:off x="6852504" y="5779500"/>
            <a:ext cx="761619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　　　　　　　　　　</a:t>
            </a:r>
            <a:endParaRPr kumimoji="1" lang="en-US" altLang="ja-JP" sz="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9008ECAC-C477-04EC-D51E-1BADDD2574FE}"/>
              </a:ext>
            </a:extLst>
          </p:cNvPr>
          <p:cNvSpPr txBox="1"/>
          <p:nvPr/>
        </p:nvSpPr>
        <p:spPr>
          <a:xfrm>
            <a:off x="3260761" y="5134037"/>
            <a:ext cx="1735782" cy="16158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　　　　　　　　　　</a:t>
            </a:r>
            <a:endParaRPr kumimoji="1" lang="en-US" altLang="ja-JP" sz="10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D466EC9-9B47-E3AB-56D2-4B50EC802CC6}"/>
              </a:ext>
            </a:extLst>
          </p:cNvPr>
          <p:cNvSpPr/>
          <p:nvPr/>
        </p:nvSpPr>
        <p:spPr>
          <a:xfrm>
            <a:off x="9525" y="18869"/>
            <a:ext cx="694944" cy="2590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/>
              <a:t>幸</a:t>
            </a:r>
          </a:p>
        </p:txBody>
      </p:sp>
    </p:spTree>
    <p:extLst>
      <p:ext uri="{BB962C8B-B14F-4D97-AF65-F5344CB8AC3E}">
        <p14:creationId xmlns:p14="http://schemas.microsoft.com/office/powerpoint/2010/main" val="1310024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29037-9117-BC5C-5652-17A70D796A50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2D512AF8-37AC-7D95-6FDB-7F7A7EC7220E}"/>
              </a:ext>
            </a:extLst>
          </p:cNvPr>
          <p:cNvSpPr/>
          <p:nvPr/>
        </p:nvSpPr>
        <p:spPr>
          <a:xfrm>
            <a:off x="0" y="0"/>
            <a:ext cx="12192000" cy="292608"/>
          </a:xfrm>
          <a:prstGeom prst="rect">
            <a:avLst/>
          </a:prstGeom>
          <a:solidFill>
            <a:srgbClr val="004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ゴシック"/>
              <a:ea typeface="BIZ UDPゴシック"/>
            </a:endParaRPr>
          </a:p>
        </p:txBody>
      </p:sp>
      <p:pic>
        <p:nvPicPr>
          <p:cNvPr id="50" name="Picture 49" descr="image.png">
            <a:extLst>
              <a:ext uri="{FF2B5EF4-FFF2-40B4-BE49-F238E27FC236}">
                <a16:creationId xmlns:a16="http://schemas.microsoft.com/office/drawing/2014/main" id="{B85FB0FF-514A-4D9F-1E20-72E97101C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5720"/>
            <a:ext cx="1316736" cy="210312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1E4A003-6F75-2F47-75C4-0B711648B3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271" y="362820"/>
            <a:ext cx="11776819" cy="6152279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641C48-2A2C-5423-17D2-4616624257CA}"/>
              </a:ext>
            </a:extLst>
          </p:cNvPr>
          <p:cNvSpPr txBox="1"/>
          <p:nvPr/>
        </p:nvSpPr>
        <p:spPr>
          <a:xfrm>
            <a:off x="5731518" y="5763171"/>
            <a:ext cx="761619" cy="12311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　　　　　　　　　　</a:t>
            </a:r>
            <a:endParaRPr kumimoji="1" lang="en-US" altLang="ja-JP" sz="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BE0C37D-5090-6CD9-6071-CE636BF3F089}"/>
              </a:ext>
            </a:extLst>
          </p:cNvPr>
          <p:cNvSpPr/>
          <p:nvPr/>
        </p:nvSpPr>
        <p:spPr>
          <a:xfrm>
            <a:off x="9525" y="18869"/>
            <a:ext cx="694944" cy="2590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/>
              <a:t>幸</a:t>
            </a:r>
          </a:p>
        </p:txBody>
      </p:sp>
    </p:spTree>
    <p:extLst>
      <p:ext uri="{BB962C8B-B14F-4D97-AF65-F5344CB8AC3E}">
        <p14:creationId xmlns:p14="http://schemas.microsoft.com/office/powerpoint/2010/main" val="111302434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Pゴシック"/>
        <a:ea typeface="BIZ UDPゴシック"/>
        <a:cs typeface="BIZ UDPゴシック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ゴシック"/>
        <a:ea typeface="BIZ UDPゴシック"/>
        <a:cs typeface="BIZ UDPゴシック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430</Words>
  <Application>Microsoft Office PowerPoint</Application>
  <PresentationFormat>ワイド画面</PresentationFormat>
  <Paragraphs>76</Paragraphs>
  <Slides>3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BIZ UDPゴシック</vt:lpstr>
      <vt:lpstr>Yu Gothic</vt:lpstr>
      <vt:lpstr>Arial</vt:lpstr>
      <vt:lpstr>1_Office Theme</vt:lpstr>
      <vt:lpstr>PowerPoint プレゼンテーション</vt:lpstr>
      <vt:lpstr>PowerPoint プレゼンテーション</vt:lpstr>
      <vt:lpstr>PowerPoint プレゼンテーション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CUTE10 品質・CS・環境 3ページ記入フォーマット</dc:title>
  <dc:subject>PptxGenJS Presentation</dc:subject>
  <dc:creator>FUKUOKA DAISUKE (福岡 大輔)</dc:creator>
  <cp:lastModifiedBy>Hoashi Masakazu (帆足 正和)</cp:lastModifiedBy>
  <cp:revision>2</cp:revision>
  <dcterms:created xsi:type="dcterms:W3CDTF">2026-08-28T04:55:18Z</dcterms:created>
  <dcterms:modified xsi:type="dcterms:W3CDTF">2026-09-15T11:16:15Z</dcterms:modified>
</cp:coreProperties>
</file>