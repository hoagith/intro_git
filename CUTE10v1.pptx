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3" r:id="rId2"/>
    <p:sldId id="262" r:id="rId3"/>
    <p:sldId id="264" r:id="rId4"/>
    <p:sldId id="256" r:id="rId5"/>
    <p:sldId id="259" r:id="rId6"/>
    <p:sldId id="257" r:id="rId7"/>
    <p:sldId id="260" r:id="rId8"/>
    <p:sldId id="258" r:id="rId9"/>
    <p:sldId id="261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3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Internal grounding: role allocation and design support in turn1search15 and turn1search17. Names use available internal source representations.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Internal grounding: common format and output policy in turn1search15, turn1search17, and meeting discussion turn1search22.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Internal grounding: CU annual schedule and event timing in turn1search18; CUTE10 July-October work plan in turn1search15.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Ideas and keywords are drawn from transcribed CUTE10 meetings on 8/19 and 8/26: turn13search2 lines 290-295, 330-376, 486-523; turn13search6 lines 55-62. The slide is an editable draft format; details must be maintained and verified by the担当者.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24010-0365-51FB-B03A-80E617DD6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6DB87-7722-250C-1CBA-9E240052B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8E501F-28C7-2629-C344-640655BCE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Ideas and keywords are drawn from transcribed CUTE10 meetings on 8/19 and 8/26: turn13search2 lines 290-295, 330-376, 486-523; turn13search6 lines 55-62. The slide is an editable draft format; details must be maintained and verified by the担当者.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90A8-2E86-D942-719A-17310DAB3A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60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Ideas and keywords are drawn from transcribed CUTE10 meetings on 8/19 and 8/26: turn13search2 lines 525-566; turn13search6 lines 40-62, 71-137, 146-201. The slide is an editable draft format; details must be maintained and verified by the担当者.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94D4-F82C-4EB8-08B7-7B88E8BA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AD96-9A7A-4555-5434-339283E36E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78198-0DB4-B538-FBCB-3DDF96BA42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Ideas and keywords are drawn from transcribed CUTE10 meetings on 8/19 and 8/26: turn13search2 lines 525-566; turn13search6 lines 40-62, 71-137, 146-201. The slide is an editable draft format; details must be maintained and verified by the担当者.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30ECB-3224-2E99-1A25-97403CBD60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0113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Ideas and keywords are drawn from transcribed CUTE10 meetings on 8/19 and 8/26: turn13search2 lines 244-288, 296-329, 404-480; turn13search6 lines 59-62. The slide is an editable draft format; details must be maintained and verified by the担当者.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71524-D370-5BFC-285F-3C4A21BB6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5B4AB-1CB6-03E9-7A87-FE6F01B45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421CFB-86F7-1A2C-CF18-8542E69EA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Ideas and keywords are drawn from transcribed CUTE10 meetings on 8/19 and 8/26: turn13search2 lines 244-288, 296-329, 404-480; turn13search6 lines 59-62. The slide is an editable draft format; details must be maintained and verified by the担当者.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2DE5F-D29C-C847-5725-35AA31825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148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0041C0"/>
          </a:solidFill>
          <a:ln w="12700">
            <a:solidFill>
              <a:srgbClr val="0041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57200" y="6528816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7085"/>
                </a:solidFill>
              </a:rPr>
              <a:t>CUTE10｜中間発表ドラフト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0041C0"/>
          </a:solidFill>
          <a:ln w="12700">
            <a:solidFill>
              <a:srgbClr val="0041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11480" y="651052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CUTE10｜品質・CS・環境取組の価値を「選ばれる理由」へ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469880" y="651052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中間発表｜2026.10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0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0041C0"/>
                </a:solidFill>
              </a:rPr>
              <a:t>03｜TEAM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1D35"/>
                </a:solidFill>
              </a:rPr>
              <a:t>8名のメンバーと役割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15214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67085"/>
                </a:solidFill>
              </a:rPr>
              <a:t>氏名だけではなく、「誰が何の視点を持ち寄るか」が一目で分かる紹介へ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67512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832104" y="1801368"/>
            <a:ext cx="512064" cy="512064"/>
          </a:xfrm>
          <a:prstGeom prst="ellipse">
            <a:avLst/>
          </a:prstGeom>
          <a:solidFill>
            <a:srgbClr val="0041C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32104" y="19476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490472" y="18288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福岡 大輔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0392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リーダー｜進行・統合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3685032" y="1801368"/>
            <a:ext cx="512064" cy="51206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3685032" y="19476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43400" y="18288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上野 愛莉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0332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サブ｜品質・ストーリー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73368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6537960" y="1801368"/>
            <a:ext cx="512064" cy="512064"/>
          </a:xfrm>
          <a:prstGeom prst="ellipse">
            <a:avLst/>
          </a:prstGeom>
          <a:solidFill>
            <a:srgbClr val="0041C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6537960" y="19476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96328" y="18288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平野 憲久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56248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品質｜事例・出納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226296" y="16002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9390888" y="1801368"/>
            <a:ext cx="512064" cy="512064"/>
          </a:xfrm>
          <a:prstGeom prst="ellipse">
            <a:avLst/>
          </a:prstGeom>
          <a:solidFill>
            <a:srgbClr val="F3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9390888" y="19476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49256" y="18288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帆足 正和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409176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CS｜現場ヒアリング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67512" y="36576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832104" y="3858768"/>
            <a:ext cx="512064" cy="512064"/>
          </a:xfrm>
          <a:prstGeom prst="ellipse">
            <a:avLst/>
          </a:prstGeom>
          <a:solidFill>
            <a:srgbClr val="008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832104" y="40050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490472" y="38862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高田 嘉尚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0392" y="4526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環境｜事例調査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520440" y="36576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3685032" y="3858768"/>
            <a:ext cx="512064" cy="512064"/>
          </a:xfrm>
          <a:prstGeom prst="ellipse">
            <a:avLst/>
          </a:prstGeom>
          <a:solidFill>
            <a:srgbClr val="008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3685032" y="40050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43400" y="38862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大嶋 愛美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703320" y="4526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環境｜PR仮説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73368" y="36576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34"/>
          <p:cNvSpPr/>
          <p:nvPr/>
        </p:nvSpPr>
        <p:spPr>
          <a:xfrm>
            <a:off x="6537960" y="3858768"/>
            <a:ext cx="512064" cy="512064"/>
          </a:xfrm>
          <a:prstGeom prst="ellipse">
            <a:avLst/>
          </a:prstGeom>
          <a:solidFill>
            <a:srgbClr val="001D3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5"/>
          <p:cNvSpPr/>
          <p:nvPr/>
        </p:nvSpPr>
        <p:spPr>
          <a:xfrm>
            <a:off x="6537960" y="40050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196328" y="38862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小林 萌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56248" y="4526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資料デザイン｜統一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6016752"/>
            <a:ext cx="11018520" cy="36576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749808" y="6117336"/>
            <a:ext cx="10652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運用ポイント：顔写真を使う場合も、役割・担当領域・今回の貢献を必ず併記。</a:t>
            </a:r>
            <a:endParaRPr lang="en-US" sz="95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44" name="Image 0" descr="/mnt/data/image.png">
            <a:extLst>
              <a:ext uri="{FF2B5EF4-FFF2-40B4-BE49-F238E27FC236}">
                <a16:creationId xmlns:a16="http://schemas.microsoft.com/office/drawing/2014/main" id="{59769EE7-6FDB-135E-88F8-F0A03FBAF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410" y="47472"/>
            <a:ext cx="1315995" cy="213611"/>
          </a:xfrm>
          <a:prstGeom prst="rect">
            <a:avLst/>
          </a:prstGeom>
        </p:spPr>
      </p:pic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ED3B3296-9105-1D6A-21D9-0122EF4D9035}"/>
              </a:ext>
            </a:extLst>
          </p:cNvPr>
          <p:cNvSpPr/>
          <p:nvPr/>
        </p:nvSpPr>
        <p:spPr>
          <a:xfrm>
            <a:off x="5021395" y="3131573"/>
            <a:ext cx="2149210" cy="612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/>
              <a:t>デザイン・並び変更</a:t>
            </a:r>
            <a:endParaRPr kumimoji="1" lang="en-US" altLang="ja-JP" sz="1200" b="1" dirty="0"/>
          </a:p>
          <a:p>
            <a:pPr algn="ctr"/>
            <a:r>
              <a:rPr kumimoji="1" lang="ja-JP" altLang="en-US" sz="1200" b="1"/>
              <a:t>一言修正</a:t>
            </a:r>
            <a:endParaRPr kumimoji="1" lang="ja-JP" altLang="en-US" sz="1200" b="1" dirty="0"/>
          </a:p>
        </p:txBody>
      </p:sp>
      <p:sp>
        <p:nvSpPr>
          <p:cNvPr id="43" name="Shape 18"/>
          <p:cNvSpPr/>
          <p:nvPr/>
        </p:nvSpPr>
        <p:spPr>
          <a:xfrm>
            <a:off x="9226296" y="36576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381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19"/>
          <p:cNvSpPr/>
          <p:nvPr/>
        </p:nvSpPr>
        <p:spPr>
          <a:xfrm>
            <a:off x="9390888" y="3858768"/>
            <a:ext cx="512064" cy="512064"/>
          </a:xfrm>
          <a:prstGeom prst="ellipse">
            <a:avLst/>
          </a:prstGeom>
          <a:solidFill>
            <a:srgbClr val="F398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Text 20"/>
          <p:cNvSpPr/>
          <p:nvPr/>
        </p:nvSpPr>
        <p:spPr>
          <a:xfrm>
            <a:off x="9390888" y="4005072"/>
            <a:ext cx="5120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48" name="Text 21"/>
          <p:cNvSpPr/>
          <p:nvPr/>
        </p:nvSpPr>
        <p:spPr>
          <a:xfrm>
            <a:off x="10049256" y="38862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1D35"/>
                </a:solidFill>
              </a:rPr>
              <a:t>幸 裕弘</a:t>
            </a:r>
            <a:endParaRPr lang="en-US" sz="1400" dirty="0"/>
          </a:p>
        </p:txBody>
      </p:sp>
      <p:sp>
        <p:nvSpPr>
          <p:cNvPr id="49" name="Text 22"/>
          <p:cNvSpPr/>
          <p:nvPr/>
        </p:nvSpPr>
        <p:spPr>
          <a:xfrm>
            <a:off x="9409176" y="4526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67085"/>
                </a:solidFill>
              </a:rPr>
              <a:t>担当｜記入予定</a:t>
            </a:r>
            <a:endParaRPr lang="en-US" sz="1050" dirty="0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398AEF9-643E-E707-8553-8E678896CC66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福岡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0041C0"/>
                </a:solidFill>
              </a:rPr>
              <a:t>02｜APPROACH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1D35"/>
                </a:solidFill>
              </a:rPr>
              <a:t>本CUの取組方針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15214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67085"/>
                </a:solidFill>
              </a:rPr>
              <a:t>良い取組の紹介で終わらず、社外認知・共感・選択までの変換方法を提案する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337560" cy="342900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82296" cy="3429000"/>
          </a:xfrm>
          <a:prstGeom prst="rect">
            <a:avLst/>
          </a:prstGeom>
          <a:solidFill>
            <a:srgbClr val="0041C0"/>
          </a:solidFill>
          <a:ln w="12700">
            <a:solidFill>
              <a:srgbClr val="0041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68680" y="1874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001D35"/>
                </a:solidFill>
              </a:rPr>
              <a:t>現状認識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276856"/>
            <a:ext cx="2926080" cy="2679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社内には、品質・CS・環境の優れた取組がある。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 err="1">
                <a:solidFill>
                  <a:srgbClr val="1F2937"/>
                </a:solidFill>
              </a:rPr>
              <a:t>一方、認知・購買プロセスでは、その価値が</a:t>
            </a:r>
            <a:r>
              <a:rPr lang="ja-JP" altLang="en-US" sz="1150" dirty="0">
                <a:solidFill>
                  <a:srgbClr val="1F2937"/>
                </a:solidFill>
              </a:rPr>
              <a:t>十分</a:t>
            </a:r>
            <a:r>
              <a:rPr lang="en-US" sz="1150" dirty="0">
                <a:solidFill>
                  <a:srgbClr val="1F2937"/>
                </a:solidFill>
              </a:rPr>
              <a:t>に</a:t>
            </a:r>
            <a:r>
              <a:rPr lang="ja-JP" altLang="en-US" sz="1150" dirty="0">
                <a:solidFill>
                  <a:srgbClr val="1F2937"/>
                </a:solidFill>
              </a:rPr>
              <a:t>伝えきれておらず、</a:t>
            </a:r>
            <a:r>
              <a:rPr lang="en-US" sz="1150" dirty="0" err="1">
                <a:solidFill>
                  <a:srgbClr val="1F2937"/>
                </a:solidFill>
              </a:rPr>
              <a:t>見える形になっていない</a:t>
            </a:r>
            <a:r>
              <a:rPr lang="ja-JP" altLang="en-US" sz="1150" dirty="0">
                <a:solidFill>
                  <a:srgbClr val="1F2937"/>
                </a:solidFill>
              </a:rPr>
              <a:t>のではないか</a:t>
            </a:r>
            <a:r>
              <a:rPr lang="en-US" sz="1150" dirty="0">
                <a:solidFill>
                  <a:srgbClr val="1F2937"/>
                </a:solidFill>
              </a:rPr>
              <a:t>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691640"/>
            <a:ext cx="3337560" cy="342900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10" name="Shape 8"/>
          <p:cNvSpPr/>
          <p:nvPr/>
        </p:nvSpPr>
        <p:spPr>
          <a:xfrm>
            <a:off x="4434840" y="1691640"/>
            <a:ext cx="82296" cy="3429000"/>
          </a:xfrm>
          <a:prstGeom prst="rect">
            <a:avLst/>
          </a:prstGeom>
          <a:solidFill>
            <a:srgbClr val="F39800"/>
          </a:solidFill>
          <a:ln w="12700">
            <a:solidFill>
              <a:srgbClr val="F398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663440" y="1874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ja-JP" altLang="en-US" sz="1500" b="1" dirty="0">
                <a:solidFill>
                  <a:srgbClr val="001D35"/>
                </a:solidFill>
              </a:rPr>
              <a:t>仮説の検討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63440" y="2276856"/>
            <a:ext cx="2926080" cy="2679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「何をしているか」ではなく、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 err="1">
                <a:solidFill>
                  <a:srgbClr val="1F2937"/>
                </a:solidFill>
              </a:rPr>
              <a:t>その取組を、誰に・どの接点で・どの証拠と物語で伝えれば</a:t>
            </a:r>
            <a:r>
              <a:rPr lang="en-US" sz="1150" dirty="0">
                <a:solidFill>
                  <a:srgbClr val="1F2937"/>
                </a:solidFill>
              </a:rPr>
              <a:t>、</a:t>
            </a:r>
            <a:r>
              <a:rPr lang="ja-JP" altLang="en-US" sz="1150" dirty="0">
                <a:solidFill>
                  <a:srgbClr val="1F2937"/>
                </a:solidFill>
              </a:rPr>
              <a:t>「企業価値の向上」と「</a:t>
            </a:r>
            <a:r>
              <a:rPr lang="en-US" sz="1150" dirty="0" err="1">
                <a:solidFill>
                  <a:srgbClr val="1F2937"/>
                </a:solidFill>
              </a:rPr>
              <a:t>選ばれる理由</a:t>
            </a:r>
            <a:r>
              <a:rPr lang="ja-JP" altLang="en-US" sz="1150" dirty="0">
                <a:solidFill>
                  <a:srgbClr val="1F2937"/>
                </a:solidFill>
              </a:rPr>
              <a:t>」</a:t>
            </a:r>
            <a:r>
              <a:rPr lang="en-US" sz="1150" dirty="0" err="1">
                <a:solidFill>
                  <a:srgbClr val="1F2937"/>
                </a:solidFill>
              </a:rPr>
              <a:t>になる</a:t>
            </a:r>
            <a:r>
              <a:rPr lang="ja-JP" altLang="en-US" sz="1150" dirty="0">
                <a:solidFill>
                  <a:srgbClr val="1F2937"/>
                </a:solidFill>
              </a:rPr>
              <a:t>の</a:t>
            </a:r>
            <a:r>
              <a:rPr lang="en-US" sz="1150" dirty="0">
                <a:solidFill>
                  <a:srgbClr val="1F2937"/>
                </a:solidFill>
              </a:rPr>
              <a:t>か。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1691640"/>
            <a:ext cx="3337560" cy="342900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8229600" y="1691640"/>
            <a:ext cx="82296" cy="3429000"/>
          </a:xfrm>
          <a:prstGeom prst="rect">
            <a:avLst/>
          </a:prstGeom>
          <a:solidFill>
            <a:srgbClr val="00856A"/>
          </a:solidFill>
          <a:ln w="12700">
            <a:solidFill>
              <a:srgbClr val="00856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8458200" y="18745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001D35"/>
                </a:solidFill>
              </a:rPr>
              <a:t>10月の到達点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58200" y="2276856"/>
            <a:ext cx="2926080" cy="2679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3領域の事例調査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＋課題仮説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＋PR施策仮説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＋2月までの検証計画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</a:rPr>
              <a:t>経営への相談事項を明確化。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6016752"/>
            <a:ext cx="11018520" cy="365760"/>
          </a:xfrm>
          <a:prstGeom prst="roundRect">
            <a:avLst>
              <a:gd name="adj" fmla="val 100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749808" y="6117336"/>
            <a:ext cx="10652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社長報告では「調査した」より「何を意思決定してほしいか」を最後に置く。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0" name="Image 0" descr="/mnt/data/image.png">
            <a:extLst>
              <a:ext uri="{FF2B5EF4-FFF2-40B4-BE49-F238E27FC236}">
                <a16:creationId xmlns:a16="http://schemas.microsoft.com/office/drawing/2014/main" id="{39384295-CB6B-F16C-2D1E-14426171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410" y="47472"/>
            <a:ext cx="1315995" cy="213611"/>
          </a:xfrm>
          <a:prstGeom prst="rect">
            <a:avLst/>
          </a:prstGeom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89F0109-DA37-3B9F-43BC-5D246757BE27}"/>
              </a:ext>
            </a:extLst>
          </p:cNvPr>
          <p:cNvSpPr/>
          <p:nvPr/>
        </p:nvSpPr>
        <p:spPr>
          <a:xfrm>
            <a:off x="4896427" y="3310004"/>
            <a:ext cx="2149210" cy="612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判りやすく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29EA70DA-F74C-1D9B-A828-163563A65927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福岡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40" dirty="0">
                <a:solidFill>
                  <a:srgbClr val="0041C0"/>
                </a:solidFill>
              </a:rPr>
              <a:t>04｜ROADMAP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09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001D35"/>
                </a:solidFill>
              </a:rPr>
              <a:t>全体ロードマップ｜7月から翌年2月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115214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67085"/>
                </a:solidFill>
              </a:rPr>
              <a:t>「活動の全景」を示すページ。末尾では重複させず、直近アクションだけを示す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74520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7月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136392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8月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85032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4398264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9月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46904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660136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10月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08776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922008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11月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70648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8183880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12月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732520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9445752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1月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994392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10707624" y="1600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1D35"/>
                </a:solidFill>
              </a:rPr>
              <a:t>2月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256264" y="2011680"/>
            <a:ext cx="1" cy="333756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457200" y="225856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立上げ・調査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874520" y="2148840"/>
            <a:ext cx="2414016" cy="438912"/>
          </a:xfrm>
          <a:prstGeom prst="roundRect">
            <a:avLst>
              <a:gd name="adj" fmla="val 16667"/>
            </a:avLst>
          </a:prstGeom>
          <a:solidFill>
            <a:srgbClr val="0041C0"/>
          </a:solidFill>
          <a:ln w="12700">
            <a:solidFill>
              <a:srgbClr val="0041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57200" y="300837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中間発表準備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36392" y="2898648"/>
            <a:ext cx="2414016" cy="438912"/>
          </a:xfrm>
          <a:prstGeom prst="roundRect">
            <a:avLst>
              <a:gd name="adj" fmla="val 16667"/>
            </a:avLst>
          </a:prstGeom>
          <a:solidFill>
            <a:srgbClr val="F39800"/>
          </a:solidFill>
          <a:ln w="12700">
            <a:solidFill>
              <a:srgbClr val="F398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457200" y="375818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仮説検証・共創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0136" y="3648456"/>
            <a:ext cx="3675888" cy="438912"/>
          </a:xfrm>
          <a:prstGeom prst="roundRect">
            <a:avLst>
              <a:gd name="adj" fmla="val 16667"/>
            </a:avLst>
          </a:prstGeom>
          <a:solidFill>
            <a:srgbClr val="009FE3"/>
          </a:solidFill>
          <a:ln w="12700">
            <a:solidFill>
              <a:srgbClr val="009F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457200" y="450799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</a:rPr>
              <a:t>最終提案化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83880" y="4398264"/>
            <a:ext cx="3675888" cy="438912"/>
          </a:xfrm>
          <a:prstGeom prst="roundRect">
            <a:avLst>
              <a:gd name="adj" fmla="val 16667"/>
            </a:avLst>
          </a:prstGeom>
          <a:solidFill>
            <a:srgbClr val="00856A"/>
          </a:solidFill>
          <a:ln w="12700">
            <a:solidFill>
              <a:srgbClr val="00856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5660136" y="1463040"/>
            <a:ext cx="1" cy="4389120"/>
          </a:xfrm>
          <a:prstGeom prst="line">
            <a:avLst/>
          </a:prstGeom>
          <a:noFill/>
          <a:ln w="25400">
            <a:solidFill>
              <a:srgbClr val="C94B4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5257800" y="5440680"/>
            <a:ext cx="1645920" cy="292608"/>
          </a:xfrm>
          <a:prstGeom prst="roundRect">
            <a:avLst>
              <a:gd name="adj" fmla="val 37500"/>
            </a:avLst>
          </a:prstGeom>
          <a:solidFill>
            <a:srgbClr val="C94B4B"/>
          </a:solidFill>
          <a:ln w="12700">
            <a:solidFill>
              <a:srgbClr val="C94B4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5330952" y="5490972"/>
            <a:ext cx="14996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10/6 中間発表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0195560" y="5440680"/>
            <a:ext cx="1325880" cy="292608"/>
          </a:xfrm>
          <a:prstGeom prst="roundRect">
            <a:avLst>
              <a:gd name="adj" fmla="val 37500"/>
            </a:avLst>
          </a:prstGeom>
          <a:solidFill>
            <a:srgbClr val="00856A"/>
          </a:solidFill>
          <a:ln w="12700">
            <a:solidFill>
              <a:srgbClr val="00856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10268712" y="5490972"/>
            <a:ext cx="11795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2月 最終発表</a:t>
            </a:r>
            <a:endParaRPr lang="en-US" sz="9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36" name="Image 0" descr="/mnt/data/image.png">
            <a:extLst>
              <a:ext uri="{FF2B5EF4-FFF2-40B4-BE49-F238E27FC236}">
                <a16:creationId xmlns:a16="http://schemas.microsoft.com/office/drawing/2014/main" id="{6C72D4E5-F8B7-0038-7761-A41DB271F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410" y="47472"/>
            <a:ext cx="1315995" cy="213611"/>
          </a:xfrm>
          <a:prstGeom prst="rect">
            <a:avLst/>
          </a:prstGeom>
        </p:spPr>
      </p:pic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92E0EBFE-41F1-8669-EC8D-5C9CBC6AB6D0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福岡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9" name="Rectangle 48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/>
          <p:cNvSpPr/>
          <p:nvPr/>
        </p:nvSpPr>
        <p:spPr>
          <a:xfrm>
            <a:off x="475488" y="292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556B8"/>
                </a:solidFill>
              </a:rPr>
              <a:t>03｜QUALITY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1D35"/>
                </a:solidFill>
              </a:rPr>
              <a:t>品質｜見えないこだわりを、伝わる価値へ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</a:rPr>
              <a:t>担当者が詳細を追記・更新する共通フォーマット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12700">
            <a:solidFill>
              <a:srgbClr val="1556B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56B8"/>
                </a:solidFill>
              </a:rPr>
              <a:t>カテゴリの一言定義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942832" y="76809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01D35"/>
                </a:solidFill>
              </a:rPr>
              <a:t>「信じられる理由」を見える化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" y="2008499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676656" y="2173091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01｜現状・強み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" y="2483987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704088" y="2630291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現在行っている取組、代表事例、根拠となる数字・画像・担当者コメントを記載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70832" y="2008499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4572000" y="2173091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02｜課題・伝達ギャップ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0" y="2483987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4599432" y="2630291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良い取組が「誰に」「なぜ」伝わっていないか。現状の発信・顧客接点・認知上の課題を記載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66176" y="2008499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8467344" y="2173091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03｜提案・目指す姿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67344" y="2483987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8494776" y="2630291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完成形でなくてよい。こう変えると良くなるのでは、という方向性と期待する未来を記載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会議で出たアイデアの芽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採否・表現・優先順位は担当者で更新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耐久・開閉試験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壊れ方まで検証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品質動画の再編集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大人の社会科見学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こだわりガチャ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ソフトダンパー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超ロングサポート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部品保持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担当者メモ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・追加調査／確認先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・使いたい写真・動画・数値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・社外公開可否／出典</a:t>
            </a:r>
            <a:endParaRPr lang="en-US" sz="10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3B43ECE0-AEA1-BBEE-7148-F1848A3354D0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上野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450DE-F5CB-DC05-B712-E6203165E3B5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9" name="Rectangle 48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199AC40-EC0E-30EB-9437-3815E765C860}"/>
              </a:ext>
            </a:extLst>
          </p:cNvPr>
          <p:cNvSpPr/>
          <p:nvPr/>
        </p:nvSpPr>
        <p:spPr>
          <a:xfrm>
            <a:off x="475488" y="292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556B8"/>
                </a:solidFill>
              </a:rPr>
              <a:t>03｜QUALITY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BD4A9A-D856-D610-54CD-A809950519F2}"/>
              </a:ext>
            </a:extLst>
          </p:cNvPr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1D35"/>
                </a:solidFill>
              </a:rPr>
              <a:t>品質｜見えないこだわりを、伝わる価値へ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E50E95-20FB-1D2D-5331-901E7980B7E3}"/>
              </a:ext>
            </a:extLst>
          </p:cNvPr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</a:rPr>
              <a:t>担当者が詳細を追記・更新する共通フォーマット</a:t>
            </a:r>
            <a:endParaRPr lang="en-US" sz="10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802256-15A6-A2D8-0A66-2CBB7DE1FD3D}"/>
              </a:ext>
            </a:extLst>
          </p:cNvPr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12700">
            <a:solidFill>
              <a:srgbClr val="1556B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B6352EE-3D7D-A22C-D5A8-974BF905A563}"/>
              </a:ext>
            </a:extLst>
          </p:cNvPr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56B8"/>
                </a:solidFill>
              </a:rPr>
              <a:t>カテゴリの一言定義</a:t>
            </a:r>
            <a:endParaRPr lang="en-US" sz="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B5A0820-AA23-AD52-8640-C3CFC4A0631F}"/>
              </a:ext>
            </a:extLst>
          </p:cNvPr>
          <p:cNvSpPr/>
          <p:nvPr/>
        </p:nvSpPr>
        <p:spPr>
          <a:xfrm>
            <a:off x="8942832" y="76809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01D35"/>
                </a:solidFill>
              </a:rPr>
              <a:t>「信じられる理由」を見える化</a:t>
            </a:r>
            <a:endParaRPr lang="en-US" sz="11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240FC23-8E68-5A04-56F7-A563C431E941}"/>
              </a:ext>
            </a:extLst>
          </p:cNvPr>
          <p:cNvSpPr/>
          <p:nvPr/>
        </p:nvSpPr>
        <p:spPr>
          <a:xfrm>
            <a:off x="475488" y="2008499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A02E959-D840-C78E-0647-49AA7B8F19B7}"/>
              </a:ext>
            </a:extLst>
          </p:cNvPr>
          <p:cNvSpPr/>
          <p:nvPr/>
        </p:nvSpPr>
        <p:spPr>
          <a:xfrm>
            <a:off x="676656" y="2173091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01｜現状・強み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98E9424-B5A0-FAEB-C87F-77ACDBBD6D40}"/>
              </a:ext>
            </a:extLst>
          </p:cNvPr>
          <p:cNvSpPr/>
          <p:nvPr/>
        </p:nvSpPr>
        <p:spPr>
          <a:xfrm>
            <a:off x="676656" y="2483987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C6B32DA-A4C1-E517-681F-1621C53AE457}"/>
              </a:ext>
            </a:extLst>
          </p:cNvPr>
          <p:cNvSpPr/>
          <p:nvPr/>
        </p:nvSpPr>
        <p:spPr>
          <a:xfrm>
            <a:off x="704088" y="2630291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現在行っている取組、代表事例、根拠となる数字・画像・担当者コメントを記載</a:t>
            </a:r>
            <a:endParaRPr lang="en-US" sz="10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3B180CF-236E-1177-8F0B-CC5AFDF95B1D}"/>
              </a:ext>
            </a:extLst>
          </p:cNvPr>
          <p:cNvSpPr/>
          <p:nvPr/>
        </p:nvSpPr>
        <p:spPr>
          <a:xfrm>
            <a:off x="4370832" y="2008499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1E47F52A-EB76-F4BF-8A49-6208A558FA28}"/>
              </a:ext>
            </a:extLst>
          </p:cNvPr>
          <p:cNvSpPr/>
          <p:nvPr/>
        </p:nvSpPr>
        <p:spPr>
          <a:xfrm>
            <a:off x="4572000" y="2173091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02｜課題・伝達ギャップ</a:t>
            </a:r>
            <a:endParaRPr lang="en-US" sz="12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C55E757-C46D-9B13-B17D-2E9DBF0B1630}"/>
              </a:ext>
            </a:extLst>
          </p:cNvPr>
          <p:cNvSpPr/>
          <p:nvPr/>
        </p:nvSpPr>
        <p:spPr>
          <a:xfrm>
            <a:off x="4572000" y="2483987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4559169-04DC-583E-6977-CF42543D74CF}"/>
              </a:ext>
            </a:extLst>
          </p:cNvPr>
          <p:cNvSpPr/>
          <p:nvPr/>
        </p:nvSpPr>
        <p:spPr>
          <a:xfrm>
            <a:off x="4599432" y="2630291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良い取組が「誰に」「なぜ」伝わっていないか。現状の発信・顧客接点・認知上の課題を記載</a:t>
            </a:r>
            <a:endParaRPr lang="en-US" sz="10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3F81EF5-9813-34B1-8ADF-D51401FFC40A}"/>
              </a:ext>
            </a:extLst>
          </p:cNvPr>
          <p:cNvSpPr/>
          <p:nvPr/>
        </p:nvSpPr>
        <p:spPr>
          <a:xfrm>
            <a:off x="8266176" y="2008499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38BB7D8-C684-54E6-03A9-7EDE6B3CE4D2}"/>
              </a:ext>
            </a:extLst>
          </p:cNvPr>
          <p:cNvSpPr/>
          <p:nvPr/>
        </p:nvSpPr>
        <p:spPr>
          <a:xfrm>
            <a:off x="8467344" y="2173091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03｜提案・目指す姿</a:t>
            </a:r>
            <a:endParaRPr lang="en-US" sz="12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3C7FE7E-CE5F-85C6-D54C-3A2A1AB0734F}"/>
              </a:ext>
            </a:extLst>
          </p:cNvPr>
          <p:cNvSpPr/>
          <p:nvPr/>
        </p:nvSpPr>
        <p:spPr>
          <a:xfrm>
            <a:off x="8467344" y="2483987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B3AC5597-9BB6-8B96-B6FA-BF153CA5FE98}"/>
              </a:ext>
            </a:extLst>
          </p:cNvPr>
          <p:cNvSpPr/>
          <p:nvPr/>
        </p:nvSpPr>
        <p:spPr>
          <a:xfrm>
            <a:off x="8494776" y="2630291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完成形でなくてよい。こう変えると良くなるのでは、という方向性と期待する未来を記載</a:t>
            </a:r>
            <a:endParaRPr lang="en-US" sz="10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A670805-6CD6-9B6F-F6AF-8F33A17BC98F}"/>
              </a:ext>
            </a:extLst>
          </p:cNvPr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DD64F375-153D-618D-36BC-3E9C09C9C9AF}"/>
              </a:ext>
            </a:extLst>
          </p:cNvPr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会議で出たアイデアの芽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8371B183-9EDA-07DA-DC9C-4E84C2BE8481}"/>
              </a:ext>
            </a:extLst>
          </p:cNvPr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採否・表現・優先順位は担当者で更新</a:t>
            </a:r>
            <a:endParaRPr lang="en-US" sz="85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1C0E102F-DE50-BD88-40EB-5FEA6C5273F0}"/>
              </a:ext>
            </a:extLst>
          </p:cNvPr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C13959EF-54A4-36F3-AD0D-573B8DC758E0}"/>
              </a:ext>
            </a:extLst>
          </p:cNvPr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6EFFA99E-CE3F-73E9-469A-1616C0D5DD4D}"/>
              </a:ext>
            </a:extLst>
          </p:cNvPr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耐久・開閉試験</a:t>
            </a:r>
            <a:endParaRPr lang="en-US" sz="78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D0B27EB6-FCDE-92F7-DE12-964B87F86BCB}"/>
              </a:ext>
            </a:extLst>
          </p:cNvPr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5299692C-E700-2576-95FC-7BCB8E5B8BA8}"/>
              </a:ext>
            </a:extLst>
          </p:cNvPr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壊れ方まで検証</a:t>
            </a:r>
            <a:endParaRPr lang="en-US" sz="78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A11B6C-7C2F-CC12-36FD-70F0910D0157}"/>
              </a:ext>
            </a:extLst>
          </p:cNvPr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C4B4CD85-7DEE-C016-82AF-F7EF72FD9D36}"/>
              </a:ext>
            </a:extLst>
          </p:cNvPr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品質動画の再編集</a:t>
            </a:r>
            <a:endParaRPr lang="en-US" sz="78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DAE4F1C8-E17A-DCF9-EED1-9B4EFAEF3A83}"/>
              </a:ext>
            </a:extLst>
          </p:cNvPr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619E236D-B351-E0DF-C9DE-5152636950E1}"/>
              </a:ext>
            </a:extLst>
          </p:cNvPr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大人の社会科見学</a:t>
            </a:r>
            <a:endParaRPr lang="en-US" sz="78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8F9525A5-151C-44CF-19FD-4CF94904A5C9}"/>
              </a:ext>
            </a:extLst>
          </p:cNvPr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CC13805-48A0-66C9-6204-2909A521D1B8}"/>
              </a:ext>
            </a:extLst>
          </p:cNvPr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こだわりガチャ</a:t>
            </a:r>
            <a:endParaRPr lang="en-US" sz="78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8DA3726B-613B-7F70-397D-BB7CBFBD23EF}"/>
              </a:ext>
            </a:extLst>
          </p:cNvPr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26D74E9-1B08-5C5E-C1ED-C660E9D8F32F}"/>
              </a:ext>
            </a:extLst>
          </p:cNvPr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ソフトダンパー</a:t>
            </a:r>
            <a:endParaRPr lang="en-US" sz="78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1CB71C0C-54C7-F54D-C980-F81DEC387AF6}"/>
              </a:ext>
            </a:extLst>
          </p:cNvPr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5114CEC-1BD0-B186-B3FF-BF0D887C3ADD}"/>
              </a:ext>
            </a:extLst>
          </p:cNvPr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超ロングサポート</a:t>
            </a:r>
            <a:endParaRPr lang="en-US" sz="78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64F3E49C-0066-39E2-9DB3-05A799E1FC3B}"/>
              </a:ext>
            </a:extLst>
          </p:cNvPr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E1D991F3-AD7A-00EE-C912-CBC943F6D555}"/>
              </a:ext>
            </a:extLst>
          </p:cNvPr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556B8"/>
                </a:solidFill>
              </a:rPr>
              <a:t>部品保持</a:t>
            </a:r>
            <a:endParaRPr lang="en-US" sz="78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D7736911-0E9B-6EC1-4341-CD5507CD88D1}"/>
              </a:ext>
            </a:extLst>
          </p:cNvPr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D654B09-F6A5-5985-AEBC-AC59B0E68F11}"/>
              </a:ext>
            </a:extLst>
          </p:cNvPr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56B8"/>
                </a:solidFill>
              </a:rPr>
              <a:t>担当者メモ</a:t>
            </a:r>
            <a:endParaRPr lang="en-US" sz="12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E1409889-3989-E978-2772-3C0909CDB663}"/>
              </a:ext>
            </a:extLst>
          </p:cNvPr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D2C2B212-C8C3-58C2-F788-28DEC681123B}"/>
              </a:ext>
            </a:extLst>
          </p:cNvPr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・追加調査／確認先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・使いたい写真・動画・数値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・社外公開可否／出典</a:t>
            </a:r>
            <a:endParaRPr lang="en-US" sz="1050" dirty="0"/>
          </a:p>
        </p:txBody>
      </p: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02790C5D-4F42-AD54-88B2-393BEB7AC29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300BAF7-7073-7A5E-3E3C-C326EA86BEF3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平野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202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50" name="Rectangle 49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/>
          <p:cNvSpPr/>
          <p:nvPr/>
        </p:nvSpPr>
        <p:spPr>
          <a:xfrm>
            <a:off x="475488" y="292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D96B18"/>
                </a:solidFill>
              </a:rPr>
              <a:t>04｜CUSTOMER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1D35"/>
                </a:solidFill>
              </a:rPr>
              <a:t>CS｜購入後の安心を、購入前の選択価値へ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</a:rPr>
              <a:t>担当者が詳細を追記・更新する共通フォーマット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FFF1E5"/>
          </a:solidFill>
          <a:ln w="12700">
            <a:solidFill>
              <a:srgbClr val="D96B1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6B18"/>
                </a:solidFill>
              </a:rPr>
              <a:t>カテゴリの一言定義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942832" y="76809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01D35"/>
                </a:solidFill>
              </a:rPr>
              <a:t>「任せられる理由」を具体化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795528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01｜現状・強み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22960" y="2596896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現在行っている取組、代表事例、根拠となる数字・画像・担当者コメントを記載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89704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4690872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02｜課題・伝達ギャップ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90872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4718304" y="2596896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良い取組が「誰に」「なぜ」伝わっていないか。現状の発信・顧客接点・認知上の課題を記載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385048" y="1975104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8586216" y="213969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03｜提案・目指す姿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586216" y="2450592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8613648" y="2596896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完成形でなくてよい。こう変えると良くなるのでは、という方向性と期待する未来を記載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会議で出たアイデアの芽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採否・表現・優先順位は担当者で更新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問い合わせ導線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修理・サービス拠点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延長保証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オンライン相談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困った時カード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価値カード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口コミのきっかけ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長くつながる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担当者メモ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・追加調査／確認先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・使いたい写真・動画・数値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・社外公開可否／出典</a:t>
            </a:r>
            <a:endParaRPr lang="en-US" sz="10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AD49ABC-D361-F928-3751-40F5CB67E6D3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帆足</a:t>
            </a: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2FE32-CB33-CA05-FC10-55B1D8502758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49" name="Rectangle 48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D0B78C40-9357-42EB-C534-8FA3F2D82B65}"/>
              </a:ext>
            </a:extLst>
          </p:cNvPr>
          <p:cNvSpPr/>
          <p:nvPr/>
        </p:nvSpPr>
        <p:spPr>
          <a:xfrm>
            <a:off x="475488" y="292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D96B18"/>
                </a:solidFill>
              </a:rPr>
              <a:t>04｜CUSTOMER SERVICE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957688-CEE1-8973-F18F-BAF95798875C}"/>
              </a:ext>
            </a:extLst>
          </p:cNvPr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1D35"/>
                </a:solidFill>
              </a:rPr>
              <a:t>CS｜購入後の安心を、購入前の選択価値へ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29CBDF-D5C3-BA5A-3268-EC5A89088863}"/>
              </a:ext>
            </a:extLst>
          </p:cNvPr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</a:rPr>
              <a:t>担当者が詳細を追記・更新する共通フォーマット</a:t>
            </a:r>
            <a:endParaRPr lang="en-US" sz="10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0552F38-DB59-B52A-C4EE-D3D1674CAA75}"/>
              </a:ext>
            </a:extLst>
          </p:cNvPr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FFF1E5"/>
          </a:solidFill>
          <a:ln w="12700">
            <a:solidFill>
              <a:srgbClr val="D96B1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C23A908-619F-EDAA-642E-37B1783F5B0C}"/>
              </a:ext>
            </a:extLst>
          </p:cNvPr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6B18"/>
                </a:solidFill>
              </a:rPr>
              <a:t>カテゴリの一言定義</a:t>
            </a:r>
            <a:endParaRPr lang="en-US" sz="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57C664B-CB22-05AF-EFDD-85484D8A084D}"/>
              </a:ext>
            </a:extLst>
          </p:cNvPr>
          <p:cNvSpPr/>
          <p:nvPr/>
        </p:nvSpPr>
        <p:spPr>
          <a:xfrm>
            <a:off x="8942832" y="76809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01D35"/>
                </a:solidFill>
              </a:rPr>
              <a:t>「任せられる理由」を具体化</a:t>
            </a:r>
            <a:endParaRPr lang="en-US" sz="11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3707769-B9F4-83DD-F722-F48ACCF9956B}"/>
              </a:ext>
            </a:extLst>
          </p:cNvPr>
          <p:cNvSpPr/>
          <p:nvPr/>
        </p:nvSpPr>
        <p:spPr>
          <a:xfrm>
            <a:off x="594360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7128C54-424B-A409-4CCD-DEF80531B6ED}"/>
              </a:ext>
            </a:extLst>
          </p:cNvPr>
          <p:cNvSpPr/>
          <p:nvPr/>
        </p:nvSpPr>
        <p:spPr>
          <a:xfrm>
            <a:off x="795528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01｜現状・強み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D4CFDC3-AF8A-2A30-DACB-D487C420005A}"/>
              </a:ext>
            </a:extLst>
          </p:cNvPr>
          <p:cNvSpPr/>
          <p:nvPr/>
        </p:nvSpPr>
        <p:spPr>
          <a:xfrm>
            <a:off x="795528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D9A47B0-F6B6-8894-4D3B-452BDD332386}"/>
              </a:ext>
            </a:extLst>
          </p:cNvPr>
          <p:cNvSpPr/>
          <p:nvPr/>
        </p:nvSpPr>
        <p:spPr>
          <a:xfrm>
            <a:off x="822960" y="2596896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現在行っている取組、代表事例、根拠となる数字・画像・担当者コメントを記載</a:t>
            </a:r>
            <a:endParaRPr lang="en-US" sz="10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19291DA-5DE8-404B-4BDF-B45C27A83ACA}"/>
              </a:ext>
            </a:extLst>
          </p:cNvPr>
          <p:cNvSpPr/>
          <p:nvPr/>
        </p:nvSpPr>
        <p:spPr>
          <a:xfrm>
            <a:off x="4489704" y="1975104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B3ABD0B-F2A4-35A1-6568-2A0356063740}"/>
              </a:ext>
            </a:extLst>
          </p:cNvPr>
          <p:cNvSpPr/>
          <p:nvPr/>
        </p:nvSpPr>
        <p:spPr>
          <a:xfrm>
            <a:off x="4690872" y="2139696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02｜課題・伝達ギャップ</a:t>
            </a:r>
            <a:endParaRPr lang="en-US" sz="12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C2AF561-1F94-5E38-39F6-BAF3BEFE6251}"/>
              </a:ext>
            </a:extLst>
          </p:cNvPr>
          <p:cNvSpPr/>
          <p:nvPr/>
        </p:nvSpPr>
        <p:spPr>
          <a:xfrm>
            <a:off x="4690872" y="2450592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888AE77-6855-33C5-E0DD-C8BA7DF6B575}"/>
              </a:ext>
            </a:extLst>
          </p:cNvPr>
          <p:cNvSpPr/>
          <p:nvPr/>
        </p:nvSpPr>
        <p:spPr>
          <a:xfrm>
            <a:off x="4718304" y="2596896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良い取組が「誰に」「なぜ」伝わっていないか。現状の発信・顧客接点・認知上の課題を記載</a:t>
            </a:r>
            <a:endParaRPr lang="en-US" sz="10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9965C5A-9CFF-E679-047D-F20847BAE64D}"/>
              </a:ext>
            </a:extLst>
          </p:cNvPr>
          <p:cNvSpPr/>
          <p:nvPr/>
        </p:nvSpPr>
        <p:spPr>
          <a:xfrm>
            <a:off x="8385048" y="1975104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156C047-4439-3552-6D62-5400D9BA4D12}"/>
              </a:ext>
            </a:extLst>
          </p:cNvPr>
          <p:cNvSpPr/>
          <p:nvPr/>
        </p:nvSpPr>
        <p:spPr>
          <a:xfrm>
            <a:off x="8586216" y="213969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03｜提案・目指す姿</a:t>
            </a:r>
            <a:endParaRPr lang="en-US" sz="12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F9253F2-C046-0E5F-FD1B-3E5385D43E7F}"/>
              </a:ext>
            </a:extLst>
          </p:cNvPr>
          <p:cNvSpPr/>
          <p:nvPr/>
        </p:nvSpPr>
        <p:spPr>
          <a:xfrm>
            <a:off x="8586216" y="2450592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5005888-002F-8745-2E05-EF0D57478C8A}"/>
              </a:ext>
            </a:extLst>
          </p:cNvPr>
          <p:cNvSpPr/>
          <p:nvPr/>
        </p:nvSpPr>
        <p:spPr>
          <a:xfrm>
            <a:off x="8613648" y="2596896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完成形でなくてよい。こう変えると良くなるのでは、という方向性と期待する未来を記載</a:t>
            </a:r>
            <a:endParaRPr lang="en-US" sz="10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EF98C3F-4815-BF16-ED75-1B835C73B22D}"/>
              </a:ext>
            </a:extLst>
          </p:cNvPr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422B669-88BB-0F19-68F0-8FDCFB118F15}"/>
              </a:ext>
            </a:extLst>
          </p:cNvPr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会議で出たアイデアの芽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A0E3368-4EDD-4C58-0CEA-CE675CAB8876}"/>
              </a:ext>
            </a:extLst>
          </p:cNvPr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採否・表現・優先順位は担当者で更新</a:t>
            </a:r>
            <a:endParaRPr lang="en-US" sz="85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B15D90B-7D5E-DF95-6BF2-C1A553290299}"/>
              </a:ext>
            </a:extLst>
          </p:cNvPr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372519A6-DF52-48D8-0BD8-C65D48F58CF9}"/>
              </a:ext>
            </a:extLst>
          </p:cNvPr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B0CD650-574D-E1B1-9DE3-DC346A132473}"/>
              </a:ext>
            </a:extLst>
          </p:cNvPr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問い合わせ導線</a:t>
            </a:r>
            <a:endParaRPr lang="en-US" sz="78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128C558-7182-03B4-D8DB-A86482AC6E2F}"/>
              </a:ext>
            </a:extLst>
          </p:cNvPr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821D3E4F-1733-B59C-0DCF-4BBBDE9FEC99}"/>
              </a:ext>
            </a:extLst>
          </p:cNvPr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修理・サービス拠点</a:t>
            </a:r>
            <a:endParaRPr lang="en-US" sz="78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165B04B4-DA54-DA3D-A66D-8E3F992E7F87}"/>
              </a:ext>
            </a:extLst>
          </p:cNvPr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A137CE43-EB7E-7BB4-6B62-1186E96E12EF}"/>
              </a:ext>
            </a:extLst>
          </p:cNvPr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延長保証</a:t>
            </a:r>
            <a:endParaRPr lang="en-US" sz="78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32116409-5595-0AD3-B8FD-A749C76E29FE}"/>
              </a:ext>
            </a:extLst>
          </p:cNvPr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8AA242A2-BA5F-ACF9-F43B-E1716DCA5694}"/>
              </a:ext>
            </a:extLst>
          </p:cNvPr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オンライン相談</a:t>
            </a:r>
            <a:endParaRPr lang="en-US" sz="78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543CB743-17A4-6CCF-4146-FCF5D5359CD1}"/>
              </a:ext>
            </a:extLst>
          </p:cNvPr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C394426D-6A0A-9A6F-0678-82E03A05BC9E}"/>
              </a:ext>
            </a:extLst>
          </p:cNvPr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困った時カード</a:t>
            </a:r>
            <a:endParaRPr lang="en-US" sz="78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B766134D-7580-DEBB-2EF0-7074853DEF68}"/>
              </a:ext>
            </a:extLst>
          </p:cNvPr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1CC89F7C-E813-ED86-F0D7-D4C3A9CB8E2A}"/>
              </a:ext>
            </a:extLst>
          </p:cNvPr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価値カード</a:t>
            </a:r>
            <a:endParaRPr lang="en-US" sz="78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C33185EE-2BC1-5542-D4BA-7038313F8BA0}"/>
              </a:ext>
            </a:extLst>
          </p:cNvPr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B7FCB0C-7DBE-62BE-83E1-CD5BCCF26251}"/>
              </a:ext>
            </a:extLst>
          </p:cNvPr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口コミのきっかけ</a:t>
            </a:r>
            <a:endParaRPr lang="en-US" sz="78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8846290B-C568-0DF4-7B24-E84810F04088}"/>
              </a:ext>
            </a:extLst>
          </p:cNvPr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FFF1E5"/>
          </a:solidFill>
          <a:ln w="12700">
            <a:solidFill>
              <a:srgbClr val="FFF1E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B52564CA-4EB1-F34E-CB40-C7D27FBA7F3F}"/>
              </a:ext>
            </a:extLst>
          </p:cNvPr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D96B18"/>
                </a:solidFill>
              </a:rPr>
              <a:t>長くつながる</a:t>
            </a:r>
            <a:endParaRPr lang="en-US" sz="78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CA37F39-CF6E-F794-0E35-49AD49BAC6B3}"/>
              </a:ext>
            </a:extLst>
          </p:cNvPr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C298BA81-DAF5-D05C-1BBF-7B5AC217EE4C}"/>
              </a:ext>
            </a:extLst>
          </p:cNvPr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6B18"/>
                </a:solidFill>
              </a:rPr>
              <a:t>担当者メモ</a:t>
            </a:r>
            <a:endParaRPr lang="en-US" sz="120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777401C6-9154-AC8A-B3BE-EE9CDA0BFC80}"/>
              </a:ext>
            </a:extLst>
          </p:cNvPr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7C25ACBA-9569-AF10-394F-788C25B019B7}"/>
              </a:ext>
            </a:extLst>
          </p:cNvPr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・追加調査／確認先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・使いたい写真・動画・数値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・社外公開可否／出典</a:t>
            </a:r>
            <a:endParaRPr lang="en-US" sz="1050" dirty="0"/>
          </a:p>
        </p:txBody>
      </p:sp>
      <p:sp>
        <p:nvSpPr>
          <p:cNvPr id="47" name="Slide Number Placeholder 0">
            <a:extLst>
              <a:ext uri="{FF2B5EF4-FFF2-40B4-BE49-F238E27FC236}">
                <a16:creationId xmlns:a16="http://schemas.microsoft.com/office/drawing/2014/main" id="{D694B230-A9EA-BA30-84A7-5F8F4957179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1415C4BB-6FC6-2682-1AA3-3F79793F9BBE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幸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922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52" name="Rectangle 51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/>
          <p:cNvSpPr/>
          <p:nvPr/>
        </p:nvSpPr>
        <p:spPr>
          <a:xfrm>
            <a:off x="475488" y="292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7806D"/>
                </a:solidFill>
              </a:rPr>
              <a:t>05｜ENVIRONMENT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1D35"/>
                </a:solidFill>
              </a:rPr>
              <a:t>環境取組｜良い活動を、自分ごとの選択へ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</a:rPr>
              <a:t>担当者が詳細を追記・更新する共通フォーマット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E8F5F1"/>
          </a:solidFill>
          <a:ln w="12700">
            <a:solidFill>
              <a:srgbClr val="17806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7806D"/>
                </a:solidFill>
              </a:rPr>
              <a:t>カテゴリの一言定義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942832" y="76809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01D35"/>
                </a:solidFill>
              </a:rPr>
              <a:t>「共感できる理由」を体験化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1584" y="1918650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682752" y="208324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01｜現状・強み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2752" y="2394138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710184" y="2540442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現在行っている取組、代表事例、根拠となる数字・画像・担当者コメントを記載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76928" y="1918650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4578096" y="208324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02｜課題・伝達ギャップ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8096" y="2394138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4605528" y="2540442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良い取組が「誰に」「なぜ」伝わっていないか。現状の発信・顧客接点・認知上の課題を記載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72272" y="1918650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8473440" y="208324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03｜提案・目指す姿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73440" y="2394138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8500872" y="2540442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完成形でなくてよい。こう変えると良くなるのでは、という方向性と期待する未来を記載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会議で出たアイデアの芽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採否・表現・優先順位は担当者で更新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サーキュラー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リファービッシュ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長寿命化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/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リサイクル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工場体験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大人の社会科見学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/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製品の行方を可視化</a:t>
            </a:r>
            <a:endParaRPr lang="en-US" sz="780" dirty="0"/>
          </a:p>
        </p:txBody>
      </p:sp>
      <p:sp>
        <p:nvSpPr>
          <p:cNvPr id="41" name="Shape 39"/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/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思い出の部品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4754880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/>
          <p:cNvSpPr/>
          <p:nvPr/>
        </p:nvSpPr>
        <p:spPr>
          <a:xfrm>
            <a:off x="4828032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購入選択肢</a:t>
            </a:r>
            <a:endParaRPr lang="en-US" sz="780" dirty="0"/>
          </a:p>
        </p:txBody>
      </p:sp>
      <p:sp>
        <p:nvSpPr>
          <p:cNvPr id="45" name="Shape 43"/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担当者メモ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・追加調査／確認先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・使いたい写真・動画・数値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・社外公開可否／出典</a:t>
            </a:r>
            <a:endParaRPr lang="en-US" sz="10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5C4A4BB-0720-6A31-5E60-03DA1C6BDE72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高田</a:t>
            </a:r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86258-6FB3-162D-A372-CB56649EE064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51" name="Rectangle 50"/>
          <p:cNvSpPr/>
          <p:nvPr/>
        </p:nvSpPr>
        <p:spPr>
          <a:xfrm>
            <a:off x="0" y="0"/>
            <a:ext cx="12192000" cy="292608"/>
          </a:xfrm>
          <a:prstGeom prst="rect">
            <a:avLst/>
          </a:prstGeom>
          <a:solidFill>
            <a:srgbClr val="004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2396826-ABEA-2364-5397-D96DF6979AAB}"/>
              </a:ext>
            </a:extLst>
          </p:cNvPr>
          <p:cNvSpPr/>
          <p:nvPr/>
        </p:nvSpPr>
        <p:spPr>
          <a:xfrm>
            <a:off x="475488" y="292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17806D"/>
                </a:solidFill>
              </a:rPr>
              <a:t>05｜ENVIRONMENT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51D6CCF-4314-FD39-22AC-07066C7FABD7}"/>
              </a:ext>
            </a:extLst>
          </p:cNvPr>
          <p:cNvSpPr/>
          <p:nvPr/>
        </p:nvSpPr>
        <p:spPr>
          <a:xfrm>
            <a:off x="475488" y="5669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1D35"/>
                </a:solidFill>
              </a:rPr>
              <a:t>環境取組｜良い活動を、自分ごとの選択へ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1A702F0-040A-CA1F-3C22-EE377103C6FB}"/>
              </a:ext>
            </a:extLst>
          </p:cNvPr>
          <p:cNvSpPr/>
          <p:nvPr/>
        </p:nvSpPr>
        <p:spPr>
          <a:xfrm>
            <a:off x="493776" y="1024128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7085"/>
                </a:solidFill>
              </a:rPr>
              <a:t>担当者が詳細を追記・更新する共通フォーマット</a:t>
            </a:r>
            <a:endParaRPr lang="en-US" sz="10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6C0B1CA-3E50-F92D-4813-4EAA48020A9B}"/>
              </a:ext>
            </a:extLst>
          </p:cNvPr>
          <p:cNvSpPr/>
          <p:nvPr/>
        </p:nvSpPr>
        <p:spPr>
          <a:xfrm>
            <a:off x="8732520" y="411480"/>
            <a:ext cx="2926080" cy="713232"/>
          </a:xfrm>
          <a:prstGeom prst="roundRect">
            <a:avLst>
              <a:gd name="adj" fmla="val 6410"/>
            </a:avLst>
          </a:prstGeom>
          <a:solidFill>
            <a:srgbClr val="E8F5F1"/>
          </a:solidFill>
          <a:ln w="12700">
            <a:solidFill>
              <a:srgbClr val="17806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BC53BD3-C6FA-B282-E66D-4C42FC8CF234}"/>
              </a:ext>
            </a:extLst>
          </p:cNvPr>
          <p:cNvSpPr/>
          <p:nvPr/>
        </p:nvSpPr>
        <p:spPr>
          <a:xfrm>
            <a:off x="8942832" y="54864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7806D"/>
                </a:solidFill>
              </a:rPr>
              <a:t>カテゴリの一言定義</a:t>
            </a:r>
            <a:endParaRPr lang="en-US" sz="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AC0BEF7-FCBF-FBDE-0057-6D7F071DC315}"/>
              </a:ext>
            </a:extLst>
          </p:cNvPr>
          <p:cNvSpPr/>
          <p:nvPr/>
        </p:nvSpPr>
        <p:spPr>
          <a:xfrm>
            <a:off x="8942832" y="768096"/>
            <a:ext cx="2487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01D35"/>
                </a:solidFill>
              </a:rPr>
              <a:t>「共感できる理由」を体験化</a:t>
            </a:r>
            <a:endParaRPr lang="en-US" sz="11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3C07A59-ABEF-3ED4-31BE-5B472503E8E3}"/>
              </a:ext>
            </a:extLst>
          </p:cNvPr>
          <p:cNvSpPr/>
          <p:nvPr/>
        </p:nvSpPr>
        <p:spPr>
          <a:xfrm>
            <a:off x="481584" y="1918650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AFDE3B-D0E5-B58F-9600-1CDAD50DB9BD}"/>
              </a:ext>
            </a:extLst>
          </p:cNvPr>
          <p:cNvSpPr/>
          <p:nvPr/>
        </p:nvSpPr>
        <p:spPr>
          <a:xfrm>
            <a:off x="682752" y="208324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01｜現状・強み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79A3D9D-BCF3-4BEB-A016-CA97CC7E4F2F}"/>
              </a:ext>
            </a:extLst>
          </p:cNvPr>
          <p:cNvSpPr/>
          <p:nvPr/>
        </p:nvSpPr>
        <p:spPr>
          <a:xfrm>
            <a:off x="682752" y="2394138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07D81A6-D145-DAA4-13E6-C27769299DD7}"/>
              </a:ext>
            </a:extLst>
          </p:cNvPr>
          <p:cNvSpPr/>
          <p:nvPr/>
        </p:nvSpPr>
        <p:spPr>
          <a:xfrm>
            <a:off x="710184" y="2540442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現在行っている取組、代表事例、根拠となる数字・画像・担当者コメントを記載</a:t>
            </a:r>
            <a:endParaRPr lang="en-US" sz="105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CBDA7D1-D33D-DA28-A94E-A2864121F06B}"/>
              </a:ext>
            </a:extLst>
          </p:cNvPr>
          <p:cNvSpPr/>
          <p:nvPr/>
        </p:nvSpPr>
        <p:spPr>
          <a:xfrm>
            <a:off x="4376928" y="1918650"/>
            <a:ext cx="3438144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4F635FB-B2FD-5653-69E3-C0F71C7ABF7D}"/>
              </a:ext>
            </a:extLst>
          </p:cNvPr>
          <p:cNvSpPr/>
          <p:nvPr/>
        </p:nvSpPr>
        <p:spPr>
          <a:xfrm>
            <a:off x="4578096" y="208324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02｜課題・伝達ギャップ</a:t>
            </a:r>
            <a:endParaRPr lang="en-US" sz="12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ECAB524-A2A4-219E-7B16-691338B915C9}"/>
              </a:ext>
            </a:extLst>
          </p:cNvPr>
          <p:cNvSpPr/>
          <p:nvPr/>
        </p:nvSpPr>
        <p:spPr>
          <a:xfrm>
            <a:off x="4578096" y="2394138"/>
            <a:ext cx="3035808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4CB0572-17F5-7BC0-D274-70EBEA0F1D81}"/>
              </a:ext>
            </a:extLst>
          </p:cNvPr>
          <p:cNvSpPr/>
          <p:nvPr/>
        </p:nvSpPr>
        <p:spPr>
          <a:xfrm>
            <a:off x="4605528" y="2540442"/>
            <a:ext cx="2980944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良い取組が「誰に」「なぜ」伝わっていないか。現状の発信・顧客接点・認知上の課題を記載</a:t>
            </a:r>
            <a:endParaRPr lang="en-US" sz="10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48F3B2B-7580-DB15-E4D2-5BE0E14ABBDD}"/>
              </a:ext>
            </a:extLst>
          </p:cNvPr>
          <p:cNvSpPr/>
          <p:nvPr/>
        </p:nvSpPr>
        <p:spPr>
          <a:xfrm>
            <a:off x="8272272" y="1918650"/>
            <a:ext cx="3410712" cy="233172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B0F51A9A-BFE8-0111-8C80-F00707450FF7}"/>
              </a:ext>
            </a:extLst>
          </p:cNvPr>
          <p:cNvSpPr/>
          <p:nvPr/>
        </p:nvSpPr>
        <p:spPr>
          <a:xfrm>
            <a:off x="8473440" y="2083242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03｜提案・目指す姿</a:t>
            </a:r>
            <a:endParaRPr lang="en-US" sz="12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400B30D-C6FD-8989-31E4-F9CAB9765D3F}"/>
              </a:ext>
            </a:extLst>
          </p:cNvPr>
          <p:cNvSpPr/>
          <p:nvPr/>
        </p:nvSpPr>
        <p:spPr>
          <a:xfrm>
            <a:off x="8473440" y="2394138"/>
            <a:ext cx="3008376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6754FFC-7E55-ADC3-4AF7-8E80C5943B56}"/>
              </a:ext>
            </a:extLst>
          </p:cNvPr>
          <p:cNvSpPr/>
          <p:nvPr/>
        </p:nvSpPr>
        <p:spPr>
          <a:xfrm>
            <a:off x="8500872" y="2540442"/>
            <a:ext cx="2953512" cy="1527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完成形でなくてよい。こう変えると良くなるのでは、という方向性と期待する未来を記載</a:t>
            </a:r>
            <a:endParaRPr lang="en-US" sz="10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D44237C-AC60-3BDA-155A-D24536ACD587}"/>
              </a:ext>
            </a:extLst>
          </p:cNvPr>
          <p:cNvSpPr/>
          <p:nvPr/>
        </p:nvSpPr>
        <p:spPr>
          <a:xfrm>
            <a:off x="475488" y="4846320"/>
            <a:ext cx="7150608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58570B1-FD96-7B42-E9DC-6597F75BEFDA}"/>
              </a:ext>
            </a:extLst>
          </p:cNvPr>
          <p:cNvSpPr/>
          <p:nvPr/>
        </p:nvSpPr>
        <p:spPr>
          <a:xfrm>
            <a:off x="676656" y="501091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会議で出たアイデアの芽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2CEA7559-BFD0-FE53-C6F1-CEEECCD66EDC}"/>
              </a:ext>
            </a:extLst>
          </p:cNvPr>
          <p:cNvSpPr/>
          <p:nvPr/>
        </p:nvSpPr>
        <p:spPr>
          <a:xfrm>
            <a:off x="2971800" y="5029200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採否・表現・優先順位は担当者で更新</a:t>
            </a:r>
            <a:endParaRPr lang="en-US" sz="85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82686855-404A-66AC-F2F1-3B51BF3044EF}"/>
              </a:ext>
            </a:extLst>
          </p:cNvPr>
          <p:cNvSpPr/>
          <p:nvPr/>
        </p:nvSpPr>
        <p:spPr>
          <a:xfrm>
            <a:off x="676656" y="5321808"/>
            <a:ext cx="6748272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104A648C-38C1-289B-CAAC-5AA3B34A00CA}"/>
              </a:ext>
            </a:extLst>
          </p:cNvPr>
          <p:cNvSpPr/>
          <p:nvPr/>
        </p:nvSpPr>
        <p:spPr>
          <a:xfrm>
            <a:off x="694944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31CC1D15-C871-7F3E-7544-F39C3A0324EF}"/>
              </a:ext>
            </a:extLst>
          </p:cNvPr>
          <p:cNvSpPr/>
          <p:nvPr/>
        </p:nvSpPr>
        <p:spPr>
          <a:xfrm>
            <a:off x="768096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サーキュラー</a:t>
            </a:r>
            <a:endParaRPr lang="en-US" sz="78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B0DE5E4-260D-682F-D7EF-77A0D09AE82B}"/>
              </a:ext>
            </a:extLst>
          </p:cNvPr>
          <p:cNvSpPr/>
          <p:nvPr/>
        </p:nvSpPr>
        <p:spPr>
          <a:xfrm>
            <a:off x="2048256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D52FDAD-A0C0-6CBD-3D28-E250962D5DEB}"/>
              </a:ext>
            </a:extLst>
          </p:cNvPr>
          <p:cNvSpPr/>
          <p:nvPr/>
        </p:nvSpPr>
        <p:spPr>
          <a:xfrm>
            <a:off x="2121408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リファービッシュ</a:t>
            </a:r>
            <a:endParaRPr lang="en-US" sz="78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2F5BADC-A1FA-C833-0B02-28139D7CB420}"/>
              </a:ext>
            </a:extLst>
          </p:cNvPr>
          <p:cNvSpPr/>
          <p:nvPr/>
        </p:nvSpPr>
        <p:spPr>
          <a:xfrm>
            <a:off x="3401568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3A04324-4CE9-750E-246B-33026316072B}"/>
              </a:ext>
            </a:extLst>
          </p:cNvPr>
          <p:cNvSpPr/>
          <p:nvPr/>
        </p:nvSpPr>
        <p:spPr>
          <a:xfrm>
            <a:off x="3474720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長寿命化</a:t>
            </a:r>
            <a:endParaRPr lang="en-US" sz="780" dirty="0"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FAFD4C2-1A87-C162-AFB8-D0044444606D}"/>
              </a:ext>
            </a:extLst>
          </p:cNvPr>
          <p:cNvSpPr/>
          <p:nvPr/>
        </p:nvSpPr>
        <p:spPr>
          <a:xfrm>
            <a:off x="4754880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FDEF275-27EC-4E2F-1D2B-09E3F7BA45C1}"/>
              </a:ext>
            </a:extLst>
          </p:cNvPr>
          <p:cNvSpPr/>
          <p:nvPr/>
        </p:nvSpPr>
        <p:spPr>
          <a:xfrm>
            <a:off x="4828032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リサイクル</a:t>
            </a:r>
            <a:endParaRPr lang="en-US" sz="78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3C4EA6C0-B528-1A17-4268-2D8E9A855305}"/>
              </a:ext>
            </a:extLst>
          </p:cNvPr>
          <p:cNvSpPr/>
          <p:nvPr/>
        </p:nvSpPr>
        <p:spPr>
          <a:xfrm>
            <a:off x="6108192" y="5404104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C0598309-5A72-A263-F6D0-465018249D87}"/>
              </a:ext>
            </a:extLst>
          </p:cNvPr>
          <p:cNvSpPr/>
          <p:nvPr/>
        </p:nvSpPr>
        <p:spPr>
          <a:xfrm>
            <a:off x="6181344" y="5477256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工場体験</a:t>
            </a:r>
            <a:endParaRPr lang="en-US" sz="78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BCD40DD3-A695-A44C-4CE9-D76A62B79BDB}"/>
              </a:ext>
            </a:extLst>
          </p:cNvPr>
          <p:cNvSpPr/>
          <p:nvPr/>
        </p:nvSpPr>
        <p:spPr>
          <a:xfrm>
            <a:off x="694944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6532C98F-26AB-D0CD-1EA5-1077AE559609}"/>
              </a:ext>
            </a:extLst>
          </p:cNvPr>
          <p:cNvSpPr/>
          <p:nvPr/>
        </p:nvSpPr>
        <p:spPr>
          <a:xfrm>
            <a:off x="768096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大人の社会科見学</a:t>
            </a:r>
            <a:endParaRPr lang="en-US" sz="780" dirty="0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24E3A476-2B29-6BDC-61DA-B4450C8801F8}"/>
              </a:ext>
            </a:extLst>
          </p:cNvPr>
          <p:cNvSpPr/>
          <p:nvPr/>
        </p:nvSpPr>
        <p:spPr>
          <a:xfrm>
            <a:off x="2048256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15D3098-D266-47B2-6C14-CEE9F5FFF5D3}"/>
              </a:ext>
            </a:extLst>
          </p:cNvPr>
          <p:cNvSpPr/>
          <p:nvPr/>
        </p:nvSpPr>
        <p:spPr>
          <a:xfrm>
            <a:off x="2121408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製品の行方を可視化</a:t>
            </a:r>
            <a:endParaRPr lang="en-US" sz="78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8846BCB0-F0C2-909E-7A37-4162616C6ABE}"/>
              </a:ext>
            </a:extLst>
          </p:cNvPr>
          <p:cNvSpPr/>
          <p:nvPr/>
        </p:nvSpPr>
        <p:spPr>
          <a:xfrm>
            <a:off x="3401568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8007204C-F872-4DD1-27F0-AA4B519B852E}"/>
              </a:ext>
            </a:extLst>
          </p:cNvPr>
          <p:cNvSpPr/>
          <p:nvPr/>
        </p:nvSpPr>
        <p:spPr>
          <a:xfrm>
            <a:off x="3474720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思い出の部品</a:t>
            </a:r>
            <a:endParaRPr lang="en-US" sz="78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2596398C-85CC-AD86-71A8-C22677C7925C}"/>
              </a:ext>
            </a:extLst>
          </p:cNvPr>
          <p:cNvSpPr/>
          <p:nvPr/>
        </p:nvSpPr>
        <p:spPr>
          <a:xfrm>
            <a:off x="4754880" y="5715000"/>
            <a:ext cx="1225296" cy="256032"/>
          </a:xfrm>
          <a:prstGeom prst="roundRect">
            <a:avLst>
              <a:gd name="adj" fmla="val 42857"/>
            </a:avLst>
          </a:prstGeom>
          <a:solidFill>
            <a:srgbClr val="E8F5F1"/>
          </a:solidFill>
          <a:ln w="12700">
            <a:solidFill>
              <a:srgbClr val="E8F5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04210397-5423-4546-8D38-FF619E01A8EC}"/>
              </a:ext>
            </a:extLst>
          </p:cNvPr>
          <p:cNvSpPr/>
          <p:nvPr/>
        </p:nvSpPr>
        <p:spPr>
          <a:xfrm>
            <a:off x="4828032" y="5788152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7806D"/>
                </a:solidFill>
              </a:rPr>
              <a:t>購入選択肢</a:t>
            </a:r>
            <a:endParaRPr lang="en-US" sz="780" dirty="0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F692060C-E614-1703-A45D-92404E9BA312}"/>
              </a:ext>
            </a:extLst>
          </p:cNvPr>
          <p:cNvSpPr/>
          <p:nvPr/>
        </p:nvSpPr>
        <p:spPr>
          <a:xfrm>
            <a:off x="7882128" y="4846320"/>
            <a:ext cx="3794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FD8E3"/>
            </a:solidFill>
            <a:prstDash val="solid"/>
          </a:ln>
          <a:effectLst>
            <a:outerShdw blurRad="12700" dist="3175" dir="27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82B64FA0-0991-1F4A-D40A-7C11D5EA36B7}"/>
              </a:ext>
            </a:extLst>
          </p:cNvPr>
          <p:cNvSpPr/>
          <p:nvPr/>
        </p:nvSpPr>
        <p:spPr>
          <a:xfrm>
            <a:off x="8083296" y="5010912"/>
            <a:ext cx="3392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806D"/>
                </a:solidFill>
              </a:rPr>
              <a:t>担当者メモ</a:t>
            </a:r>
            <a:endParaRPr lang="en-US" sz="1200" dirty="0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A20DC449-8A90-5201-BD51-B3F717DFB10A}"/>
              </a:ext>
            </a:extLst>
          </p:cNvPr>
          <p:cNvSpPr/>
          <p:nvPr/>
        </p:nvSpPr>
        <p:spPr>
          <a:xfrm>
            <a:off x="8083296" y="5321808"/>
            <a:ext cx="3392424" cy="1"/>
          </a:xfrm>
          <a:prstGeom prst="line">
            <a:avLst/>
          </a:prstGeom>
          <a:noFill/>
          <a:ln w="12700">
            <a:solidFill>
              <a:srgbClr val="CFD8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536FB89-989A-66FD-8E7F-E3EEEE2078A7}"/>
              </a:ext>
            </a:extLst>
          </p:cNvPr>
          <p:cNvSpPr/>
          <p:nvPr/>
        </p:nvSpPr>
        <p:spPr>
          <a:xfrm>
            <a:off x="8110728" y="5468112"/>
            <a:ext cx="33375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・追加調査／確認先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・使いたい写真・動画・数値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A94A3"/>
                </a:solidFill>
              </a:rPr>
              <a:t>・社外公開可否／出典</a:t>
            </a:r>
            <a:endParaRPr lang="en-US" sz="1050" dirty="0"/>
          </a:p>
        </p:txBody>
      </p:sp>
      <p:sp>
        <p:nvSpPr>
          <p:cNvPr id="49" name="Slide Number Placeholder 0">
            <a:extLst>
              <a:ext uri="{FF2B5EF4-FFF2-40B4-BE49-F238E27FC236}">
                <a16:creationId xmlns:a16="http://schemas.microsoft.com/office/drawing/2014/main" id="{C22D9CEA-AD7D-94A4-68AD-3CF258A2D6C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76304" y="6528816"/>
            <a:ext cx="219456" cy="146304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6708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02CAC87-14C9-C683-D85A-89CAFACB0CDB}"/>
              </a:ext>
            </a:extLst>
          </p:cNvPr>
          <p:cNvSpPr/>
          <p:nvPr/>
        </p:nvSpPr>
        <p:spPr>
          <a:xfrm>
            <a:off x="1" y="-21285"/>
            <a:ext cx="914400" cy="28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大嶋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5720"/>
            <a:ext cx="1316736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392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1139</Words>
  <Application>Microsoft Office PowerPoint</Application>
  <PresentationFormat>ワイド画面</PresentationFormat>
  <Paragraphs>255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2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CUTE10 品質・CS・環境 3ページ記入フォーマット</dc:title>
  <dc:subject>PptxGenJS Presentation</dc:subject>
  <dc:creator>FUKUOKA DAISUKE (福岡 大輔)</dc:creator>
  <cp:lastModifiedBy>FUKUOKA DAISUKE (福岡 大輔)</cp:lastModifiedBy>
  <cp:revision>7</cp:revision>
  <dcterms:created xsi:type="dcterms:W3CDTF">2026-08-28T04:55:18Z</dcterms:created>
  <dcterms:modified xsi:type="dcterms:W3CDTF">2026-08-28T05:02:13Z</dcterms:modified>
</cp:coreProperties>
</file>